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  <p:sldMasterId id="2147483713" r:id="rId2"/>
  </p:sldMasterIdLst>
  <p:notesMasterIdLst>
    <p:notesMasterId r:id="rId4"/>
  </p:notesMasterIdLst>
  <p:sldIdLst>
    <p:sldId id="383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9299"/>
    <a:srgbClr val="0000FF"/>
    <a:srgbClr val="000000"/>
    <a:srgbClr val="FF9966"/>
    <a:srgbClr val="1A5FAF"/>
    <a:srgbClr val="4980BF"/>
    <a:srgbClr val="00366A"/>
    <a:srgbClr val="727171"/>
    <a:srgbClr val="2E75B6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>
      <p:cViewPr varScale="1">
        <p:scale>
          <a:sx n="82" d="100"/>
          <a:sy n="82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53AE0-BFF6-413C-A3CB-76AD31665D2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E6DA4-0DF0-4C9D-BC51-898896A54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58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306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37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86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32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2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7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5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9299" y="5999801"/>
            <a:ext cx="34302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99300" y="570477"/>
            <a:ext cx="2140217" cy="42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72" y="788896"/>
            <a:ext cx="2266101" cy="5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731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23" y="818341"/>
            <a:ext cx="2809391" cy="6571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7179677" y="-2597294"/>
            <a:ext cx="10122616" cy="956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2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4823" y="6627241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9921043" y="6608005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7304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4823" y="6596118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01647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6" y="3565525"/>
            <a:ext cx="10852151" cy="801371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15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87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189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530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1"/>
            <a:ext cx="3931920" cy="1115060"/>
          </a:xfrm>
        </p:spPr>
        <p:txBody>
          <a:bodyPr anchor="ctr" anchorCtr="0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1"/>
            <a:ext cx="6172200" cy="5403215"/>
          </a:xfrm>
        </p:spPr>
        <p:txBody>
          <a:bodyPr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891" indent="-342891">
              <a:buFont typeface="Arial" panose="020B0604020202020204" pitchFamily="34" charset="0"/>
              <a:buChar char="•"/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494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6" y="5605146"/>
            <a:ext cx="10852151" cy="558165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6" y="641350"/>
            <a:ext cx="10852151" cy="4556125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457189" marR="0" lvl="1" indent="0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6383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457189" marR="0" lvl="1" indent="0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208127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1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685783" marR="0" lvl="1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1" y="565151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685783" marR="0" lvl="1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315289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189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616388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8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84662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1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4" y="655003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3"/>
            <a:ext cx="12192000" cy="28469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1" tIns="19051" rIns="19051" bIns="19051" numCol="1" spcCol="38100" rtlCol="0" anchor="ctr" forceAA="0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3"/>
            <a:ext cx="831056" cy="2846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1" tIns="19051" rIns="19051" bIns="19051" numCol="1" spcCol="38100" rtlCol="0" anchor="ctr" forceAA="0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7" y="304166"/>
            <a:ext cx="2648903" cy="52641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61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254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95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377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228594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783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68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2971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160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349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svg"/><Relationship Id="rId15" Type="http://schemas.openxmlformats.org/officeDocument/2006/relationships/image" Target="../media/image13.png"/><Relationship Id="rId10" Type="http://schemas.openxmlformats.org/officeDocument/2006/relationships/image" Target="../media/image9.svg"/><Relationship Id="rId14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pPr defTabSz="412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67" dirty="0">
                <a:solidFill>
                  <a:srgbClr val="FFFFFF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z="1067">
                <a:solidFill>
                  <a:srgbClr val="FFFFFF"/>
                </a:solidFill>
                <a:sym typeface="Arial" panose="020B0604020202020204" pitchFamily="34" charset="0"/>
              </a:rPr>
              <a:pPr defTabSz="41274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r>
              <a:rPr lang="en-US" altLang="zh-CN" sz="1067" dirty="0">
                <a:solidFill>
                  <a:srgbClr val="FFFFFF"/>
                </a:solidFill>
                <a:sym typeface="Arial" panose="020B0604020202020204" pitchFamily="34" charset="0"/>
              </a:rPr>
              <a:t>-</a:t>
            </a:r>
            <a:endParaRPr lang="zh-CN" altLang="en-US" sz="1067" dirty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295" y="221309"/>
            <a:ext cx="55546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r" defTabSz="412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信息管理系统（</a:t>
            </a:r>
            <a:r>
              <a:rPr lang="en-US" altLang="zh-CN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EIMS</a:t>
            </a:r>
            <a:r>
              <a:rPr lang="zh-CN" altLang="en-US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0036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412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Equipment </a:t>
            </a:r>
            <a:r>
              <a:rPr lang="en-US" altLang="zh-CN" sz="1200" b="1" dirty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Information Management System</a:t>
            </a:r>
          </a:p>
        </p:txBody>
      </p:sp>
      <p:sp>
        <p:nvSpPr>
          <p:cNvPr id="5" name="燕尾形 4"/>
          <p:cNvSpPr/>
          <p:nvPr/>
        </p:nvSpPr>
        <p:spPr>
          <a:xfrm>
            <a:off x="635425" y="2722256"/>
            <a:ext cx="2053526" cy="364210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6" name="燕尾形 95"/>
          <p:cNvSpPr/>
          <p:nvPr/>
        </p:nvSpPr>
        <p:spPr>
          <a:xfrm>
            <a:off x="2802979" y="2722256"/>
            <a:ext cx="2053526" cy="364210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燕尾形 96"/>
          <p:cNvSpPr/>
          <p:nvPr/>
        </p:nvSpPr>
        <p:spPr>
          <a:xfrm>
            <a:off x="4970533" y="2722256"/>
            <a:ext cx="2053526" cy="364210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燕尾形 97"/>
          <p:cNvSpPr/>
          <p:nvPr/>
        </p:nvSpPr>
        <p:spPr>
          <a:xfrm>
            <a:off x="7138087" y="2722256"/>
            <a:ext cx="2053526" cy="364210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9" name="燕尾形 98"/>
          <p:cNvSpPr/>
          <p:nvPr/>
        </p:nvSpPr>
        <p:spPr>
          <a:xfrm>
            <a:off x="9305641" y="2722256"/>
            <a:ext cx="2053526" cy="364210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805906" y="2747912"/>
            <a:ext cx="171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系统功能开发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9411894" y="2746174"/>
            <a:ext cx="1964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系统放行与培训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310600" y="2747912"/>
            <a:ext cx="1784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系统验证执行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171832" y="2746175"/>
            <a:ext cx="1771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文件撰写审批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928070" y="2746175"/>
            <a:ext cx="1803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-UAT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用户测试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03497" y="3198828"/>
            <a:ext cx="208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EIMS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开发；</a:t>
            </a:r>
            <a:endParaRPr lang="en-US" altLang="zh-CN" sz="12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spc="12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2</a:t>
            </a:r>
            <a:r>
              <a:rPr lang="zh-CN" altLang="en-US" sz="1200" spc="12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、完成</a:t>
            </a:r>
            <a:r>
              <a:rPr lang="zh-CN" altLang="en-US" sz="1200" spc="12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变更控制</a:t>
            </a:r>
            <a:r>
              <a:rPr lang="zh-CN" altLang="en-US" sz="1200" spc="12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文件与</a:t>
            </a:r>
            <a:r>
              <a:rPr lang="en-US" altLang="zh-CN" sz="1200" spc="12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URS</a:t>
            </a:r>
            <a:r>
              <a:rPr lang="zh-CN" altLang="en-US" sz="1200" spc="12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签批；</a:t>
            </a:r>
            <a:endParaRPr lang="zh-CN" altLang="en-US" sz="1200" spc="12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4970533" y="3198828"/>
            <a:ext cx="2053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spc="1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CS+DS+</a:t>
            </a:r>
            <a:r>
              <a:rPr lang="zh-CN" altLang="en-US" sz="1200" spc="1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代码审核和</a:t>
            </a:r>
            <a:r>
              <a:rPr lang="en-US" altLang="zh-CN" sz="1200" spc="1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UTITPR</a:t>
            </a:r>
            <a:r>
              <a:rPr lang="zh-CN" altLang="en-US" sz="1200" spc="1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；</a:t>
            </a:r>
            <a:endParaRPr lang="en-US" altLang="zh-CN" sz="1200" spc="1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138087" y="3198828"/>
            <a:ext cx="2053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</a:t>
            </a: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3Q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验证执行和验证报告签批；</a:t>
            </a:r>
            <a:endParaRPr lang="en-US" altLang="zh-CN" sz="1200" spc="1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305640" y="3198828"/>
            <a:ext cx="2053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200" spc="1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</a:t>
            </a: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EIMS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系统</a:t>
            </a: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SOP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生效培训；</a:t>
            </a:r>
            <a:endParaRPr lang="en-US" altLang="zh-CN" sz="1200" spc="11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lvl="0">
              <a:defRPr/>
            </a:pP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2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</a:t>
            </a:r>
            <a:r>
              <a:rPr lang="en-US" altLang="zh-CN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EIMS</a:t>
            </a:r>
            <a:r>
              <a:rPr lang="zh-CN" altLang="en-US" sz="1200" spc="1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系统验证后放行；</a:t>
            </a:r>
            <a:endParaRPr lang="en-US" altLang="zh-CN" sz="1200" spc="1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2802980" y="3198827"/>
            <a:ext cx="205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EIMS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系统环境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测试；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UAT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及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VP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RAR</a:t>
            </a:r>
            <a:r>
              <a:rPr lang="zh-CN" alt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、</a:t>
            </a:r>
            <a:r>
              <a:rPr lang="en-US" altLang="zh-CN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FS</a:t>
            </a:r>
            <a:r>
              <a:rPr lang="zh-CN" altLang="en-US" sz="12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签批，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用户测试；</a:t>
            </a:r>
          </a:p>
        </p:txBody>
      </p:sp>
      <p:sp>
        <p:nvSpPr>
          <p:cNvPr id="122" name="object 9"/>
          <p:cNvSpPr txBox="1"/>
          <p:nvPr/>
        </p:nvSpPr>
        <p:spPr>
          <a:xfrm>
            <a:off x="1817991" y="4648976"/>
            <a:ext cx="4141107" cy="31734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设备全生命周期管理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与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数据报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表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功能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开发完善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641564" y="4680778"/>
            <a:ext cx="1109410" cy="311078"/>
            <a:chOff x="641564" y="4680778"/>
            <a:chExt cx="1109410" cy="311078"/>
          </a:xfrm>
        </p:grpSpPr>
        <p:sp>
          <p:nvSpPr>
            <p:cNvPr id="121" name="圆角矩形 120"/>
            <p:cNvSpPr/>
            <p:nvPr/>
          </p:nvSpPr>
          <p:spPr>
            <a:xfrm>
              <a:off x="641564" y="4680778"/>
              <a:ext cx="1109410" cy="31107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23" name="object 10"/>
            <p:cNvSpPr txBox="1"/>
            <p:nvPr/>
          </p:nvSpPr>
          <p:spPr>
            <a:xfrm>
              <a:off x="705432" y="4724930"/>
              <a:ext cx="1045542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下半年重点</a:t>
              </a:r>
              <a:endParaRPr kumimoji="0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641564" y="5161842"/>
            <a:ext cx="3502822" cy="1239528"/>
            <a:chOff x="4897260" y="4189711"/>
            <a:chExt cx="3502822" cy="1239528"/>
          </a:xfrm>
        </p:grpSpPr>
        <p:sp>
          <p:nvSpPr>
            <p:cNvPr id="139" name="AutoShape 21"/>
            <p:cNvSpPr/>
            <p:nvPr/>
          </p:nvSpPr>
          <p:spPr>
            <a:xfrm>
              <a:off x="4897260" y="4189711"/>
              <a:ext cx="3502821" cy="123952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solidFill>
                <a:srgbClr val="0000FF">
                  <a:alpha val="2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40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049015" y="4242477"/>
              <a:ext cx="330200" cy="330200"/>
            </a:xfrm>
            <a:prstGeom prst="rect">
              <a:avLst/>
            </a:prstGeom>
          </p:spPr>
        </p:pic>
        <p:sp>
          <p:nvSpPr>
            <p:cNvPr id="141" name="AutoShape 23"/>
            <p:cNvSpPr/>
            <p:nvPr/>
          </p:nvSpPr>
          <p:spPr>
            <a:xfrm>
              <a:off x="5455416" y="4242477"/>
              <a:ext cx="2944666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500" b="1" i="0" u="none" strike="noStrike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设备</a:t>
              </a:r>
              <a:r>
                <a:rPr lang="en-US" sz="1500" b="1" i="0" u="none" strike="noStrike" dirty="0" err="1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全生命周期管理</a:t>
              </a:r>
              <a:endParaRPr lang="en-US" sz="1100" dirty="0"/>
            </a:p>
          </p:txBody>
        </p:sp>
        <p:sp>
          <p:nvSpPr>
            <p:cNvPr id="142" name="AutoShape 24"/>
            <p:cNvSpPr/>
            <p:nvPr/>
          </p:nvSpPr>
          <p:spPr>
            <a:xfrm>
              <a:off x="5056501" y="4736395"/>
              <a:ext cx="3218791" cy="67876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 smtClean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基于设备</a:t>
              </a:r>
              <a:r>
                <a:rPr lang="zh-CN" altLang="en-US" sz="1200" dirty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全</a:t>
              </a:r>
              <a:r>
                <a:rPr lang="zh-CN" altLang="en-US" sz="1200" dirty="0" smtClean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生命周期管理</a:t>
              </a:r>
              <a:r>
                <a:rPr lang="en-US" altLang="zh-CN" sz="1200" dirty="0" smtClean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(ASM-037)</a:t>
              </a:r>
              <a:r>
                <a:rPr lang="zh-CN" altLang="en-US" sz="1200" dirty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：</a:t>
              </a:r>
              <a:r>
                <a:rPr lang="zh-CN" altLang="en-US" sz="1200" dirty="0" smtClean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内控平台功能模块开发（备品备件管理），进一步完善设备全生命周期管理</a:t>
              </a:r>
              <a:endParaRPr lang="en-US" sz="1200" dirty="0"/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4525863" y="5161842"/>
            <a:ext cx="3303609" cy="1239528"/>
            <a:chOff x="9091308" y="4189711"/>
            <a:chExt cx="3303609" cy="1239528"/>
          </a:xfrm>
          <a:noFill/>
        </p:grpSpPr>
        <p:sp>
          <p:nvSpPr>
            <p:cNvPr id="145" name="AutoShape 12"/>
            <p:cNvSpPr/>
            <p:nvPr/>
          </p:nvSpPr>
          <p:spPr>
            <a:xfrm>
              <a:off x="9091308" y="4189711"/>
              <a:ext cx="3303609" cy="1239528"/>
            </a:xfrm>
            <a:prstGeom prst="roundRect">
              <a:avLst>
                <a:gd name="adj" fmla="val 0"/>
              </a:avLst>
            </a:prstGeom>
            <a:grpFill/>
            <a:ln w="25400" cap="flat" cmpd="sng">
              <a:solidFill>
                <a:srgbClr val="0000FF">
                  <a:alpha val="2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46" name="Picture 13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9265129" y="4380211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147" name="AutoShape 14"/>
            <p:cNvSpPr/>
            <p:nvPr/>
          </p:nvSpPr>
          <p:spPr>
            <a:xfrm>
              <a:off x="9646129" y="4380211"/>
              <a:ext cx="1778000" cy="304800"/>
            </a:xfrm>
            <a:prstGeom prst="rect">
              <a:avLst/>
            </a:prstGeom>
            <a:grp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400" b="1" i="0" u="none" strike="noStrike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设备</a:t>
              </a:r>
              <a:r>
                <a:rPr lang="en-US" sz="1400" b="1" i="0" u="none" strike="noStrike" dirty="0" err="1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故障看板</a:t>
              </a:r>
              <a:r>
                <a:rPr lang="zh-CN" altLang="en-US" sz="1400" b="1" i="0" u="none" strike="noStrike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与报表</a:t>
              </a:r>
              <a:endParaRPr lang="en-US" sz="1100" dirty="0"/>
            </a:p>
          </p:txBody>
        </p:sp>
        <p:sp>
          <p:nvSpPr>
            <p:cNvPr id="148" name="AutoShape 15"/>
            <p:cNvSpPr/>
            <p:nvPr/>
          </p:nvSpPr>
          <p:spPr>
            <a:xfrm>
              <a:off x="9265129" y="4747993"/>
              <a:ext cx="3039123" cy="604528"/>
            </a:xfrm>
            <a:prstGeom prst="rect">
              <a:avLst/>
            </a:prstGeom>
            <a:grp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  <a:sym typeface="微软雅黑"/>
                </a:rPr>
                <a:t>优化</a:t>
              </a:r>
              <a:r>
                <a:rPr lang="en-US" sz="1200" b="0" i="0" u="none" strike="noStrike" dirty="0" err="1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  <a:sym typeface="微软雅黑"/>
                </a:rPr>
                <a:t>设备故障分析仪表盘</a:t>
              </a:r>
              <a:r>
                <a:rPr lang="zh-CN" altLang="en-US" sz="1200" b="0" i="0" u="none" strike="noStrike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  <a:sym typeface="微软雅黑"/>
                </a:rPr>
                <a:t>原型设计，</a:t>
              </a:r>
              <a:r>
                <a:rPr lang="zh-CN" altLang="en-US" sz="12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实现设备故障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</a:t>
              </a:r>
              <a:r>
                <a:rPr lang="zh-CN" altLang="en-US" sz="12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报表和</a:t>
              </a:r>
              <a:r>
                <a:rPr lang="zh-CN" altLang="en-US" sz="1200" b="0" i="0" u="none" strike="noStrike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  <a:sym typeface="微软雅黑"/>
                </a:rPr>
                <a:t>数据可视化。</a:t>
              </a:r>
              <a:endPara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2" name="AutoShape 16"/>
          <p:cNvSpPr/>
          <p:nvPr/>
        </p:nvSpPr>
        <p:spPr>
          <a:xfrm>
            <a:off x="8210950" y="5161842"/>
            <a:ext cx="3164989" cy="1239528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00FF">
                <a:alpha val="20000"/>
              </a:srgbClr>
            </a:solidFill>
            <a:prstDash val="sysDot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3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401450" y="5352342"/>
            <a:ext cx="304800" cy="304800"/>
          </a:xfrm>
          <a:prstGeom prst="rect">
            <a:avLst/>
          </a:prstGeom>
        </p:spPr>
      </p:pic>
      <p:sp>
        <p:nvSpPr>
          <p:cNvPr id="154" name="AutoShape 18"/>
          <p:cNvSpPr/>
          <p:nvPr/>
        </p:nvSpPr>
        <p:spPr>
          <a:xfrm>
            <a:off x="8782449" y="5352342"/>
            <a:ext cx="236304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内控平台</a:t>
            </a:r>
            <a:r>
              <a:rPr lang="zh-CN" alt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数据</a:t>
            </a:r>
            <a:r>
              <a:rPr lang="en-US" sz="1400" b="1" i="0" u="none" strike="noStrike" dirty="0" err="1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互通</a:t>
            </a:r>
            <a:endParaRPr lang="en-US" sz="1100" dirty="0"/>
          </a:p>
        </p:txBody>
      </p:sp>
      <p:sp>
        <p:nvSpPr>
          <p:cNvPr id="155" name="AutoShape 19"/>
          <p:cNvSpPr/>
          <p:nvPr/>
        </p:nvSpPr>
        <p:spPr>
          <a:xfrm>
            <a:off x="8401450" y="5722608"/>
            <a:ext cx="2860984" cy="6646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200" dirty="0" err="1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内控平台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功能</a:t>
            </a:r>
            <a:r>
              <a:rPr lang="en-US" sz="120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升级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、历史数据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迁移及验证环境数据共享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实现与 </a:t>
            </a:r>
            <a:r>
              <a:rPr lang="en-US" altLang="zh-CN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EIMS 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的数据互通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，预计</a:t>
            </a:r>
            <a:r>
              <a:rPr lang="en-US" altLang="zh-CN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8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月份完成。</a:t>
            </a:r>
            <a:endParaRPr lang="en-US" sz="1200" dirty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461449" y="1060589"/>
            <a:ext cx="4350200" cy="352896"/>
            <a:chOff x="488276" y="1095601"/>
            <a:chExt cx="4350200" cy="352896"/>
          </a:xfrm>
        </p:grpSpPr>
        <p:sp>
          <p:nvSpPr>
            <p:cNvPr id="100" name="object 3"/>
            <p:cNvSpPr txBox="1"/>
            <p:nvPr/>
          </p:nvSpPr>
          <p:spPr>
            <a:xfrm>
              <a:off x="716655" y="1095601"/>
              <a:ext cx="4085181" cy="2412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97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202</a:t>
              </a:r>
              <a:r>
                <a:rPr kumimoji="0" 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6</a:t>
              </a:r>
              <a:r>
                <a:rPr kumimoji="0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年</a:t>
              </a:r>
              <a:r>
                <a:rPr kumimoji="0" lang="zh-CN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上半年工作</a:t>
              </a:r>
              <a:r>
                <a:rPr kumimoji="0" sz="16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回顾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endParaRPr>
            </a:p>
          </p:txBody>
        </p:sp>
        <p:cxnSp>
          <p:nvCxnSpPr>
            <p:cNvPr id="102" name="直接连接符 101"/>
            <p:cNvCxnSpPr/>
            <p:nvPr/>
          </p:nvCxnSpPr>
          <p:spPr>
            <a:xfrm>
              <a:off x="732259" y="1429029"/>
              <a:ext cx="4106217" cy="19468"/>
            </a:xfrm>
            <a:prstGeom prst="line">
              <a:avLst/>
            </a:prstGeom>
            <a:ln w="3175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组合 159"/>
            <p:cNvGrpSpPr/>
            <p:nvPr/>
          </p:nvGrpSpPr>
          <p:grpSpPr>
            <a:xfrm>
              <a:off x="488276" y="1151841"/>
              <a:ext cx="144000" cy="144000"/>
              <a:chOff x="581755" y="2536442"/>
              <a:chExt cx="144000" cy="144000"/>
            </a:xfrm>
          </p:grpSpPr>
          <p:sp>
            <p:nvSpPr>
              <p:cNvPr id="158" name="Google Shape;1603;p31">
                <a:extLst>
                  <a:ext uri="{FF2B5EF4-FFF2-40B4-BE49-F238E27FC236}">
                    <a16:creationId xmlns:a16="http://schemas.microsoft.com/office/drawing/2014/main" id="{39764FAE-2C86-406A-955D-453ECE39AF6F}"/>
                  </a:ext>
                </a:extLst>
              </p:cNvPr>
              <p:cNvSpPr/>
              <p:nvPr/>
            </p:nvSpPr>
            <p:spPr>
              <a:xfrm>
                <a:off x="581755" y="2536442"/>
                <a:ext cx="144000" cy="144000"/>
              </a:xfrm>
              <a:custGeom>
                <a:avLst/>
                <a:gdLst/>
                <a:ahLst/>
                <a:cxnLst/>
                <a:rect l="l" t="t" r="r" b="b"/>
                <a:pathLst>
                  <a:path w="3575" h="3575" extrusionOk="0">
                    <a:moveTo>
                      <a:pt x="1787" y="0"/>
                    </a:moveTo>
                    <a:cubicBezTo>
                      <a:pt x="801" y="0"/>
                      <a:pt x="1" y="800"/>
                      <a:pt x="1" y="1787"/>
                    </a:cubicBezTo>
                    <a:cubicBezTo>
                      <a:pt x="1" y="2774"/>
                      <a:pt x="801" y="3574"/>
                      <a:pt x="1787" y="3574"/>
                    </a:cubicBezTo>
                    <a:cubicBezTo>
                      <a:pt x="2775" y="3574"/>
                      <a:pt x="3575" y="2774"/>
                      <a:pt x="3575" y="1787"/>
                    </a:cubicBezTo>
                    <a:cubicBezTo>
                      <a:pt x="3575" y="800"/>
                      <a:pt x="2775" y="0"/>
                      <a:pt x="1787" y="0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solidFill>
                  <a:srgbClr val="4980BF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9" name="Google Shape;1604;p31">
                <a:extLst>
                  <a:ext uri="{FF2B5EF4-FFF2-40B4-BE49-F238E27FC236}">
                    <a16:creationId xmlns:a16="http://schemas.microsoft.com/office/drawing/2014/main" id="{69AFB482-0647-466A-B691-086D57FCF095}"/>
                  </a:ext>
                </a:extLst>
              </p:cNvPr>
              <p:cNvSpPr/>
              <p:nvPr/>
            </p:nvSpPr>
            <p:spPr>
              <a:xfrm>
                <a:off x="608621" y="2563268"/>
                <a:ext cx="90307" cy="90307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2242" extrusionOk="0">
                    <a:moveTo>
                      <a:pt x="1120" y="1"/>
                    </a:moveTo>
                    <a:cubicBezTo>
                      <a:pt x="502" y="1"/>
                      <a:pt x="0" y="503"/>
                      <a:pt x="0" y="1121"/>
                    </a:cubicBezTo>
                    <a:cubicBezTo>
                      <a:pt x="0" y="1740"/>
                      <a:pt x="502" y="2242"/>
                      <a:pt x="1120" y="2242"/>
                    </a:cubicBezTo>
                    <a:cubicBezTo>
                      <a:pt x="1739" y="2242"/>
                      <a:pt x="2241" y="1740"/>
                      <a:pt x="2241" y="1121"/>
                    </a:cubicBezTo>
                    <a:cubicBezTo>
                      <a:pt x="2241" y="503"/>
                      <a:pt x="1739" y="1"/>
                      <a:pt x="1120" y="1"/>
                    </a:cubicBezTo>
                    <a:close/>
                  </a:path>
                </a:pathLst>
              </a:custGeom>
              <a:solidFill>
                <a:srgbClr val="1A5FAF"/>
              </a:solidFill>
              <a:ln>
                <a:solidFill>
                  <a:srgbClr val="4980BF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grpSp>
        <p:nvGrpSpPr>
          <p:cNvPr id="184" name="组合 183"/>
          <p:cNvGrpSpPr/>
          <p:nvPr/>
        </p:nvGrpSpPr>
        <p:grpSpPr>
          <a:xfrm>
            <a:off x="459497" y="4140353"/>
            <a:ext cx="4405952" cy="370439"/>
            <a:chOff x="461449" y="3957919"/>
            <a:chExt cx="4405952" cy="370439"/>
          </a:xfrm>
        </p:grpSpPr>
        <p:sp>
          <p:nvSpPr>
            <p:cNvPr id="118" name="object 4"/>
            <p:cNvSpPr txBox="1"/>
            <p:nvPr/>
          </p:nvSpPr>
          <p:spPr>
            <a:xfrm>
              <a:off x="732259" y="3957919"/>
              <a:ext cx="4135142" cy="2412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97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2026</a:t>
              </a:r>
              <a:r>
                <a:rPr kumimoji="0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年</a:t>
              </a:r>
              <a:r>
                <a:rPr kumimoji="0" lang="zh-CN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下半年工作计划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endParaRPr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692503" y="4308890"/>
              <a:ext cx="4106217" cy="19468"/>
            </a:xfrm>
            <a:prstGeom prst="line">
              <a:avLst/>
            </a:prstGeom>
            <a:ln w="3175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" name="组合 160"/>
            <p:cNvGrpSpPr/>
            <p:nvPr/>
          </p:nvGrpSpPr>
          <p:grpSpPr>
            <a:xfrm>
              <a:off x="461449" y="4014159"/>
              <a:ext cx="144000" cy="144000"/>
              <a:chOff x="581755" y="2536442"/>
              <a:chExt cx="144000" cy="144000"/>
            </a:xfrm>
          </p:grpSpPr>
          <p:sp>
            <p:nvSpPr>
              <p:cNvPr id="162" name="Google Shape;1603;p31">
                <a:extLst>
                  <a:ext uri="{FF2B5EF4-FFF2-40B4-BE49-F238E27FC236}">
                    <a16:creationId xmlns:a16="http://schemas.microsoft.com/office/drawing/2014/main" id="{39764FAE-2C86-406A-955D-453ECE39AF6F}"/>
                  </a:ext>
                </a:extLst>
              </p:cNvPr>
              <p:cNvSpPr/>
              <p:nvPr/>
            </p:nvSpPr>
            <p:spPr>
              <a:xfrm>
                <a:off x="581755" y="2536442"/>
                <a:ext cx="144000" cy="144000"/>
              </a:xfrm>
              <a:custGeom>
                <a:avLst/>
                <a:gdLst/>
                <a:ahLst/>
                <a:cxnLst/>
                <a:rect l="l" t="t" r="r" b="b"/>
                <a:pathLst>
                  <a:path w="3575" h="3575" extrusionOk="0">
                    <a:moveTo>
                      <a:pt x="1787" y="0"/>
                    </a:moveTo>
                    <a:cubicBezTo>
                      <a:pt x="801" y="0"/>
                      <a:pt x="1" y="800"/>
                      <a:pt x="1" y="1787"/>
                    </a:cubicBezTo>
                    <a:cubicBezTo>
                      <a:pt x="1" y="2774"/>
                      <a:pt x="801" y="3574"/>
                      <a:pt x="1787" y="3574"/>
                    </a:cubicBezTo>
                    <a:cubicBezTo>
                      <a:pt x="2775" y="3574"/>
                      <a:pt x="3575" y="2774"/>
                      <a:pt x="3575" y="1787"/>
                    </a:cubicBezTo>
                    <a:cubicBezTo>
                      <a:pt x="3575" y="800"/>
                      <a:pt x="2775" y="0"/>
                      <a:pt x="1787" y="0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solidFill>
                  <a:srgbClr val="4980BF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3" name="Google Shape;1604;p31">
                <a:extLst>
                  <a:ext uri="{FF2B5EF4-FFF2-40B4-BE49-F238E27FC236}">
                    <a16:creationId xmlns:a16="http://schemas.microsoft.com/office/drawing/2014/main" id="{69AFB482-0647-466A-B691-086D57FCF095}"/>
                  </a:ext>
                </a:extLst>
              </p:cNvPr>
              <p:cNvSpPr/>
              <p:nvPr/>
            </p:nvSpPr>
            <p:spPr>
              <a:xfrm>
                <a:off x="608621" y="2563268"/>
                <a:ext cx="90307" cy="90307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2242" extrusionOk="0">
                    <a:moveTo>
                      <a:pt x="1120" y="1"/>
                    </a:moveTo>
                    <a:cubicBezTo>
                      <a:pt x="502" y="1"/>
                      <a:pt x="0" y="503"/>
                      <a:pt x="0" y="1121"/>
                    </a:cubicBezTo>
                    <a:cubicBezTo>
                      <a:pt x="0" y="1740"/>
                      <a:pt x="502" y="2242"/>
                      <a:pt x="1120" y="2242"/>
                    </a:cubicBezTo>
                    <a:cubicBezTo>
                      <a:pt x="1739" y="2242"/>
                      <a:pt x="2241" y="1740"/>
                      <a:pt x="2241" y="1121"/>
                    </a:cubicBezTo>
                    <a:cubicBezTo>
                      <a:pt x="2241" y="503"/>
                      <a:pt x="1739" y="1"/>
                      <a:pt x="1120" y="1"/>
                    </a:cubicBezTo>
                    <a:close/>
                  </a:path>
                </a:pathLst>
              </a:custGeom>
              <a:solidFill>
                <a:srgbClr val="1A5FAF"/>
              </a:solidFill>
              <a:ln>
                <a:solidFill>
                  <a:srgbClr val="4980BF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75" name="AutoShape 4"/>
          <p:cNvSpPr/>
          <p:nvPr/>
        </p:nvSpPr>
        <p:spPr>
          <a:xfrm>
            <a:off x="603497" y="1533354"/>
            <a:ext cx="4942915" cy="969544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00FF">
                <a:alpha val="20000"/>
              </a:srgbClr>
            </a:solidFill>
            <a:prstDash val="sysDot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6" name="Picture 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1730" y="1640206"/>
            <a:ext cx="304800" cy="304800"/>
          </a:xfrm>
          <a:prstGeom prst="rect">
            <a:avLst/>
          </a:prstGeom>
        </p:spPr>
      </p:pic>
      <p:sp>
        <p:nvSpPr>
          <p:cNvPr id="177" name="AutoShape 6"/>
          <p:cNvSpPr/>
          <p:nvPr/>
        </p:nvSpPr>
        <p:spPr>
          <a:xfrm>
            <a:off x="1164630" y="1651132"/>
            <a:ext cx="4207750" cy="2890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设备信息管理</a:t>
            </a:r>
            <a:r>
              <a:rPr lang="en-US" sz="1400" b="1" i="0" u="none" strike="noStrike" dirty="0" err="1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系统</a:t>
            </a:r>
            <a:r>
              <a:rPr 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(EIMS</a:t>
            </a:r>
            <a:r>
              <a:rPr lang="zh-CN" alt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en-US" sz="1400" b="1" i="0" u="none" strike="noStrike" dirty="0" err="1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完成</a:t>
            </a:r>
            <a:r>
              <a:rPr lang="zh-CN" alt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验证</a:t>
            </a:r>
            <a:r>
              <a:rPr lang="en-US" altLang="zh-CN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-</a:t>
            </a:r>
            <a:r>
              <a:rPr lang="zh-CN" altLang="en-US" sz="1400" b="1" i="0" u="none" strike="noStrike" dirty="0" smtClean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设备预防性维护</a:t>
            </a:r>
            <a:endParaRPr lang="en-US" sz="1100" dirty="0"/>
          </a:p>
        </p:txBody>
      </p:sp>
      <p:sp>
        <p:nvSpPr>
          <p:cNvPr id="178" name="AutoShape 7"/>
          <p:cNvSpPr/>
          <p:nvPr/>
        </p:nvSpPr>
        <p:spPr>
          <a:xfrm>
            <a:off x="821730" y="2014311"/>
            <a:ext cx="4626850" cy="4820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按照年度</a:t>
            </a:r>
            <a:r>
              <a:rPr lang="en-US" sz="1200" b="0" i="0" u="none" strike="noStrike" dirty="0" err="1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计划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在</a:t>
            </a:r>
            <a:r>
              <a:rPr lang="en-US" altLang="zh-CN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DH1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工厂</a:t>
            </a:r>
            <a:r>
              <a:rPr lang="en-US" sz="1200" b="0" i="0" u="none" strike="noStrike" dirty="0" err="1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完成EIMS系统验证</a:t>
            </a:r>
            <a:r>
              <a:rPr 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zh-CN" alt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具备上线运行使用条件，</a:t>
            </a:r>
            <a:r>
              <a:rPr lang="en-US" altLang="zh-CN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altLang="zh-CN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预计</a:t>
            </a:r>
            <a:r>
              <a:rPr lang="en-US" altLang="zh-CN" sz="1200" b="1" u="sng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8</a:t>
            </a:r>
            <a:r>
              <a:rPr lang="zh-CN" altLang="en-US" sz="1200" b="1" u="sng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月份</a:t>
            </a:r>
            <a:r>
              <a:rPr lang="en-US" altLang="zh-CN" sz="1200" dirty="0" err="1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正式上线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使用（其他工厂提交变更启用）。</a:t>
            </a:r>
            <a:endParaRPr lang="en-US" sz="1200" dirty="0"/>
          </a:p>
        </p:txBody>
      </p:sp>
      <p:grpSp>
        <p:nvGrpSpPr>
          <p:cNvPr id="179" name="组合 178"/>
          <p:cNvGrpSpPr/>
          <p:nvPr/>
        </p:nvGrpSpPr>
        <p:grpSpPr>
          <a:xfrm>
            <a:off x="6126277" y="1533354"/>
            <a:ext cx="5209104" cy="969546"/>
            <a:chOff x="6155056" y="3032544"/>
            <a:chExt cx="5209104" cy="969546"/>
          </a:xfrm>
          <a:noFill/>
        </p:grpSpPr>
        <p:sp>
          <p:nvSpPr>
            <p:cNvPr id="180" name="AutoShape 8"/>
            <p:cNvSpPr/>
            <p:nvPr/>
          </p:nvSpPr>
          <p:spPr>
            <a:xfrm>
              <a:off x="6155056" y="3032544"/>
              <a:ext cx="5209104" cy="969546"/>
            </a:xfrm>
            <a:prstGeom prst="roundRect">
              <a:avLst>
                <a:gd name="adj" fmla="val 0"/>
              </a:avLst>
            </a:prstGeom>
            <a:grpFill/>
            <a:ln w="25400" cap="flat" cmpd="sng">
              <a:solidFill>
                <a:srgbClr val="0000FF">
                  <a:alpha val="2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81" name="Picture 9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6259018" y="3131503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182" name="AutoShape 10"/>
            <p:cNvSpPr/>
            <p:nvPr/>
          </p:nvSpPr>
          <p:spPr>
            <a:xfrm>
              <a:off x="6640018" y="3131503"/>
              <a:ext cx="4534260" cy="289008"/>
            </a:xfrm>
            <a:prstGeom prst="rect">
              <a:avLst/>
            </a:prstGeom>
            <a:grp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400" b="1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设备故障</a:t>
              </a:r>
              <a:r>
                <a:rPr lang="en-US" sz="1400" b="1" i="0" u="none" strike="noStrike" dirty="0" err="1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报修</a:t>
              </a:r>
              <a:r>
                <a:rPr lang="zh-CN" altLang="en-US" sz="1400" b="1" i="0" u="none" strike="noStrike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模块</a:t>
              </a:r>
              <a:r>
                <a:rPr lang="zh-CN" altLang="en-US" sz="1400" b="1" dirty="0" smtClean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覆盖</a:t>
              </a:r>
              <a:r>
                <a:rPr lang="zh-CN" altLang="en-US" sz="1400" b="1" dirty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使用</a:t>
              </a:r>
              <a:endParaRPr lang="en-US" sz="1100" dirty="0"/>
            </a:p>
          </p:txBody>
        </p:sp>
      </p:grpSp>
      <p:sp>
        <p:nvSpPr>
          <p:cNvPr id="183" name="AutoShape 11"/>
          <p:cNvSpPr/>
          <p:nvPr/>
        </p:nvSpPr>
        <p:spPr>
          <a:xfrm>
            <a:off x="6268516" y="1984920"/>
            <a:ext cx="4953360" cy="494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zh-CN" alt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设备故障报修模块各工厂已启用，自</a:t>
            </a:r>
            <a:r>
              <a:rPr lang="en-US" altLang="zh-CN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r>
              <a:rPr lang="zh-CN" alt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月份启动以来，</a:t>
            </a:r>
            <a:r>
              <a:rPr lang="en-US" sz="1200" b="0" i="0" u="none" strike="noStrike" dirty="0" err="1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累计</a:t>
            </a:r>
            <a:r>
              <a:rPr lang="zh-CN" alt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报修</a:t>
            </a:r>
            <a:r>
              <a:rPr 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4,804</a:t>
            </a:r>
            <a:r>
              <a:rPr lang="zh-CN" alt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次</a:t>
            </a:r>
            <a:r>
              <a:rPr lang="en-US" sz="1200" b="0" i="0" u="none" strike="noStrike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已闭环处理 </a:t>
            </a:r>
            <a:r>
              <a:rPr lang="en-US" altLang="zh-CN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2,539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单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altLang="zh-CN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TJ3/DH1</a:t>
            </a:r>
            <a:r>
              <a:rPr lang="zh-CN" altLang="en-US" sz="120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报修量最高</a:t>
            </a:r>
            <a:r>
              <a:rPr lang="zh-CN" altLang="en-US" sz="1200" dirty="0" smtClean="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66912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280</Words>
  <Application>Microsoft Office PowerPoint</Application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Helvetica Light</vt:lpstr>
      <vt:lpstr>Helvetica Neue</vt:lpstr>
      <vt:lpstr>等线</vt:lpstr>
      <vt:lpstr>黑体</vt:lpstr>
      <vt:lpstr>华文楷体</vt:lpstr>
      <vt:lpstr>思源黑体</vt:lpstr>
      <vt:lpstr>宋体</vt:lpstr>
      <vt:lpstr>微软雅黑</vt:lpstr>
      <vt:lpstr>微软雅黑</vt:lpstr>
      <vt:lpstr>Arial</vt:lpstr>
      <vt:lpstr>Arial Black</vt:lpstr>
      <vt:lpstr>Times New Roman</vt:lpstr>
      <vt:lpstr>1_White</vt:lpstr>
      <vt:lpstr>18_webwppDefTheme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Shiwen Liu10181</dc:creator>
  <cp:lastModifiedBy>Daoxing Yang</cp:lastModifiedBy>
  <cp:revision>67</cp:revision>
  <dcterms:created xsi:type="dcterms:W3CDTF">2025-07-29T08:25:08Z</dcterms:created>
  <dcterms:modified xsi:type="dcterms:W3CDTF">2026-07-27T13:51:50Z</dcterms:modified>
</cp:coreProperties>
</file>
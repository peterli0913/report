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>
  <p:sldMasterIdLst>
    <p:sldMasterId id="2147483648" r:id="rId1"/>
    <p:sldMasterId id="2147483659" r:id="rId2"/>
  </p:sldMasterIdLst>
  <p:notesMasterIdLst>
    <p:notesMasterId r:id="rId5"/>
  </p:notesMasterIdLst>
  <p:sldIdLst>
    <p:sldId id="256" r:id="rId4"/>
  </p:sldIdLst>
  <p:sldSz cx="24384000" cy="13716000"/>
  <p:notesSz cx="6858000" cy="9144000"/>
  <p:defaultTextStyle>
    <a:defPPr>
      <a:defRPr lang="en-US"/>
    </a:defPPr>
    <a:lvl1pPr algn="l" defTabSz="825500" rtl="0" eaLnBrk="0" fontAlgn="base" hangingPunct="0">
      <a:spcBef>
        <a:spcPct val="0"/>
      </a:spcBef>
      <a:spcAft>
        <a:spcPct val="0"/>
      </a:spcAft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1pPr>
    <a:lvl2pPr marL="457200" indent="-228600" algn="l" defTabSz="825500" rtl="0" eaLnBrk="0" fontAlgn="base" hangingPunct="0">
      <a:spcBef>
        <a:spcPct val="0"/>
      </a:spcBef>
      <a:spcAft>
        <a:spcPct val="0"/>
      </a:spcAft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2pPr>
    <a:lvl3pPr marL="914400" indent="-457200" algn="l" defTabSz="825500" rtl="0" eaLnBrk="0" fontAlgn="base" hangingPunct="0">
      <a:spcBef>
        <a:spcPct val="0"/>
      </a:spcBef>
      <a:spcAft>
        <a:spcPct val="0"/>
      </a:spcAft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3pPr>
    <a:lvl4pPr marL="1371600" indent="-685800" algn="l" defTabSz="825500" rtl="0" eaLnBrk="0" fontAlgn="base" hangingPunct="0">
      <a:spcBef>
        <a:spcPct val="0"/>
      </a:spcBef>
      <a:spcAft>
        <a:spcPct val="0"/>
      </a:spcAft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4pPr>
    <a:lvl5pPr marL="1828800" indent="-914400" algn="l" defTabSz="825500" rtl="0" eaLnBrk="0" fontAlgn="base" hangingPunct="0">
      <a:spcBef>
        <a:spcPct val="0"/>
      </a:spcBef>
      <a:spcAft>
        <a:spcPct val="0"/>
      </a:spcAft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5pPr>
    <a:lvl6pPr marL="2286000" algn="l" defTabSz="914400" rtl="0" eaLnBrk="1" latinLnBrk="0" hangingPunct="1"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6pPr>
    <a:lvl7pPr marL="2743200" algn="l" defTabSz="914400" rtl="0" eaLnBrk="1" latinLnBrk="0" hangingPunct="1"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7pPr>
    <a:lvl8pPr marL="3200400" algn="l" defTabSz="914400" rtl="0" eaLnBrk="1" latinLnBrk="0" hangingPunct="1"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8pPr>
    <a:lvl9pPr marL="3657600" algn="l" defTabSz="914400" rtl="0" eaLnBrk="1" latinLnBrk="0" hangingPunct="1">
      <a:defRPr sz="2000" kern="1200">
        <a:solidFill>
          <a:srgbClr val="252D30"/>
        </a:solidFill>
        <a:latin typeface="Arial" panose="020B0604020202020204" pitchFamily="34" charset="0"/>
        <a:ea typeface="Helvetica Neue" panose="02000503000000020004" pitchFamily="2" charset="0"/>
        <a:cs typeface="Helvetica Neue" panose="02000503000000020004" pitchFamily="2" charset="0"/>
        <a:sym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pos="14983">
          <p15:clr>
            <a:srgbClr val="A4A3A4"/>
          </p15:clr>
        </p15:guide>
        <p15:guide id="2" orient="horz" pos="8062">
          <p15:clr>
            <a:srgbClr val="A4A3A4"/>
          </p15:clr>
        </p15:guide>
        <p15:guide id="3" orient="horz" pos="691">
          <p15:clr>
            <a:srgbClr val="A4A3A4"/>
          </p15:clr>
        </p15:guide>
        <p15:guide id="4" orient="horz" pos="3934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haoyang Meng" initials="ZM" lastIdx="1" clrIdx="0"/>
  <p:cmAuthor id="2" name="Yanan Liu" initials="YL" lastIdx="1" clrIdx="1"/>
  <p:cmAuthor id="2000" name="刘亚利_R3Q3Vjm6" initials="authorId_690327896" lastIdx="164094793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  <a:srgbClr val="3A6DB4"/>
    <a:srgbClr val="FF8B8B"/>
    <a:srgbClr val="FF6D6D"/>
    <a:srgbClr val="00356A"/>
    <a:srgbClr val="DEEBF7"/>
    <a:srgbClr val="BFBFBF"/>
    <a:srgbClr val="D2DEEF"/>
    <a:srgbClr val="CC00CC"/>
    <a:srgbClr val="1111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54" autoAdjust="0"/>
    <p:restoredTop sz="95799" autoAdjust="0"/>
  </p:normalViewPr>
  <p:slideViewPr>
    <p:cSldViewPr snapToGrid="0" snapToObjects="1">
      <p:cViewPr varScale="1">
        <p:scale>
          <a:sx n="35" d="100"/>
          <a:sy n="35" d="100"/>
        </p:scale>
        <p:origin x="664" y="64"/>
      </p:cViewPr>
      <p:guideLst>
        <p:guide pos="14983"/>
        <p:guide orient="horz" pos="8062"/>
        <p:guide orient="horz" pos="691"/>
        <p:guide orient="horz" pos="3934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42" d="100"/>
        <a:sy n="42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commentAuthors" Target="commentAuthors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hape 66"/>
          <p:cNvSpPr>
            <a:spLocks noGrp="1" noRot="1" noChangeAspect="1" noChangeArrowheads="1"/>
          </p:cNvSpPr>
          <p:nvPr>
            <p:ph type="sldImg" idx="4294967295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5123" name="Shape 67"/>
          <p:cNvSpPr>
            <a:spLocks noGrp="1" noChangeArrowheads="1"/>
          </p:cNvSpPr>
          <p:nvPr>
            <p:ph type="body" sz="quarter" idx="9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endParaRPr lang="zh-CN" altLang="zh-CN">
              <a:sym typeface="Helvetica Neue" panose="02000503000000020004" pitchFamily="2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lnSpc>
        <a:spcPct val="117000"/>
      </a:lnSpc>
      <a:spcBef>
        <a:spcPct val="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panose="02000503000000020004" pitchFamily="2" charset="0"/>
      </a:defRPr>
    </a:lvl1pPr>
    <a:lvl2pPr marL="742950" indent="-285750" algn="l" defTabSz="457200" rtl="0" eaLnBrk="0" fontAlgn="base" hangingPunct="0">
      <a:lnSpc>
        <a:spcPct val="117000"/>
      </a:lnSpc>
      <a:spcBef>
        <a:spcPct val="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panose="02000503000000020004" pitchFamily="2" charset="0"/>
      </a:defRPr>
    </a:lvl2pPr>
    <a:lvl3pPr marL="1143000" indent="-228600" algn="l" defTabSz="457200" rtl="0" eaLnBrk="0" fontAlgn="base" hangingPunct="0">
      <a:lnSpc>
        <a:spcPct val="117000"/>
      </a:lnSpc>
      <a:spcBef>
        <a:spcPct val="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panose="02000503000000020004" pitchFamily="2" charset="0"/>
      </a:defRPr>
    </a:lvl3pPr>
    <a:lvl4pPr marL="1600200" indent="-228600" algn="l" defTabSz="457200" rtl="0" eaLnBrk="0" fontAlgn="base" hangingPunct="0">
      <a:lnSpc>
        <a:spcPct val="117000"/>
      </a:lnSpc>
      <a:spcBef>
        <a:spcPct val="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panose="02000503000000020004" pitchFamily="2" charset="0"/>
      </a:defRPr>
    </a:lvl4pPr>
    <a:lvl5pPr marL="2057400" indent="-228600" algn="l" defTabSz="457200" rtl="0" eaLnBrk="0" fontAlgn="base" hangingPunct="0">
      <a:lnSpc>
        <a:spcPct val="117000"/>
      </a:lnSpc>
      <a:spcBef>
        <a:spcPct val="0"/>
      </a:spcBef>
      <a:spcAft>
        <a:spcPct val="0"/>
      </a:spcAft>
      <a:defRPr sz="2200">
        <a:solidFill>
          <a:schemeClr val="tx1"/>
        </a:solidFill>
        <a:latin typeface="+mn-lt"/>
        <a:ea typeface="+mn-ea"/>
        <a:cs typeface="+mn-cs"/>
        <a:sym typeface="Helvetica Neue" panose="02000503000000020004" pitchFamily="2" charset="0"/>
      </a:defRPr>
    </a:lvl5pPr>
    <a:lvl6pPr indent="11430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6pPr>
    <a:lvl7pPr indent="13716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7pPr>
    <a:lvl8pPr indent="16002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8pPr>
    <a:lvl9pPr indent="1828800" defTabSz="457200" latinLnBrk="0">
      <a:lnSpc>
        <a:spcPct val="117000"/>
      </a:lnSpc>
      <a:defRPr sz="2200">
        <a:latin typeface="+mn-lt"/>
        <a:ea typeface="+mn-ea"/>
        <a:cs typeface="+mn-cs"/>
        <a:sym typeface="Helvetica Neue" panose="020005030000000200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339764" y="4617762"/>
            <a:ext cx="21704474" cy="1798334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10800" b="0" spc="6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339850" y="7131050"/>
            <a:ext cx="21704300" cy="160274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4800" u="none" strike="noStrike" kern="1200" cap="none" spc="2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1680210" y="1455420"/>
            <a:ext cx="7863840" cy="2230120"/>
          </a:xfrm>
        </p:spPr>
        <p:txBody>
          <a:bodyPr anchor="ctr" anchorCtr="0"/>
          <a:lstStyle>
            <a:lvl1pPr>
              <a:defRPr sz="6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10276840" y="1455420"/>
            <a:ext cx="12344400" cy="10806430"/>
          </a:xfrm>
        </p:spPr>
        <p:txBody>
          <a:bodyPr/>
          <a:lstStyle>
            <a:lvl1pPr>
              <a:defRPr sz="4800">
                <a:latin typeface="+mn-ea"/>
                <a:ea typeface="+mn-ea"/>
              </a:defRPr>
            </a:lvl1pPr>
            <a:lvl2pPr marL="914400" indent="0">
              <a:buNone/>
              <a:defRPr sz="4800">
                <a:latin typeface="+mn-ea"/>
                <a:ea typeface="+mn-ea"/>
              </a:defRPr>
            </a:lvl2pPr>
            <a:lvl3pPr>
              <a:defRPr sz="4800">
                <a:latin typeface="+mn-ea"/>
                <a:ea typeface="+mn-ea"/>
              </a:defRPr>
            </a:lvl3pPr>
            <a:lvl4pPr>
              <a:defRPr sz="4800">
                <a:latin typeface="+mn-ea"/>
                <a:ea typeface="+mn-ea"/>
              </a:defRPr>
            </a:lvl4pPr>
            <a:lvl5pPr>
              <a:defRPr sz="4800">
                <a:latin typeface="+mn-ea"/>
                <a:ea typeface="+mn-ea"/>
              </a:defRPr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1680210" y="4479290"/>
            <a:ext cx="7863840" cy="7783830"/>
          </a:xfrm>
        </p:spPr>
        <p:txBody>
          <a:bodyPr/>
          <a:lstStyle>
            <a:lvl1pPr marL="685800" indent="-685800">
              <a:buFont typeface="Arial" panose="020B0604020202020204" pitchFamily="34" charset="0"/>
              <a:buChar char="•"/>
              <a:defRPr sz="4800">
                <a:latin typeface="+mn-ea"/>
                <a:ea typeface="+mn-ea"/>
              </a:defRPr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1339850" y="11210290"/>
            <a:ext cx="21704300" cy="1116330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1339850" y="1282700"/>
            <a:ext cx="21704300" cy="911225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24392890" cy="1373632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914400" marR="0" lvl="1" indent="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93599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12575540" y="1130300"/>
            <a:ext cx="10800080" cy="11455400"/>
          </a:xfrm>
        </p:spPr>
        <p:txBody>
          <a:bodyPr vert="horz" lIns="101600" tIns="0" rIns="82550" bIns="0" rtlCol="0">
            <a:noAutofit/>
          </a:bodyPr>
          <a:lstStyle>
            <a:lvl1pPr marL="457200" marR="0" lvl="0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1371600" marR="0" lvl="1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2286000" marR="0" lvl="2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3200400" marR="0" lvl="3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4114800" marR="0" lvl="4" indent="-457200" algn="l" defTabSz="9144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4800" b="0" i="0" u="none" strike="noStrike" kern="1200" cap="none" spc="15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339764" y="1247182"/>
            <a:ext cx="21704474" cy="1798334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0" i="0" u="none" strike="noStrike" kern="1200" cap="none" spc="6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129645" y="13192234"/>
            <a:ext cx="1464945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19842084" y="13153762"/>
            <a:ext cx="5068389" cy="4001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6540062" y="1830047"/>
            <a:ext cx="1713024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11" indent="0" algn="ctr">
              <a:buNone/>
              <a:defRPr sz="4000"/>
            </a:lvl2pPr>
            <a:lvl3pPr marL="1828823" indent="0" algn="ctr">
              <a:buNone/>
              <a:defRPr sz="3600"/>
            </a:lvl3pPr>
            <a:lvl4pPr marL="2743234" indent="0" algn="ctr">
              <a:buNone/>
              <a:defRPr sz="3200"/>
            </a:lvl4pPr>
            <a:lvl5pPr marL="3657646" indent="0" algn="ctr">
              <a:buNone/>
              <a:defRPr sz="3200"/>
            </a:lvl5pPr>
            <a:lvl6pPr marL="4572057" indent="0" algn="ctr">
              <a:buNone/>
              <a:defRPr sz="3200"/>
            </a:lvl6pPr>
            <a:lvl7pPr marL="5486469" indent="0" algn="ctr">
              <a:buNone/>
              <a:defRPr sz="3200"/>
            </a:lvl7pPr>
            <a:lvl8pPr marL="6400880" indent="0" algn="ctr">
              <a:buNone/>
              <a:defRPr sz="3200"/>
            </a:lvl8pPr>
            <a:lvl9pPr marL="7315291" indent="0" algn="ctr">
              <a:buNone/>
              <a:defRPr sz="3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32044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194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3701" y="3419479"/>
            <a:ext cx="21031200" cy="5705475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63701" y="9178928"/>
            <a:ext cx="21031200" cy="3000373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1pPr>
            <a:lvl2pPr marL="914411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823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234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646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2057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469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88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5291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7629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76400" y="3651251"/>
            <a:ext cx="10363200" cy="870267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44400" y="3651251"/>
            <a:ext cx="10363200" cy="870267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55567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6" y="730251"/>
            <a:ext cx="21031200" cy="26511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9579" y="3362325"/>
            <a:ext cx="10315573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11" indent="0">
              <a:buNone/>
              <a:defRPr sz="4000" b="1"/>
            </a:lvl2pPr>
            <a:lvl3pPr marL="1828823" indent="0">
              <a:buNone/>
              <a:defRPr sz="3600" b="1"/>
            </a:lvl3pPr>
            <a:lvl4pPr marL="2743234" indent="0">
              <a:buNone/>
              <a:defRPr sz="3200" b="1"/>
            </a:lvl4pPr>
            <a:lvl5pPr marL="3657646" indent="0">
              <a:buNone/>
              <a:defRPr sz="3200" b="1"/>
            </a:lvl5pPr>
            <a:lvl6pPr marL="4572057" indent="0">
              <a:buNone/>
              <a:defRPr sz="3200" b="1"/>
            </a:lvl6pPr>
            <a:lvl7pPr marL="5486469" indent="0">
              <a:buNone/>
              <a:defRPr sz="3200" b="1"/>
            </a:lvl7pPr>
            <a:lvl8pPr marL="6400880" indent="0">
              <a:buNone/>
              <a:defRPr sz="3200" b="1"/>
            </a:lvl8pPr>
            <a:lvl9pPr marL="7315291" indent="0">
              <a:buNone/>
              <a:defRPr sz="3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79579" y="5010151"/>
            <a:ext cx="10315573" cy="736917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344401" y="3362325"/>
            <a:ext cx="10366376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11" indent="0">
              <a:buNone/>
              <a:defRPr sz="4000" b="1"/>
            </a:lvl2pPr>
            <a:lvl3pPr marL="1828823" indent="0">
              <a:buNone/>
              <a:defRPr sz="3600" b="1"/>
            </a:lvl3pPr>
            <a:lvl4pPr marL="2743234" indent="0">
              <a:buNone/>
              <a:defRPr sz="3200" b="1"/>
            </a:lvl4pPr>
            <a:lvl5pPr marL="3657646" indent="0">
              <a:buNone/>
              <a:defRPr sz="3200" b="1"/>
            </a:lvl5pPr>
            <a:lvl6pPr marL="4572057" indent="0">
              <a:buNone/>
              <a:defRPr sz="3200" b="1"/>
            </a:lvl6pPr>
            <a:lvl7pPr marL="5486469" indent="0">
              <a:buNone/>
              <a:defRPr sz="3200" b="1"/>
            </a:lvl7pPr>
            <a:lvl8pPr marL="6400880" indent="0">
              <a:buNone/>
              <a:defRPr sz="3200" b="1"/>
            </a:lvl8pPr>
            <a:lvl9pPr marL="7315291" indent="0">
              <a:buNone/>
              <a:defRPr sz="3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344401" y="5010151"/>
            <a:ext cx="10366376" cy="736917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6015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6837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6" y="914400"/>
            <a:ext cx="7864475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66376" y="1974852"/>
            <a:ext cx="12344400" cy="9747251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6" y="4114801"/>
            <a:ext cx="7864475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11" indent="0">
              <a:buNone/>
              <a:defRPr sz="2800"/>
            </a:lvl2pPr>
            <a:lvl3pPr marL="1828823" indent="0">
              <a:buNone/>
              <a:defRPr sz="2400"/>
            </a:lvl3pPr>
            <a:lvl4pPr marL="2743234" indent="0">
              <a:buNone/>
              <a:defRPr sz="2000"/>
            </a:lvl4pPr>
            <a:lvl5pPr marL="3657646" indent="0">
              <a:buNone/>
              <a:defRPr sz="2000"/>
            </a:lvl5pPr>
            <a:lvl6pPr marL="4572057" indent="0">
              <a:buNone/>
              <a:defRPr sz="2000"/>
            </a:lvl6pPr>
            <a:lvl7pPr marL="5486469" indent="0">
              <a:buNone/>
              <a:defRPr sz="2000"/>
            </a:lvl7pPr>
            <a:lvl8pPr marL="6400880" indent="0">
              <a:buNone/>
              <a:defRPr sz="2000"/>
            </a:lvl8pPr>
            <a:lvl9pPr marL="7315291" indent="0">
              <a:buNone/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62098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E0DB2B2-D25E-444C-86B2-143D203378C0}"/>
              </a:ext>
            </a:extLst>
          </p:cNvPr>
          <p:cNvSpPr txBox="1"/>
          <p:nvPr userDrawn="1"/>
        </p:nvSpPr>
        <p:spPr>
          <a:xfrm>
            <a:off x="19842086" y="13153763"/>
            <a:ext cx="5068389" cy="40011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marL="0" marR="0" indent="0" algn="ctr" defTabSz="82551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F8E8141-DF10-B443-A432-4FFAD2FB8D1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98597" y="11999600"/>
            <a:ext cx="6860416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altLang="zh-CN" sz="7200" dirty="0">
                <a:solidFill>
                  <a:schemeClr val="bg1"/>
                </a:solidFill>
                <a:ea typeface="宋体" pitchFamily="2" charset="-122"/>
              </a:rPr>
              <a:t>Contents</a:t>
            </a:r>
          </a:p>
        </p:txBody>
      </p:sp>
      <p:pic>
        <p:nvPicPr>
          <p:cNvPr id="6" name="图片 1" descr="2">
            <a:extLst>
              <a:ext uri="{FF2B5EF4-FFF2-40B4-BE49-F238E27FC236}">
                <a16:creationId xmlns:a16="http://schemas.microsoft.com/office/drawing/2014/main" id="{9F72C929-4E91-744D-ACBA-8EF3794CA7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1598599" y="1140953"/>
            <a:ext cx="4280435" cy="8541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1AB625A-1AE1-6141-91AC-44B09F61F27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0744" y="1577792"/>
            <a:ext cx="4532203" cy="1060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161397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11749573" y="13242975"/>
            <a:ext cx="884859" cy="636072"/>
          </a:xfrm>
        </p:spPr>
        <p:txBody>
          <a:bodyPr/>
          <a:lstStyle>
            <a:lvl1pPr algn="ctr">
              <a:defRPr sz="2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dirty="0"/>
              <a:t>-</a:t>
            </a:r>
            <a:fld id="{FAEDECE0-B3E3-4E93-9B91-9F10B30F5B07}" type="slidenum">
              <a:rPr lang="en-US" altLang="zh-CN" dirty="0" smtClean="0"/>
              <a:t>‹#›</a:t>
            </a:fld>
            <a:r>
              <a:rPr lang="en-US" altLang="zh-CN" dirty="0"/>
              <a:t>-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0046330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744F58F-7C42-F64A-9AEA-F336833127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6447" y="1636683"/>
            <a:ext cx="5618781" cy="131433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6E55B8F-CA51-604F-B5C5-9147A7F4B5F5}"/>
              </a:ext>
            </a:extLst>
          </p:cNvPr>
          <p:cNvSpPr txBox="1"/>
          <p:nvPr userDrawn="1"/>
        </p:nvSpPr>
        <p:spPr>
          <a:xfrm>
            <a:off x="19842086" y="13153763"/>
            <a:ext cx="5068389" cy="40011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marL="0" marR="0" indent="0" algn="ctr" defTabSz="82551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D0D95B7-9CE1-CF4B-837C-224BE676E5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9806617">
            <a:off x="14359355" y="-5194588"/>
            <a:ext cx="20245232" cy="19124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39959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29645" y="13254482"/>
            <a:ext cx="1464944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19842086" y="13216008"/>
            <a:ext cx="5068389" cy="40011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marL="0" marR="0" indent="0" algn="ctr" defTabSz="82551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6540062" y="1830048"/>
            <a:ext cx="17130243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4007821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29645" y="13192236"/>
            <a:ext cx="1464944" cy="323165"/>
          </a:xfrm>
        </p:spPr>
        <p:txBody>
          <a:bodyPr wrap="square">
            <a:noAutofit/>
          </a:bodyPr>
          <a:lstStyle>
            <a:lvl1pPr algn="ctr"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19842086" y="13153763"/>
            <a:ext cx="5068389" cy="40011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20" tIns="45720" rIns="45720" bIns="45720" numCol="1" spcCol="38100" rtlCol="0" anchor="t">
            <a:spAutoFit/>
          </a:bodyPr>
          <a:lstStyle/>
          <a:p>
            <a:pPr marL="0" marR="0" indent="0" algn="ctr" defTabSz="82551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2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6540062" y="1830048"/>
            <a:ext cx="17130243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15986258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1759484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8232000" y="12699666"/>
            <a:ext cx="792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7221200" y="12699666"/>
            <a:ext cx="5400000" cy="633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/>
          </a:p>
        </p:txBody>
      </p:sp>
      <p:sp>
        <p:nvSpPr>
          <p:cNvPr id="8" name="标题 7"/>
          <p:cNvSpPr>
            <a:spLocks noGrp="1"/>
          </p:cNvSpPr>
          <p:nvPr>
            <p:ph type="title"/>
          </p:nvPr>
        </p:nvSpPr>
        <p:spPr>
          <a:xfrm>
            <a:off x="1339764" y="1162450"/>
            <a:ext cx="21704474" cy="129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/>
          </p:nvPr>
        </p:nvSpPr>
        <p:spPr>
          <a:xfrm>
            <a:off x="1339850" y="3016250"/>
            <a:ext cx="21704300" cy="9498330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l" defTabSz="1828800" rtl="0" eaLnBrk="1" fontAlgn="auto" latinLnBrk="0" hangingPunct="1">
        <a:lnSpc>
          <a:spcPct val="100000"/>
        </a:lnSpc>
        <a:spcBef>
          <a:spcPct val="0"/>
        </a:spcBef>
        <a:buNone/>
        <a:defRPr sz="5600" b="1" u="none" strike="noStrike" kern="1200" cap="none" spc="2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4572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13716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tabLst>
          <a:tab pos="3219450" algn="l"/>
        </a:tabLst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22860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32004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4114800" indent="-457200" algn="l" defTabSz="182880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•"/>
        <a:defRPr sz="3200" u="none" strike="noStrike" kern="1200" cap="none" spc="150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400" y="730251"/>
            <a:ext cx="21031200" cy="2651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400" y="3651251"/>
            <a:ext cx="21031200" cy="87026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6400" y="12712701"/>
            <a:ext cx="5486400" cy="7302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7200" y="12712701"/>
            <a:ext cx="8229600" cy="7302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1200" y="12712701"/>
            <a:ext cx="5486400" cy="73025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2581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hdr="0" ftr="0" dt="0"/>
  <p:txStyles>
    <p:titleStyle>
      <a:lvl1pPr algn="l" defTabSz="1828823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6" indent="-457206" algn="l" defTabSz="1828823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17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29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40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51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63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74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86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97" indent="-457206" algn="l" defTabSz="182882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11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23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34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46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57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69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80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91" algn="l" defTabSz="1828823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88" y="146304"/>
            <a:ext cx="11887229" cy="1316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500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工厂GMP合规管理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2" y="1645924"/>
            <a:ext cx="11164851" cy="6661237"/>
          </a:xfrm>
          <a:prstGeom prst="roundRect">
            <a:avLst>
              <a:gd name="adj" fmla="val 4000"/>
            </a:avLst>
          </a:prstGeom>
          <a:solidFill>
            <a:srgbClr val="F7F9FD"/>
          </a:solidFill>
          <a:ln w="25400">
            <a:solidFill>
              <a:srgbClr val="C5D0E6"/>
            </a:solidFill>
          </a:ln>
          <a:effectLst>
            <a:outerShdw blurRad="76200" dist="381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2" y="1645924"/>
            <a:ext cx="109728" cy="6661237"/>
          </a:xfrm>
          <a:prstGeom prst="rect">
            <a:avLst/>
          </a:prstGeom>
          <a:solidFill>
            <a:srgbClr val="1D42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11" y="1682500"/>
            <a:ext cx="1499619" cy="804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480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6" y="1755652"/>
            <a:ext cx="9061726" cy="658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生产车间常见合规性问题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07011" y="2523750"/>
            <a:ext cx="10616210" cy="0"/>
          </a:xfrm>
          <a:prstGeom prst="line">
            <a:avLst/>
          </a:prstGeom>
          <a:ln w="25400">
            <a:solidFill>
              <a:srgbClr val="C5D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280163" y="2633478"/>
            <a:ext cx="10506482" cy="5527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一、人员管理类高频合规性问题：着装，培训，外来人员管理，复核，隐瞒不报</a:t>
            </a:r>
          </a:p>
          <a:p>
            <a:pPr algn="l">
              <a:lnSpc>
                <a:spcPct val="114000"/>
              </a:lnSpc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二、物料、中间产品管理类（混淆、交叉污染）</a:t>
            </a:r>
          </a:p>
          <a:p>
            <a:pPr algn="l">
              <a:lnSpc>
                <a:spcPct val="114000"/>
              </a:lnSpc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三、工艺操作合规问题</a:t>
            </a:r>
          </a:p>
          <a:p>
            <a:pPr algn="l">
              <a:lnSpc>
                <a:spcPct val="114000"/>
              </a:lnSpc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四、设备、设施相关问题（衔接设备安全巡检）：状态，标识，清洁，跑冒滴漏，交叉污染；</a:t>
            </a:r>
          </a:p>
          <a:p>
            <a:pPr algn="l">
              <a:lnSpc>
                <a:spcPct val="114000"/>
              </a:lnSpc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五、洁净区环境与公用系统（无菌车间重灾区）</a:t>
            </a:r>
          </a:p>
          <a:p>
            <a:pPr algn="l">
              <a:lnSpc>
                <a:spcPct val="114000"/>
              </a:lnSpc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六、记录与文件缺陷（飞检第一关注重点）</a:t>
            </a:r>
          </a:p>
          <a:p>
            <a:pPr algn="l">
              <a:lnSpc>
                <a:spcPct val="114000"/>
              </a:lnSpc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七、计算机化系统 &amp; 数据完整性问题</a:t>
            </a:r>
          </a:p>
          <a:p>
            <a:pPr algn="l">
              <a:lnSpc>
                <a:spcPct val="114000"/>
              </a:lnSpc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八、质量体系工具落地问题（偏差、变更、CAPA、OOS瞒报，调查不充分）</a:t>
            </a:r>
          </a:p>
          <a:p>
            <a:pPr algn="l">
              <a:lnSpc>
                <a:spcPct val="114000"/>
              </a:lnSpc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九、现场 EHS 合规问题（GMP + 安全生产双重要求）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540" b="1">
                <a:solidFill>
                  <a:srgbClr val="FF0000"/>
                </a:solidFill>
                <a:latin typeface="Arial"/>
                <a:ea typeface="微软雅黑"/>
                <a:cs typeface="Arial"/>
              </a:rPr>
              <a:t>重大高风险缺陷（极易导致官方警告、停产）</a:t>
            </a:r>
          </a:p>
          <a:p>
            <a:pPr algn="l" marL="292608" indent="-292608">
              <a:lnSpc>
                <a:spcPct val="114000"/>
              </a:lnSpc>
              <a:buFont typeface="Arial"/>
              <a:buChar char="●"/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伪造、篡改生产 / 检验原始数据；共享账号规避系统管控</a:t>
            </a:r>
          </a:p>
          <a:p>
            <a:pPr algn="l" marL="292608" indent="-292608">
              <a:lnSpc>
                <a:spcPct val="114000"/>
              </a:lnSpc>
              <a:buFont typeface="Arial"/>
              <a:buChar char="●"/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未经 QA 放行物料投入生产</a:t>
            </a:r>
          </a:p>
          <a:p>
            <a:pPr algn="l" marL="292608" indent="-292608">
              <a:lnSpc>
                <a:spcPct val="114000"/>
              </a:lnSpc>
              <a:buFont typeface="Arial"/>
              <a:buChar char="●"/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隐瞒重大异常，不报偏差，继续生产产品</a:t>
            </a:r>
          </a:p>
          <a:p>
            <a:pPr algn="l" marL="292608" indent="-292608">
              <a:lnSpc>
                <a:spcPct val="114000"/>
              </a:lnSpc>
              <a:buFont typeface="Arial"/>
              <a:buChar char="●"/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拆除、屏蔽设备安全、工艺联锁装置</a:t>
            </a:r>
          </a:p>
          <a:p>
            <a:pPr algn="l" marL="292608" indent="-292608">
              <a:lnSpc>
                <a:spcPct val="114000"/>
              </a:lnSpc>
              <a:buFont typeface="Arial"/>
              <a:buChar char="●"/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跨品种生产未有效清场，存在严重交叉污染风险</a:t>
            </a:r>
          </a:p>
          <a:p>
            <a:pPr algn="l">
              <a:lnSpc>
                <a:spcPct val="114000"/>
              </a:lnSpc>
              <a:spcBef>
                <a:spcPts val="400"/>
              </a:spcBef>
            </a:pPr>
            <a:r>
              <a:rPr sz="154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主要一般缺陷（日常巡检最常见）</a:t>
            </a:r>
          </a:p>
          <a:p>
            <a:pPr algn="l" marL="292608" indent="-292608">
              <a:lnSpc>
                <a:spcPct val="114000"/>
              </a:lnSpc>
              <a:buFont typeface="Arial"/>
              <a:buChar char="●"/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记录填写不及时、信息不全；记录修改不规范</a:t>
            </a:r>
          </a:p>
          <a:p>
            <a:pPr algn="l" marL="292608" indent="-292608">
              <a:lnSpc>
                <a:spcPct val="114000"/>
              </a:lnSpc>
              <a:buFont typeface="Arial"/>
              <a:buChar char="●"/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物料标识不清、容器敞口存放</a:t>
            </a:r>
          </a:p>
          <a:p>
            <a:pPr algn="l" marL="292608" indent="-292608">
              <a:lnSpc>
                <a:spcPct val="114000"/>
              </a:lnSpc>
              <a:buFont typeface="Arial"/>
              <a:buChar char="●"/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洁净区人员行为违规、更衣不规范</a:t>
            </a:r>
          </a:p>
          <a:p>
            <a:pPr algn="l" marL="292608" indent="-292608">
              <a:lnSpc>
                <a:spcPct val="114000"/>
              </a:lnSpc>
              <a:buFont typeface="Arial"/>
              <a:buChar char="●"/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环境监测超标未调查；消毒管理不规范</a:t>
            </a:r>
          </a:p>
          <a:p>
            <a:pPr algn="l" marL="292608" indent="-292608">
              <a:lnSpc>
                <a:spcPct val="114000"/>
              </a:lnSpc>
              <a:buFont typeface="Arial"/>
              <a:buChar char="●"/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维保、巡检记录漏记；计量器具临近 / 超校准周期</a:t>
            </a:r>
          </a:p>
          <a:p>
            <a:pPr algn="l" marL="292608" indent="-292608">
              <a:lnSpc>
                <a:spcPct val="114000"/>
              </a:lnSpc>
              <a:buFont typeface="Arial"/>
              <a:buChar char="●"/>
            </a:pPr>
            <a:r>
              <a:rPr sz="15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审计追踪仅开启，未实施周期性审核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298710" y="1645924"/>
            <a:ext cx="11164851" cy="6661237"/>
          </a:xfrm>
          <a:prstGeom prst="roundRect">
            <a:avLst>
              <a:gd name="adj" fmla="val 4000"/>
            </a:avLst>
          </a:prstGeom>
          <a:solidFill>
            <a:srgbClr val="F7F9FD"/>
          </a:solidFill>
          <a:ln w="25400">
            <a:solidFill>
              <a:srgbClr val="C5D0E6"/>
            </a:solidFill>
          </a:ln>
          <a:effectLst>
            <a:outerShdw blurRad="76200" dist="381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298710" y="1645924"/>
            <a:ext cx="109728" cy="6661237"/>
          </a:xfrm>
          <a:prstGeom prst="rect">
            <a:avLst/>
          </a:prstGeom>
          <a:solidFill>
            <a:srgbClr val="1D42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591319" y="1682500"/>
            <a:ext cx="1499619" cy="804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480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36075" y="1755652"/>
            <a:ext cx="9061726" cy="658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QC 实验室常见 GMP 违规行为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591319" y="2523750"/>
            <a:ext cx="10616211" cy="0"/>
          </a:xfrm>
          <a:prstGeom prst="line">
            <a:avLst/>
          </a:prstGeom>
          <a:ln w="25400">
            <a:solidFill>
              <a:srgbClr val="C5D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2664471" y="2633478"/>
            <a:ext cx="10506482" cy="55273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8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一、样品管理类（高频问题）；</a:t>
            </a:r>
          </a:p>
          <a:p>
            <a:pPr algn="l">
              <a:lnSpc>
                <a:spcPct val="114000"/>
              </a:lnSpc>
            </a:pPr>
            <a:r>
              <a:rPr sz="18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二、检验操作行为违规</a:t>
            </a:r>
          </a:p>
          <a:p>
            <a:pPr algn="l">
              <a:lnSpc>
                <a:spcPct val="114000"/>
              </a:lnSpc>
            </a:pPr>
            <a:r>
              <a:rPr sz="18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三、原始记录与数据完整性（GMP 红线，重大违规）</a:t>
            </a:r>
          </a:p>
          <a:p>
            <a:pPr algn="l">
              <a:lnSpc>
                <a:spcPct val="114000"/>
              </a:lnSpc>
            </a:pPr>
            <a:r>
              <a:rPr sz="18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四、仪器设备管理违规；</a:t>
            </a:r>
          </a:p>
          <a:p>
            <a:pPr algn="l">
              <a:lnSpc>
                <a:spcPct val="114000"/>
              </a:lnSpc>
            </a:pPr>
            <a:r>
              <a:rPr sz="18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五、试剂、试液、标准品、培养基管理；</a:t>
            </a:r>
          </a:p>
          <a:p>
            <a:pPr algn="l">
              <a:lnSpc>
                <a:spcPct val="114000"/>
              </a:lnSpc>
            </a:pPr>
            <a:r>
              <a:rPr sz="18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六、实验室环境、清洁消毒、微生物专项违规</a:t>
            </a:r>
          </a:p>
          <a:p>
            <a:pPr algn="l">
              <a:lnSpc>
                <a:spcPct val="114000"/>
              </a:lnSpc>
            </a:pPr>
            <a:r>
              <a:rPr sz="18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七、文件、报告、偏差 OOS 管理，调查</a:t>
            </a:r>
          </a:p>
          <a:p>
            <a:pPr algn="l">
              <a:lnSpc>
                <a:spcPct val="114000"/>
              </a:lnSpc>
            </a:pPr>
            <a:r>
              <a:rPr sz="18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八、人员卫生与行为规范</a:t>
            </a:r>
          </a:p>
          <a:p>
            <a:pPr algn="l">
              <a:lnSpc>
                <a:spcPct val="114000"/>
              </a:lnSpc>
              <a:spcBef>
                <a:spcPts val="1000"/>
              </a:spcBef>
            </a:pPr>
            <a:r>
              <a:rPr sz="1800" b="1">
                <a:solidFill>
                  <a:srgbClr val="FF0000"/>
                </a:solidFill>
                <a:latin typeface="Arial"/>
                <a:ea typeface="微软雅黑"/>
                <a:cs typeface="Arial"/>
              </a:rPr>
              <a:t>重大高风险缺陷：</a:t>
            </a:r>
            <a:r>
              <a:rPr sz="18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伪造数据、删除图谱、共用账号、隐瞒 OOS 结果、擅自更改检验方法、挪用留样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8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一般违规：</a:t>
            </a:r>
            <a:r>
              <a:rPr sz="18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样品存放条件不达标、漏做仪器日常核查、试剂标识不全、未及时填写设备日志；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8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轻微违规：</a:t>
            </a:r>
            <a:r>
              <a:rPr sz="18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记录书写不规范、物品摆放杂乱、清洁不及时、标识粘贴不整齐；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2" y="8490042"/>
            <a:ext cx="11164851" cy="4640774"/>
          </a:xfrm>
          <a:prstGeom prst="roundRect">
            <a:avLst>
              <a:gd name="adj" fmla="val 4000"/>
            </a:avLst>
          </a:prstGeom>
          <a:solidFill>
            <a:srgbClr val="F7F9FD"/>
          </a:solidFill>
          <a:ln w="25400">
            <a:solidFill>
              <a:srgbClr val="C5D0E6"/>
            </a:solidFill>
          </a:ln>
          <a:effectLst>
            <a:outerShdw blurRad="76200" dist="381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2" y="8490042"/>
            <a:ext cx="109728" cy="4640774"/>
          </a:xfrm>
          <a:prstGeom prst="rect">
            <a:avLst/>
          </a:prstGeom>
          <a:solidFill>
            <a:srgbClr val="1D42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7011" y="8526618"/>
            <a:ext cx="1499619" cy="804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480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6" y="8599770"/>
            <a:ext cx="9061726" cy="658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计算机化系统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207011" y="9367868"/>
            <a:ext cx="10616210" cy="0"/>
          </a:xfrm>
          <a:prstGeom prst="line">
            <a:avLst/>
          </a:prstGeom>
          <a:ln w="25400">
            <a:solidFill>
              <a:srgbClr val="C5D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3" y="9477596"/>
            <a:ext cx="10506482" cy="3506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76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一、用户访问与账号权限持续管理</a:t>
            </a:r>
          </a:p>
          <a:p>
            <a:pPr algn="l">
              <a:lnSpc>
                <a:spcPct val="114000"/>
              </a:lnSpc>
            </a:pPr>
            <a:r>
              <a:rPr sz="176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二、审计追踪（Audit Trail）常态化管理（核查高频重点）</a:t>
            </a:r>
          </a:p>
          <a:p>
            <a:pPr algn="l">
              <a:lnSpc>
                <a:spcPct val="114000"/>
              </a:lnSpc>
            </a:pPr>
            <a:r>
              <a:rPr sz="176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三、系统日常运维管理（所有运维操作不能脱离 GMP 体系）</a:t>
            </a:r>
          </a:p>
          <a:p>
            <a:pPr algn="l">
              <a:lnSpc>
                <a:spcPct val="114000"/>
              </a:lnSpc>
            </a:pPr>
            <a:r>
              <a:rPr sz="176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四、备份管理与定期灾难恢复演练</a:t>
            </a:r>
          </a:p>
          <a:p>
            <a:pPr algn="l">
              <a:lnSpc>
                <a:spcPct val="114000"/>
              </a:lnSpc>
            </a:pPr>
            <a:r>
              <a:rPr sz="176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五、电子记录、电子签名日常管控</a:t>
            </a:r>
          </a:p>
          <a:p>
            <a:pPr algn="l">
              <a:lnSpc>
                <a:spcPct val="114000"/>
              </a:lnSpc>
            </a:pPr>
            <a:r>
              <a:rPr sz="176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六、系统异常事件、故障管理（IT 与质量体系打通）</a:t>
            </a:r>
          </a:p>
          <a:p>
            <a:pPr algn="l">
              <a:lnSpc>
                <a:spcPct val="114000"/>
              </a:lnSpc>
            </a:pPr>
            <a:r>
              <a:rPr sz="176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七、变更控制—— 运行阶段所有系统变更必经流程</a:t>
            </a:r>
          </a:p>
          <a:p>
            <a:pPr algn="l">
              <a:lnSpc>
                <a:spcPct val="114000"/>
              </a:lnSpc>
            </a:pPr>
            <a:r>
              <a:rPr sz="176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八、供应商持续管理（外购软件、SaaS 云系统重点）</a:t>
            </a:r>
          </a:p>
          <a:p>
            <a:pPr algn="l">
              <a:lnSpc>
                <a:spcPct val="114000"/>
              </a:lnSpc>
            </a:pPr>
            <a:r>
              <a:rPr sz="176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十、人员持续培训与行为监督</a:t>
            </a:r>
          </a:p>
          <a:p>
            <a:pPr algn="l">
              <a:lnSpc>
                <a:spcPct val="114000"/>
              </a:lnSpc>
            </a:pPr>
            <a:r>
              <a:rPr sz="176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十一、周期性系统合规回顾（System Periodic Review，SPR）</a:t>
            </a:r>
          </a:p>
          <a:p>
            <a:pPr algn="l">
              <a:lnSpc>
                <a:spcPct val="114000"/>
              </a:lnSpc>
            </a:pPr>
            <a:r>
              <a:rPr sz="176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欧美药企标准要求：每 12 个月开展计算机化系统周期性回顾 SPR</a:t>
            </a:r>
          </a:p>
          <a:p>
            <a:pPr algn="l">
              <a:lnSpc>
                <a:spcPct val="114000"/>
              </a:lnSpc>
            </a:pPr>
            <a:r>
              <a:rPr sz="176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十二、文档持续维护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298710" y="8490042"/>
            <a:ext cx="11164851" cy="4640774"/>
          </a:xfrm>
          <a:prstGeom prst="roundRect">
            <a:avLst>
              <a:gd name="adj" fmla="val 4000"/>
            </a:avLst>
          </a:prstGeom>
          <a:solidFill>
            <a:srgbClr val="F7F9FD"/>
          </a:solidFill>
          <a:ln w="25400">
            <a:solidFill>
              <a:srgbClr val="C5D0E6"/>
            </a:solidFill>
          </a:ln>
          <a:effectLst>
            <a:outerShdw blurRad="76200" dist="38100" dir="5400000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298710" y="8490042"/>
            <a:ext cx="109728" cy="4640774"/>
          </a:xfrm>
          <a:prstGeom prst="rect">
            <a:avLst/>
          </a:prstGeom>
          <a:solidFill>
            <a:srgbClr val="1D42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91319" y="8526618"/>
            <a:ext cx="1499619" cy="804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480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36075" y="8599770"/>
            <a:ext cx="9061726" cy="658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132556"/>
                </a:solidFill>
                <a:latin typeface="Arial"/>
                <a:ea typeface="微软雅黑"/>
                <a:cs typeface="Arial"/>
              </a:rPr>
              <a:t>库房管理常见合规性问题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2591319" y="9367868"/>
            <a:ext cx="10616211" cy="0"/>
          </a:xfrm>
          <a:prstGeom prst="line">
            <a:avLst/>
          </a:prstGeom>
          <a:ln w="25400">
            <a:solidFill>
              <a:srgbClr val="C5D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2664471" y="9477596"/>
            <a:ext cx="10506482" cy="3506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一、库房区域与硬件设施合规问题（高频）</a:t>
            </a:r>
          </a:p>
          <a:p>
            <a:pPr algn="l">
              <a:lnSpc>
                <a:spcPct val="112000"/>
              </a:lnSpc>
            </a:pPr>
            <a:r>
              <a:rPr sz="14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二、物料存放与状态管理问题（GMP重点缺陷）</a:t>
            </a:r>
          </a:p>
          <a:p>
            <a:pPr algn="l">
              <a:lnSpc>
                <a:spcPct val="112000"/>
              </a:lnSpc>
            </a:pPr>
            <a:r>
              <a:rPr sz="14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三、入库、取样、出库、退库流程合规问题</a:t>
            </a:r>
          </a:p>
          <a:p>
            <a:pPr algn="l">
              <a:lnSpc>
                <a:spcPct val="112000"/>
              </a:lnSpc>
            </a:pPr>
            <a:r>
              <a:rPr sz="14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四、温湿度、冷链、储存条件合规问题</a:t>
            </a:r>
          </a:p>
          <a:p>
            <a:pPr algn="l">
              <a:lnSpc>
                <a:spcPct val="112000"/>
              </a:lnSpc>
            </a:pPr>
            <a:r>
              <a:rPr sz="14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五、台账、记录、追溯管理问题（核查重灾区）</a:t>
            </a:r>
          </a:p>
          <a:p>
            <a:pPr algn="l">
              <a:lnSpc>
                <a:spcPct val="112000"/>
              </a:lnSpc>
            </a:pPr>
            <a:r>
              <a:rPr sz="14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六、计算机化系统与数据完整性问题（WMS/ERP）</a:t>
            </a:r>
          </a:p>
          <a:p>
            <a:pPr algn="l">
              <a:lnSpc>
                <a:spcPct val="112000"/>
              </a:lnSpc>
            </a:pPr>
            <a:r>
              <a:rPr sz="14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七、清洁、卫生、防虫鼠、环境管理问题</a:t>
            </a:r>
          </a:p>
          <a:p>
            <a:pPr algn="l">
              <a:lnSpc>
                <a:spcPct val="112000"/>
              </a:lnSpc>
            </a:pPr>
            <a:r>
              <a:rPr sz="14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八、危化品、有机溶剂库房专项问题（EHS+GMP双重缺陷）</a:t>
            </a:r>
          </a:p>
          <a:p>
            <a:pPr algn="l">
              <a:lnSpc>
                <a:spcPct val="112000"/>
              </a:lnSpc>
            </a:pPr>
            <a:r>
              <a:rPr sz="14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九、人员管理与操作合规问题</a:t>
            </a:r>
          </a:p>
          <a:p>
            <a:pPr algn="l">
              <a:lnSpc>
                <a:spcPct val="112000"/>
              </a:lnSpc>
            </a:pPr>
            <a:r>
              <a:rPr sz="14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十、质量体系执行问题（偏差/变更/CAPA）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440" b="1">
                <a:solidFill>
                  <a:srgbClr val="FF0000"/>
                </a:solidFill>
                <a:latin typeface="Arial"/>
                <a:ea typeface="微软雅黑"/>
                <a:cs typeface="Arial"/>
              </a:rPr>
              <a:t>重大高风险缺陷（飞检直接判重缺陷）</a:t>
            </a:r>
          </a:p>
          <a:p>
            <a:pPr algn="l" marL="292608" indent="-292608">
              <a:lnSpc>
                <a:spcPct val="112000"/>
              </a:lnSpc>
              <a:buFont typeface="Arial"/>
              <a:buChar char="●"/>
            </a:pPr>
            <a:r>
              <a:rPr sz="14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未经放行物料入库、领用、投产</a:t>
            </a:r>
          </a:p>
          <a:p>
            <a:pPr algn="l" marL="292608" indent="-292608">
              <a:lnSpc>
                <a:spcPct val="112000"/>
              </a:lnSpc>
              <a:buFont typeface="Arial"/>
              <a:buChar char="●"/>
            </a:pPr>
            <a:r>
              <a:rPr sz="14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账物严重不符、虚假记录、补录数据</a:t>
            </a:r>
          </a:p>
          <a:p>
            <a:pPr algn="l" marL="292608" indent="-292608">
              <a:lnSpc>
                <a:spcPct val="112000"/>
              </a:lnSpc>
              <a:buFont typeface="Arial"/>
              <a:buChar char="●"/>
            </a:pPr>
            <a:r>
              <a:rPr sz="14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不合格品与合格品混放、失控管理</a:t>
            </a:r>
          </a:p>
          <a:p>
            <a:pPr algn="l" marL="292608" indent="-292608">
              <a:lnSpc>
                <a:spcPct val="112000"/>
              </a:lnSpc>
              <a:buFont typeface="Arial"/>
              <a:buChar char="●"/>
            </a:pPr>
            <a:r>
              <a:rPr sz="14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危化品违规混存、无防爆防静电措施</a:t>
            </a:r>
          </a:p>
          <a:p>
            <a:pPr algn="l" marL="292608" indent="-292608">
              <a:lnSpc>
                <a:spcPct val="112000"/>
              </a:lnSpc>
              <a:buFont typeface="Arial"/>
              <a:buChar char="●"/>
            </a:pPr>
            <a:r>
              <a:rPr sz="14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系统共享账号、删除/篡改物料数据</a:t>
            </a:r>
          </a:p>
          <a:p>
            <a:pPr algn="l" marL="292608" indent="-292608">
              <a:lnSpc>
                <a:spcPct val="112000"/>
              </a:lnSpc>
              <a:buFont typeface="Arial"/>
              <a:buChar char="●"/>
            </a:pPr>
            <a:r>
              <a:rPr sz="14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温湿度长期超标不处置、瞒报异常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White">
  <a:themeElements>
    <a:clrScheme name="自定义 4">
      <a:dk1>
        <a:srgbClr val="003669"/>
      </a:dk1>
      <a:lt1>
        <a:srgbClr val="FFFFFF"/>
      </a:lt1>
      <a:dk2>
        <a:srgbClr val="3263A7"/>
      </a:dk2>
      <a:lt2>
        <a:srgbClr val="E7E6E6"/>
      </a:lt2>
      <a:accent1>
        <a:srgbClr val="4472C4"/>
      </a:accent1>
      <a:accent2>
        <a:srgbClr val="E5B620"/>
      </a:accent2>
      <a:accent3>
        <a:srgbClr val="2649AB"/>
      </a:accent3>
      <a:accent4>
        <a:srgbClr val="FFC000"/>
      </a:accent4>
      <a:accent5>
        <a:srgbClr val="5B9BD5"/>
      </a:accent5>
      <a:accent6>
        <a:srgbClr val="2AA9DB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77BF"/>
      </a:accent1>
      <a:accent2>
        <a:srgbClr val="D0CDD0"/>
      </a:accent2>
      <a:accent3>
        <a:srgbClr val="BDBEBD"/>
      </a:accent3>
      <a:accent4>
        <a:srgbClr val="ACAAAD"/>
      </a:accent4>
      <a:accent5>
        <a:srgbClr val="9B999C"/>
      </a:accent5>
      <a:accent6>
        <a:srgbClr val="545554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>
            <a:alpha val="60000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000" b="0" i="0" u="none" strike="noStrike" cap="none" spc="0" normalizeH="0" baseline="0">
            <a:ln>
              <a:noFill/>
            </a:ln>
            <a:solidFill>
              <a:srgbClr val="252D30"/>
            </a:solidFill>
            <a:effectLst/>
            <a:uFillTx/>
            <a:latin typeface="Arial" panose="020B0604020202020204"/>
            <a:ea typeface="Arial" panose="020B0604020202020204"/>
            <a:cs typeface="Arial" panose="020B0604020202020204"/>
            <a:sym typeface="Arial" panose="020B060402020202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6553</TotalTime>
  <Words>798</Words>
  <Application>Microsoft Office PowerPoint</Application>
  <PresentationFormat>自定义</PresentationFormat>
  <Paragraphs>89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Helvetica Neue</vt:lpstr>
      <vt:lpstr>宋体</vt:lpstr>
      <vt:lpstr>微软雅黑</vt:lpstr>
      <vt:lpstr>Arial</vt:lpstr>
      <vt:lpstr>Arial Black</vt:lpstr>
      <vt:lpstr>Wingdings</vt:lpstr>
      <vt:lpstr>webwppDefTheme</vt:lpstr>
      <vt:lpstr>1_White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</dc:title>
  <dc:creator>qianjianghao</dc:creator>
  <cp:lastModifiedBy>Jing Chen</cp:lastModifiedBy>
  <cp:revision>367</cp:revision>
  <cp:lastPrinted>2026-03-24T11:02:51Z</cp:lastPrinted>
  <dcterms:created xsi:type="dcterms:W3CDTF">2026-03-24T11:02:51Z</dcterms:created>
  <dcterms:modified xsi:type="dcterms:W3CDTF">2026-07-30T06:48:05Z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2052-0.0.0.0</vt:lpwstr>
  </property>
  <property fmtid="{D5CDD505-2E9C-101B-9397-08002B2CF9AE}" pid="3" name="ICV">
    <vt:lpwstr>6CE3AC170A46476F9F966556CB5A9253</vt:lpwstr>
  </property>
</Properties>
</file>
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  <p:sldMasterId id="2147483659" r:id="rId2"/>
  </p:sldMasterIdLst>
  <p:notesMasterIdLst>
    <p:notesMasterId r:id="rId5"/>
  </p:notesMasterIdLst>
  <p:sldIdLst>
    <p:sldId id="256" r:id="rId4"/>
  </p:sldIdLst>
  <p:sldSz cx="24384000" cy="13716000"/>
  <p:notesSz cx="6858000" cy="9144000"/>
  <p:defaultTextStyle>
    <a:defPPr>
      <a:defRPr lang="en-US"/>
    </a:defPPr>
    <a:lvl1pPr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1pPr>
    <a:lvl2pPr marL="457200" indent="-2286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2pPr>
    <a:lvl3pPr marL="914400" indent="-4572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3pPr>
    <a:lvl4pPr marL="1371600" indent="-6858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4pPr>
    <a:lvl5pPr marL="1828800" indent="-9144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5pPr>
    <a:lvl6pPr marL="22860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6pPr>
    <a:lvl7pPr marL="27432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7pPr>
    <a:lvl8pPr marL="32004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8pPr>
    <a:lvl9pPr marL="36576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pos="14983">
          <p15:clr>
            <a:srgbClr val="A4A3A4"/>
          </p15:clr>
        </p15:guide>
        <p15:guide id="2" orient="horz" pos="8062">
          <p15:clr>
            <a:srgbClr val="A4A3A4"/>
          </p15:clr>
        </p15:guide>
        <p15:guide id="3" orient="horz" pos="691">
          <p15:clr>
            <a:srgbClr val="A4A3A4"/>
          </p15:clr>
        </p15:guide>
        <p15:guide id="4" orient="horz" pos="3934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oyang Meng" initials="ZM" lastIdx="1" clrIdx="0"/>
  <p:cmAuthor id="2" name="Yanan Liu" initials="YL" lastIdx="1" clrIdx="1"/>
  <p:cmAuthor id="2000" name="刘亚利_R3Q3Vjm6" initials="authorId_690327896" lastIdx="164094793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3A6DB4"/>
    <a:srgbClr val="FF8B8B"/>
    <a:srgbClr val="FF6D6D"/>
    <a:srgbClr val="00356A"/>
    <a:srgbClr val="DEEBF7"/>
    <a:srgbClr val="BFBFBF"/>
    <a:srgbClr val="D2DEEF"/>
    <a:srgbClr val="CC00CC"/>
    <a:srgbClr val="1111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4" autoAdjust="0"/>
    <p:restoredTop sz="95799" autoAdjust="0"/>
  </p:normalViewPr>
  <p:slideViewPr>
    <p:cSldViewPr snapToGrid="0" snapToObjects="1">
      <p:cViewPr varScale="1">
        <p:scale>
          <a:sx n="35" d="100"/>
          <a:sy n="35" d="100"/>
        </p:scale>
        <p:origin x="664" y="64"/>
      </p:cViewPr>
      <p:guideLst>
        <p:guide pos="14983"/>
        <p:guide orient="horz" pos="8062"/>
        <p:guide orient="horz" pos="691"/>
        <p:guide orient="horz" pos="3934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42" d="100"/>
        <a:sy n="42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hape 66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Shape 67"/>
          <p:cNvSpPr>
            <a:spLocks noGrp="1" noChangeArrowheads="1"/>
          </p:cNvSpPr>
          <p:nvPr>
            <p:ph type="body" sz="quarter" idx="9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endParaRPr lang="zh-CN" altLang="zh-CN">
              <a:sym typeface="Helvetica Neue" panose="02000503000000020004" pitchFamily="2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1pPr>
    <a:lvl2pPr marL="742950" indent="-28575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2pPr>
    <a:lvl3pPr marL="1143000" indent="-22860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3pPr>
    <a:lvl4pPr marL="1600200" indent="-22860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4pPr>
    <a:lvl5pPr marL="2057400" indent="-22860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5pPr>
    <a:lvl6pPr indent="11430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6pPr>
    <a:lvl7pPr indent="13716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7pPr>
    <a:lvl8pPr indent="16002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8pPr>
    <a:lvl9pPr indent="18288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11" indent="0" algn="ctr">
              <a:buNone/>
              <a:defRPr sz="4000"/>
            </a:lvl2pPr>
            <a:lvl3pPr marL="1828823" indent="0" algn="ctr">
              <a:buNone/>
              <a:defRPr sz="3600"/>
            </a:lvl3pPr>
            <a:lvl4pPr marL="2743234" indent="0" algn="ctr">
              <a:buNone/>
              <a:defRPr sz="3200"/>
            </a:lvl4pPr>
            <a:lvl5pPr marL="3657646" indent="0" algn="ctr">
              <a:buNone/>
              <a:defRPr sz="3200"/>
            </a:lvl5pPr>
            <a:lvl6pPr marL="4572057" indent="0" algn="ctr">
              <a:buNone/>
              <a:defRPr sz="3200"/>
            </a:lvl6pPr>
            <a:lvl7pPr marL="5486469" indent="0" algn="ctr">
              <a:buNone/>
              <a:defRPr sz="3200"/>
            </a:lvl7pPr>
            <a:lvl8pPr marL="6400880" indent="0" algn="ctr">
              <a:buNone/>
              <a:defRPr sz="3200"/>
            </a:lvl8pPr>
            <a:lvl9pPr marL="7315291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2044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194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1" y="3419479"/>
            <a:ext cx="21031200" cy="5705475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1" y="9178928"/>
            <a:ext cx="21031200" cy="3000373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11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23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34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46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57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69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8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91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762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1"/>
            <a:ext cx="10363200" cy="87026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1"/>
            <a:ext cx="10363200" cy="87026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55567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9" y="3362325"/>
            <a:ext cx="10315573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11" indent="0">
              <a:buNone/>
              <a:defRPr sz="4000" b="1"/>
            </a:lvl2pPr>
            <a:lvl3pPr marL="1828823" indent="0">
              <a:buNone/>
              <a:defRPr sz="3600" b="1"/>
            </a:lvl3pPr>
            <a:lvl4pPr marL="2743234" indent="0">
              <a:buNone/>
              <a:defRPr sz="3200" b="1"/>
            </a:lvl4pPr>
            <a:lvl5pPr marL="3657646" indent="0">
              <a:buNone/>
              <a:defRPr sz="3200" b="1"/>
            </a:lvl5pPr>
            <a:lvl6pPr marL="4572057" indent="0">
              <a:buNone/>
              <a:defRPr sz="3200" b="1"/>
            </a:lvl6pPr>
            <a:lvl7pPr marL="5486469" indent="0">
              <a:buNone/>
              <a:defRPr sz="3200" b="1"/>
            </a:lvl7pPr>
            <a:lvl8pPr marL="6400880" indent="0">
              <a:buNone/>
              <a:defRPr sz="3200" b="1"/>
            </a:lvl8pPr>
            <a:lvl9pPr marL="7315291" indent="0">
              <a:buNone/>
              <a:defRPr sz="3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9" y="5010151"/>
            <a:ext cx="10315573" cy="73691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1" y="3362325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11" indent="0">
              <a:buNone/>
              <a:defRPr sz="4000" b="1"/>
            </a:lvl2pPr>
            <a:lvl3pPr marL="1828823" indent="0">
              <a:buNone/>
              <a:defRPr sz="3600" b="1"/>
            </a:lvl3pPr>
            <a:lvl4pPr marL="2743234" indent="0">
              <a:buNone/>
              <a:defRPr sz="3200" b="1"/>
            </a:lvl4pPr>
            <a:lvl5pPr marL="3657646" indent="0">
              <a:buNone/>
              <a:defRPr sz="3200" b="1"/>
            </a:lvl5pPr>
            <a:lvl6pPr marL="4572057" indent="0">
              <a:buNone/>
              <a:defRPr sz="3200" b="1"/>
            </a:lvl6pPr>
            <a:lvl7pPr marL="5486469" indent="0">
              <a:buNone/>
              <a:defRPr sz="3200" b="1"/>
            </a:lvl7pPr>
            <a:lvl8pPr marL="6400880" indent="0">
              <a:buNone/>
              <a:defRPr sz="3200" b="1"/>
            </a:lvl8pPr>
            <a:lvl9pPr marL="7315291" indent="0">
              <a:buNone/>
              <a:defRPr sz="3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1" y="5010151"/>
            <a:ext cx="10366376" cy="73691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601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837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914400"/>
            <a:ext cx="7864475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2"/>
            <a:ext cx="12344400" cy="9747251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6" y="4114801"/>
            <a:ext cx="7864475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11" indent="0">
              <a:buNone/>
              <a:defRPr sz="2800"/>
            </a:lvl2pPr>
            <a:lvl3pPr marL="1828823" indent="0">
              <a:buNone/>
              <a:defRPr sz="2400"/>
            </a:lvl3pPr>
            <a:lvl4pPr marL="2743234" indent="0">
              <a:buNone/>
              <a:defRPr sz="2000"/>
            </a:lvl4pPr>
            <a:lvl5pPr marL="3657646" indent="0">
              <a:buNone/>
              <a:defRPr sz="2000"/>
            </a:lvl5pPr>
            <a:lvl6pPr marL="4572057" indent="0">
              <a:buNone/>
              <a:defRPr sz="2000"/>
            </a:lvl6pPr>
            <a:lvl7pPr marL="5486469" indent="0">
              <a:buNone/>
              <a:defRPr sz="2000"/>
            </a:lvl7pPr>
            <a:lvl8pPr marL="6400880" indent="0">
              <a:buNone/>
              <a:defRPr sz="2000"/>
            </a:lvl8pPr>
            <a:lvl9pPr marL="7315291" indent="0">
              <a:buNone/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209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8597" y="11999600"/>
            <a:ext cx="686041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72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1598599" y="1140953"/>
            <a:ext cx="4280435" cy="854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744" y="1577792"/>
            <a:ext cx="4532203" cy="106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161397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749573" y="13242975"/>
            <a:ext cx="884859" cy="636072"/>
          </a:xfrm>
        </p:spPr>
        <p:txBody>
          <a:bodyPr/>
          <a:lstStyle>
            <a:lvl1pPr algn="ctr"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  <a:t>‹#›</a:t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004633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6447" y="1636683"/>
            <a:ext cx="5618781" cy="13143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14359355" y="-5194588"/>
            <a:ext cx="20245232" cy="19124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3995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29645" y="13254482"/>
            <a:ext cx="1464944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19842086" y="13216008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6540062" y="1830048"/>
            <a:ext cx="1713024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400782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29645" y="13192236"/>
            <a:ext cx="1464944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6540062" y="1830048"/>
            <a:ext cx="1713024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986258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1"/>
            <a:ext cx="21031200" cy="87026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2581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lvl1pPr algn="l" defTabSz="1828823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6" indent="-457206" algn="l" defTabSz="1828823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17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29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40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51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63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74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86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97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11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23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34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57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69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80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91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704349" y="219456"/>
            <a:ext cx="11521468" cy="15544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工厂GMP合规管理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61875" y="2084837"/>
            <a:ext cx="21872502" cy="108996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38100">
            <a:solidFill>
              <a:srgbClr val="1D42E1"/>
            </a:solidFill>
          </a:ln>
          <a:effectLst>
            <a:outerShdw blurRad="101600" dist="508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27636" y="2340869"/>
            <a:ext cx="1426467" cy="1060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54103" y="2523750"/>
            <a:ext cx="3538736" cy="841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76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生产车间常见合规性问题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73940" y="3438152"/>
            <a:ext cx="0" cy="9107447"/>
          </a:xfrm>
          <a:prstGeom prst="line">
            <a:avLst/>
          </a:prstGeom>
          <a:ln w="34290">
            <a:solidFill>
              <a:srgbClr val="1D4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029973" y="3511304"/>
            <a:ext cx="4526291" cy="8997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一、人员管理类高频合规性问题：着装，培训，外来人员管理，复核，隐瞒不报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二、物料、中间产品管理类（混淆、交叉污染）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三、工艺操作合规问题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四、设备、设施相关问题（衔接设备安全巡检）：状态，标识，清洁，跑冒滴漏，交叉污染；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五、洁净区环境与公用系统（无菌车间重灾区）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六、记录与文件缺陷（飞检第一关注重点）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七、计算机化系统 &amp; 数据完整性问题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八、质量体系工具落地问题（偏差、变更、CAPA、OOS瞒报，调查不充分）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九、现场 EHS 合规问题（GMP + 安全生产双重要求）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220" b="1">
                <a:solidFill>
                  <a:srgbClr val="FF0000"/>
                </a:solidFill>
                <a:latin typeface="Arial"/>
                <a:ea typeface="微软雅黑"/>
                <a:cs typeface="Arial"/>
              </a:rPr>
              <a:t>重大高风险缺陷（极易导致官方警告、停产）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伪造、篡改生产 / 检验原始数据；共享账号规避系统管控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未经 QA 放行物料投入生产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隐瞒重大异常，不报偏差，继续生产产品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拆除、屏蔽设备安全、工艺联锁装置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跨品种生产未有效清场，存在严重交叉污染风险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2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主要一般缺陷（日常巡检最常见）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记录填写不及时、信息不全；记录修改不规范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物料标识不清、容器敞口存放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洁净区人员行为违规、更衣不规范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环境监测超标未调查；消毒管理不规范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维保、巡检记录漏记；计量器具临近 / 超校准周期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审计追踪仅开启，未实施周期性审核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48873" y="2596902"/>
            <a:ext cx="0" cy="9875545"/>
          </a:xfrm>
          <a:prstGeom prst="line">
            <a:avLst/>
          </a:prstGeom>
          <a:ln w="25400">
            <a:solidFill>
              <a:srgbClr val="C5D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995177" y="2340869"/>
            <a:ext cx="1426467" cy="1060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21645" y="2523750"/>
            <a:ext cx="3538736" cy="841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76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QC 实验室常见 GMP 违规行为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41481" y="3438152"/>
            <a:ext cx="0" cy="9107447"/>
          </a:xfrm>
          <a:prstGeom prst="line">
            <a:avLst/>
          </a:prstGeom>
          <a:ln w="34290">
            <a:solidFill>
              <a:srgbClr val="1D4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97514" y="3511304"/>
            <a:ext cx="4526291" cy="8997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一、样品管理类（高频问题）；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二、检验操作行为违规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三、原始记录与数据完整性（GMP 红线，重大违规）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四、仪器设备管理违规；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五、试剂、试液、标准品、培养基管理；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六、实验室环境、清洁消毒、微生物专项违规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七、文件、报告、偏差 OOS 管理，调查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八、人员卫生与行为规范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220" b="1">
                <a:solidFill>
                  <a:srgbClr val="FF0000"/>
                </a:solidFill>
                <a:latin typeface="Arial"/>
                <a:ea typeface="微软雅黑"/>
                <a:cs typeface="Arial"/>
              </a:rPr>
              <a:t>重大高风险缺陷：</a:t>
            </a: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伪造数据、删除图谱、共用账号、隐瞒 OOS 结果、擅自更改检验方法、挪用留样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2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一般违规：</a:t>
            </a: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样品存放条件不达标、漏做仪器日常核查、试剂标识不全、未及时填写设备日志；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2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轻微违规：</a:t>
            </a: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记录书写不规范、物品摆放杂乱、清洁不及时、标识粘贴不整齐；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216414" y="2596902"/>
            <a:ext cx="0" cy="9875545"/>
          </a:xfrm>
          <a:prstGeom prst="line">
            <a:avLst/>
          </a:prstGeom>
          <a:ln w="25400">
            <a:solidFill>
              <a:srgbClr val="C5D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362718" y="2340869"/>
            <a:ext cx="1426467" cy="1060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89186" y="2523750"/>
            <a:ext cx="3538736" cy="841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76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计算机化系统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509023" y="3438152"/>
            <a:ext cx="0" cy="9107447"/>
          </a:xfrm>
          <a:prstGeom prst="line">
            <a:avLst/>
          </a:prstGeom>
          <a:ln w="34290">
            <a:solidFill>
              <a:srgbClr val="1D4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765055" y="3511304"/>
            <a:ext cx="4526291" cy="8997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一、用户访问与账号权限持续管理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二、审计追踪（Audit Trail）常态化管理（核查高频重点）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三、系统日常运维管理（所有运维操作不能脱离 GMP 体系）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四、备份管理与定期灾难恢复演练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五、电子记录、电子签名日常管控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六、系统异常事件、故障管理（IT 与质量体系打通）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七、变更控制—— 运行阶段所有系统变更必经流程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八、供应商持续管理（外购软件、SaaS 云系统重点）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十、人员持续培训与行为监督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十一、周期性系统合规回顾（System Periodic Review，SPR）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欧美药企标准要求：每 12 个月开展计算机化系统周期性回顾 SPR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十二、文档持续维护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583955" y="2596902"/>
            <a:ext cx="0" cy="9875545"/>
          </a:xfrm>
          <a:prstGeom prst="line">
            <a:avLst/>
          </a:prstGeom>
          <a:ln w="25400">
            <a:solidFill>
              <a:srgbClr val="C5D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7730260" y="2340869"/>
            <a:ext cx="1426467" cy="1060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56727" y="2523750"/>
            <a:ext cx="3538736" cy="841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76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库房管理常见合规性问题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7876564" y="3438152"/>
            <a:ext cx="0" cy="9107447"/>
          </a:xfrm>
          <a:prstGeom prst="line">
            <a:avLst/>
          </a:prstGeom>
          <a:ln w="34290">
            <a:solidFill>
              <a:srgbClr val="1D4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132597" y="3511304"/>
            <a:ext cx="4526291" cy="89977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一、库房区域与硬件设施合规问题（高频）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二、物料存放与状态管理问题（GMP重点缺陷）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三、入库、取样、出库、退库流程合规问题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四、温湿度、冷链、储存条件合规问题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五、台账、记录、追溯管理问题（核查重灾区）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六、计算机化系统与数据完整性问题（WMS/ERP）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七、清洁、卫生、防虫鼠、环境管理问题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八、危化品、有机溶剂库房专项问题（EHS+GMP双重缺陷）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九、人员管理与操作合规问题</a:t>
            </a:r>
          </a:p>
          <a:p>
            <a:pPr algn="l">
              <a:lnSpc>
                <a:spcPct val="115000"/>
              </a:lnSpc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十、质量体系执行问题（偏差/变更/CAPA）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220" b="1">
                <a:solidFill>
                  <a:srgbClr val="FF0000"/>
                </a:solidFill>
                <a:latin typeface="Arial"/>
                <a:ea typeface="微软雅黑"/>
                <a:cs typeface="Arial"/>
              </a:rPr>
              <a:t>重大高风险缺陷（飞检直接判重缺陷）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未经放行物料入库、领用、投产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账物严重不符、虚假记录、补录数据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不合格品与合格品混放、失控管理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危化品违规混存、无防爆防静电措施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系统共享账号、删除/篡改物料数据</a:t>
            </a:r>
          </a:p>
          <a:p>
            <a:pPr algn="l" marL="114300" indent="-114300">
              <a:lnSpc>
                <a:spcPct val="115000"/>
              </a:lnSpc>
              <a:buFont typeface="Arial"/>
              <a:buChar char="●"/>
            </a:pPr>
            <a:r>
              <a:rPr sz="12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温湿度长期超标不处置、瞒报异常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7BF"/>
      </a:accent1>
      <a:accent2>
        <a:srgbClr val="D0CDD0"/>
      </a:accent2>
      <a:accent3>
        <a:srgbClr val="BDBEBD"/>
      </a:accent3>
      <a:accent4>
        <a:srgbClr val="ACAAAD"/>
      </a:accent4>
      <a:accent5>
        <a:srgbClr val="9B999C"/>
      </a:accent5>
      <a:accent6>
        <a:srgbClr val="545554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>
            <a:alpha val="60000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000" b="0" i="0" u="none" strike="noStrike" cap="none" spc="0" normalizeH="0" baseline="0">
            <a:ln>
              <a:noFill/>
            </a:ln>
            <a:solidFill>
              <a:srgbClr val="252D30"/>
            </a:solidFill>
            <a:effectLst/>
            <a:uFillTx/>
            <a:latin typeface="Arial" panose="020B0604020202020204"/>
            <a:ea typeface="Arial" panose="020B0604020202020204"/>
            <a:cs typeface="Arial" panose="020B0604020202020204"/>
            <a:sym typeface="Arial" panose="020B060402020202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6553</TotalTime>
  <Words>798</Words>
  <Application>Microsoft Office PowerPoint</Application>
  <PresentationFormat>自定义</PresentationFormat>
  <Paragraphs>89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Helvetica Neue</vt:lpstr>
      <vt:lpstr>宋体</vt:lpstr>
      <vt:lpstr>微软雅黑</vt:lpstr>
      <vt:lpstr>Arial</vt:lpstr>
      <vt:lpstr>Arial Black</vt:lpstr>
      <vt:lpstr>Wingdings</vt:lpstr>
      <vt:lpstr>webwppDefTheme</vt:lpstr>
      <vt:lpstr>1_White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</dc:title>
  <dc:creator>qianjianghao</dc:creator>
  <cp:lastModifiedBy>Jing Chen</cp:lastModifiedBy>
  <cp:revision>367</cp:revision>
  <cp:lastPrinted>2026-03-24T11:02:51Z</cp:lastPrinted>
  <dcterms:created xsi:type="dcterms:W3CDTF">2026-03-24T11:02:51Z</dcterms:created>
  <dcterms:modified xsi:type="dcterms:W3CDTF">2026-07-30T06:48:05Z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ICV">
    <vt:lpwstr>6CE3AC170A46476F9F966556CB5A9253</vt:lpwstr>
  </property>
</Properties>
</file>
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0" r:id="rId1"/>
    <p:sldMasterId id="2147483713" r:id="rId2"/>
  </p:sldMasterIdLst>
  <p:notesMasterIdLst>
    <p:notesMasterId r:id="rId4"/>
  </p:notesMasterIdLst>
  <p:sldIdLst>
    <p:sldId id="256" r:id="rId3"/>
    <p:sldId id="257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9299"/>
    <a:srgbClr val="0000FF"/>
    <a:srgbClr val="000000"/>
    <a:srgbClr val="FF9966"/>
    <a:srgbClr val="1A5FAF"/>
    <a:srgbClr val="4980BF"/>
    <a:srgbClr val="00366A"/>
    <a:srgbClr val="727171"/>
    <a:srgbClr val="2E75B6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86" autoAdjust="0"/>
    <p:restoredTop sz="94660"/>
  </p:normalViewPr>
  <p:slideViewPr>
    <p:cSldViewPr snapToGrid="0">
      <p:cViewPr varScale="1">
        <p:scale>
          <a:sx n="82" d="100"/>
          <a:sy n="82" d="100"/>
        </p:scale>
        <p:origin x="2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A53AE0-BFF6-413C-A3CB-76AD31665D2C}" type="datetimeFigureOut">
              <a:rPr lang="zh-CN" altLang="en-US" smtClean="0"/>
              <a:t>2026/7/27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0E6DA4-0DF0-4C9D-BC51-898896A547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5582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370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98632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04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23286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9020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471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  <a:t>‹#›</a:t>
            </a:fld>
            <a:endParaRPr lang="zh-CN" alt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4357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E0DB2B2-D25E-444C-86B2-143D203378C0}"/>
              </a:ext>
            </a:extLst>
          </p:cNvPr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EF8E8141-DF10-B443-A432-4FFAD2FB8D1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99299" y="5999801"/>
            <a:ext cx="343020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anose="02000503000000020004" pitchFamily="2" charset="0"/>
                <a:cs typeface="Helvetica Neue" panose="02000503000000020004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3600" dirty="0">
                <a:solidFill>
                  <a:schemeClr val="bg1"/>
                </a:solidFill>
                <a:ea typeface="宋体" pitchFamily="2" charset="-122"/>
              </a:rPr>
              <a:t>Contents</a:t>
            </a:r>
          </a:p>
        </p:txBody>
      </p:sp>
      <p:pic>
        <p:nvPicPr>
          <p:cNvPr id="6" name="图片 1" descr="2">
            <a:extLst>
              <a:ext uri="{FF2B5EF4-FFF2-40B4-BE49-F238E27FC236}">
                <a16:creationId xmlns:a16="http://schemas.microsoft.com/office/drawing/2014/main" id="{9F72C929-4E91-744D-ACBA-8EF3794CA7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799300" y="570477"/>
            <a:ext cx="2140217" cy="4270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1AB625A-1AE1-6141-91AC-44B09F61F272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372" y="788896"/>
            <a:ext cx="2266101" cy="530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697317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744F58F-7C42-F64A-9AEA-F336833127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23" y="818341"/>
            <a:ext cx="2809391" cy="65716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6E55B8F-CA51-604F-B5C5-9147A7F4B5F5}"/>
              </a:ext>
            </a:extLst>
          </p:cNvPr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D0D95B7-9CE1-CF4B-837C-224BE676E5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 rot="19806617">
            <a:off x="7179677" y="-2597294"/>
            <a:ext cx="10122616" cy="956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222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4823" y="6627241"/>
            <a:ext cx="732472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9921043" y="6608005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373042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>
            <a:extLst>
              <a:ext uri="{FF2B5EF4-FFF2-40B4-BE49-F238E27FC236}">
                <a16:creationId xmlns:a16="http://schemas.microsoft.com/office/drawing/2014/main" id="{E8935146-DF8B-F442-B4BE-AE15BE05DC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4823" y="6596118"/>
            <a:ext cx="732472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pPr>
                <a:defRPr/>
              </a:pPr>
              <a:t>‹#›</a:t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AC3A7A-7E03-DC4D-A036-93A8B7EC8FF4}"/>
              </a:ext>
            </a:extLst>
          </p:cNvPr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4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>
            <a:extLst>
              <a:ext uri="{FF2B5EF4-FFF2-40B4-BE49-F238E27FC236}">
                <a16:creationId xmlns:a16="http://schemas.microsoft.com/office/drawing/2014/main" id="{7DE88738-B166-9746-B282-0D2477C518BD}"/>
              </a:ext>
            </a:extLst>
          </p:cNvPr>
          <p:cNvCxnSpPr>
            <a:cxnSpLocks/>
          </p:cNvCxnSpPr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24016479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6" y="3565525"/>
            <a:ext cx="10852151" cy="801371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4158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87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189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6" y="1508126"/>
            <a:ext cx="10852151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415309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1"/>
            <a:ext cx="3931920" cy="1115060"/>
          </a:xfrm>
        </p:spPr>
        <p:txBody>
          <a:bodyPr anchor="ctr" anchorCtr="0"/>
          <a:lstStyle>
            <a:lvl1pPr>
              <a:defRPr sz="32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1"/>
            <a:ext cx="6172200" cy="5403215"/>
          </a:xfrm>
        </p:spPr>
        <p:txBody>
          <a:bodyPr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189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dirty="0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891" indent="-342891">
              <a:buFont typeface="Arial" panose="020B0604020202020204" pitchFamily="34" charset="0"/>
              <a:buChar char="•"/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84943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6" y="5605146"/>
            <a:ext cx="10852151" cy="558165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6" y="641350"/>
            <a:ext cx="10852151" cy="4556125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457189" marR="0" lvl="1" indent="0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27963834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457189" marR="0" lvl="1" indent="0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420812799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1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685783" marR="0" lvl="1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1" y="565151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594" marR="0" lvl="0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685783" marR="0" lvl="1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843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2971" marR="0" lvl="2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160" marR="0" lvl="3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349" marR="0" lvl="4" indent="-228594" algn="l" defTabSz="457189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  <p:extLst>
      <p:ext uri="{BB962C8B-B14F-4D97-AF65-F5344CB8AC3E}">
        <p14:creationId xmlns:p14="http://schemas.microsoft.com/office/powerpoint/2010/main" val="13152899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189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</p:spTree>
    <p:extLst>
      <p:ext uri="{BB962C8B-B14F-4D97-AF65-F5344CB8AC3E}">
        <p14:creationId xmlns:p14="http://schemas.microsoft.com/office/powerpoint/2010/main" val="61638828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8"/>
            <a:ext cx="732472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3" y="6576882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4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  <p:extLst>
      <p:ext uri="{BB962C8B-B14F-4D97-AF65-F5344CB8AC3E}">
        <p14:creationId xmlns:p14="http://schemas.microsoft.com/office/powerpoint/2010/main" val="15846624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44813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4" y="655003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3"/>
            <a:ext cx="12192000" cy="284695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1" tIns="19051" rIns="19051" bIns="19051" numCol="1" spcCol="38100" rtlCol="0" anchor="ctr" forceAA="0">
            <a:spAutoFit/>
          </a:bodyPr>
          <a:lstStyle/>
          <a:p>
            <a:pPr marL="0" marR="0" lvl="0" indent="0" algn="ctr" defTabSz="41274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3"/>
            <a:ext cx="831056" cy="28469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1" tIns="19051" rIns="19051" bIns="19051" numCol="1" spcCol="38100" rtlCol="0" anchor="ctr" forceAA="0">
            <a:spAutoFit/>
          </a:bodyPr>
          <a:lstStyle/>
          <a:p>
            <a:pPr marL="0" marR="0" lvl="0" indent="0" algn="ctr" defTabSz="41274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7" y="304166"/>
            <a:ext cx="2648903" cy="526415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79561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12546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10" r:id="rId9"/>
    <p:sldLayoutId id="2147483711" r:id="rId10"/>
    <p:sldLayoutId id="2147483712" r:id="rId11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3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412740" fontAlgn="base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pPr defTabSz="412740"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4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6" y="1508126"/>
            <a:ext cx="10852151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4950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 ftr="0" dt="0"/>
  <p:txStyles>
    <p:titleStyle>
      <a:lvl1pPr algn="l" defTabSz="914377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228594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685783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68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2971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160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349" indent="-228594" algn="l" defTabSz="914377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5" y="1097282"/>
            <a:ext cx="11167869" cy="366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设备信息管理系统（EIMS）完成系统验证，预计 8 月上线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5" y="1609856"/>
            <a:ext cx="111678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Equipment Information Management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5" y="1902464"/>
            <a:ext cx="50292" cy="201168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9" y="1884176"/>
            <a:ext cx="1102156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2026 年上半年工作回顾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5" y="2176785"/>
            <a:ext cx="5492494" cy="914402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5" y="2286513"/>
            <a:ext cx="5126733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设备信息管理系统 (EIMS）完成验证 - 设备预防性维护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5" y="2531878"/>
            <a:ext cx="5126733" cy="4495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按照年度计划在 DH1 工厂完成 EIMS 系统验证，具备上线运行使用条件，预计 8 月份正式上线使用（其他工厂提交变更启用）。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440" y="2176785"/>
            <a:ext cx="5492494" cy="914402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320" y="2286513"/>
            <a:ext cx="5126733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设备故障报修模块覆盖使用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320" y="2531878"/>
            <a:ext cx="5126733" cy="4495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设备故障报修模块各工厂已启用，自 1 月份启动以来，累计报修 4,804 次，已闭环处理 2,539 单（TJ3/DH1 报修量最高）。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5" y="3219204"/>
            <a:ext cx="50292" cy="201168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9" y="3200916"/>
            <a:ext cx="1102156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系统实施里程碑</a:t>
            </a:r>
          </a:p>
        </p:txBody>
      </p:sp>
      <p:sp>
        <p:nvSpPr>
          <p:cNvPr id="14" name="Chevron 13"/>
          <p:cNvSpPr/>
          <p:nvPr/>
        </p:nvSpPr>
        <p:spPr>
          <a:xfrm>
            <a:off x="512065" y="3493524"/>
            <a:ext cx="2145791" cy="329184"/>
          </a:xfrm>
          <a:prstGeom prst="chevron">
            <a:avLst/>
          </a:prstGeom>
          <a:solidFill>
            <a:srgbClr val="DD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7" y="3493524"/>
            <a:ext cx="19629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05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2 月 - 系统功能开发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9" y="3895861"/>
            <a:ext cx="2036062" cy="859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1、EIMS 系统功能开发；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2、完成变更控制文件与 URS 签批；</a:t>
            </a:r>
          </a:p>
        </p:txBody>
      </p:sp>
      <p:sp>
        <p:nvSpPr>
          <p:cNvPr id="17" name="Chevron 16"/>
          <p:cNvSpPr/>
          <p:nvPr/>
        </p:nvSpPr>
        <p:spPr>
          <a:xfrm>
            <a:off x="2767584" y="3493524"/>
            <a:ext cx="2145791" cy="329184"/>
          </a:xfrm>
          <a:prstGeom prst="chevron">
            <a:avLst/>
          </a:prstGeom>
          <a:solidFill>
            <a:srgbClr val="DD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40737" y="3493524"/>
            <a:ext cx="19629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05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3 月 - UAT 用户测试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2448" y="3895861"/>
            <a:ext cx="2036062" cy="859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1、EIMS 系统环境测试；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2、UAT 及 VP、RAR、FS 签批，UAT 用户测试；</a:t>
            </a:r>
          </a:p>
        </p:txBody>
      </p:sp>
      <p:sp>
        <p:nvSpPr>
          <p:cNvPr id="20" name="Chevron 19"/>
          <p:cNvSpPr/>
          <p:nvPr/>
        </p:nvSpPr>
        <p:spPr>
          <a:xfrm>
            <a:off x="5023104" y="3493524"/>
            <a:ext cx="2145791" cy="329184"/>
          </a:xfrm>
          <a:prstGeom prst="chevron">
            <a:avLst/>
          </a:prstGeom>
          <a:solidFill>
            <a:srgbClr val="DD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96256" y="3493524"/>
            <a:ext cx="19629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05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4 月 - 文件撰写审批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7968" y="3895861"/>
            <a:ext cx="2036062" cy="859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1、CS+DS+代码审核和 UTITPR；</a:t>
            </a:r>
          </a:p>
        </p:txBody>
      </p:sp>
      <p:sp>
        <p:nvSpPr>
          <p:cNvPr id="23" name="Chevron 22"/>
          <p:cNvSpPr/>
          <p:nvPr/>
        </p:nvSpPr>
        <p:spPr>
          <a:xfrm>
            <a:off x="7278623" y="3493524"/>
            <a:ext cx="2145791" cy="329184"/>
          </a:xfrm>
          <a:prstGeom prst="chevron">
            <a:avLst/>
          </a:prstGeom>
          <a:solidFill>
            <a:srgbClr val="DD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51776" y="3493524"/>
            <a:ext cx="19629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05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5 月 - 系统验证执行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3895861"/>
            <a:ext cx="2036062" cy="859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1、3Q 验证执行和验证报告签批；</a:t>
            </a:r>
          </a:p>
        </p:txBody>
      </p:sp>
      <p:sp>
        <p:nvSpPr>
          <p:cNvPr id="26" name="Chevron 25"/>
          <p:cNvSpPr/>
          <p:nvPr/>
        </p:nvSpPr>
        <p:spPr>
          <a:xfrm>
            <a:off x="9534143" y="3493524"/>
            <a:ext cx="2145791" cy="329184"/>
          </a:xfrm>
          <a:prstGeom prst="chevron">
            <a:avLst/>
          </a:prstGeom>
          <a:solidFill>
            <a:srgbClr val="DDE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7295" y="3493524"/>
            <a:ext cx="19629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8000"/>
              </a:lnSpc>
            </a:pPr>
            <a:r>
              <a:rPr sz="105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6 月 - 系统放行与培训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9007" y="3895861"/>
            <a:ext cx="2036062" cy="8595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1、EIMS 系统 SOP 生效培训；</a:t>
            </a:r>
          </a:p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2、EIMS 系统验证后放行；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5" y="4901704"/>
            <a:ext cx="50292" cy="201168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9" y="4883416"/>
            <a:ext cx="1102156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2026 年下半年工作计划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5" y="5176024"/>
            <a:ext cx="3625086" cy="1005334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9" y="5285753"/>
            <a:ext cx="333247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设备全生命周期管理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9" y="5706378"/>
            <a:ext cx="3332478" cy="365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基于设备全生命周期管理 (ASM-037)：内控平台功能模块开发（备品备件管理），进一步完善设备全生命周期管理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83456" y="5176024"/>
            <a:ext cx="3625086" cy="1005334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29760" y="5285753"/>
            <a:ext cx="333247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设备故障看板与报表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9760" y="5706378"/>
            <a:ext cx="3332478" cy="365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优化设备故障分析仪表盘原型设计，实现设备故障分析报表和数据可视化。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4847" y="5176024"/>
            <a:ext cx="3625086" cy="1005334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1152" y="5285753"/>
            <a:ext cx="333247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内控平台数据互通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1152" y="5706378"/>
            <a:ext cx="3332478" cy="3652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内控平台功能升级、历史数据迁移及验证环境数据共享，实现与 EIMS 的数据互通，预计 8 月份完成。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5" y="6309375"/>
            <a:ext cx="9875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数据来自设备管理系统汇报材料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26" y="6309375"/>
            <a:ext cx="73152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2065" y="1097282"/>
            <a:ext cx="11167869" cy="366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巡检管理系统：隐患台账已归集 3.5 万余条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5" y="1609856"/>
            <a:ext cx="1116786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1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Inspection Management System · EHS 隐患排查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5" y="1902464"/>
            <a:ext cx="50292" cy="201168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9" y="1884176"/>
            <a:ext cx="6182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系统界面与隐患台账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5" y="2195073"/>
            <a:ext cx="6328865" cy="2855975"/>
          </a:xfrm>
          <a:prstGeom prst="roundRect">
            <a:avLst>
              <a:gd name="adj" fmla="val 2000"/>
            </a:avLst>
          </a:prstGeom>
          <a:solidFill>
            <a:srgbClr val="DDE7F3"/>
          </a:solidFill>
          <a:ln w="9525">
            <a:solidFill>
              <a:srgbClr val="C6D5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巡检管理系统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3" y="2286671"/>
            <a:ext cx="6200849" cy="26727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5" y="5105913"/>
            <a:ext cx="632886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EHS 隐患排查台账（查询区间 2026-01-01 至 2026-07-30；截图显示累计 35,684 条）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096963" y="1902464"/>
            <a:ext cx="50292" cy="201168"/>
          </a:xfrm>
          <a:prstGeom prst="rect">
            <a:avLst/>
          </a:prstGeom>
          <a:solidFill>
            <a:srgbClr val="C88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43267" y="1884176"/>
            <a:ext cx="44366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系统能力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96963" y="2213361"/>
            <a:ext cx="4582971" cy="909703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43267" y="2341377"/>
            <a:ext cx="45720" cy="182880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1283" y="2304801"/>
            <a:ext cx="416234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隐患全过程留痕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3267" y="2597410"/>
            <a:ext cx="4290362" cy="4342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逐条记录巡查主题、组织部门、巡查人、隐患地点、巡查发现、隐患分类与隐患等级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96963" y="3232793"/>
            <a:ext cx="4582971" cy="909703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43267" y="3360809"/>
            <a:ext cx="45720" cy="182880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1283" y="3324233"/>
            <a:ext cx="416234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三类巡查统一入口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3267" y="3616842"/>
            <a:ext cx="4290362" cy="4342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EHS 隐患排查、QA 日常巡查、生产日常巡查在同一系统内管理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96963" y="4252224"/>
            <a:ext cx="4582971" cy="909703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43267" y="4380240"/>
            <a:ext cx="45720" cy="182880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1283" y="4343664"/>
            <a:ext cx="416234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多维度统计分析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43267" y="4636273"/>
            <a:ext cx="4290362" cy="4342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支持按厂区、部门、巡查人、整改责任人、第一责任人分别统计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96963" y="5271656"/>
            <a:ext cx="4582971" cy="909703"/>
          </a:xfrm>
          <a:prstGeom prst="roundRect">
            <a:avLst>
              <a:gd name="adj" fmla="val 4500"/>
            </a:avLst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43267" y="5399672"/>
            <a:ext cx="45720" cy="182880"/>
          </a:xfrm>
          <a:prstGeom prst="rect">
            <a:avLst/>
          </a:prstGeom>
          <a:solidFill>
            <a:srgbClr val="326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1283" y="5363096"/>
            <a:ext cx="416234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1" i="0">
                <a:solidFill>
                  <a:srgbClr val="003669"/>
                </a:solidFill>
                <a:latin typeface="Arial"/>
                <a:ea typeface="微软雅黑"/>
                <a:cs typeface="Arial"/>
              </a:rPr>
              <a:t>计划与任务跟踪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3267" y="5655705"/>
            <a:ext cx="4290362" cy="4342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6283F"/>
                </a:solidFill>
                <a:latin typeface="Arial"/>
                <a:ea typeface="微软雅黑"/>
                <a:cs typeface="Arial"/>
              </a:rPr>
              <a:t>巡检计划与巡检任务明细可查，台账截图显示已累计 35,684 条记录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5" y="6309375"/>
            <a:ext cx="9875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信息取自巡检管理系统界面截图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26" y="6309375"/>
            <a:ext cx="73152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900" b="0" i="0">
                <a:solidFill>
                  <a:srgbClr val="4E6584"/>
                </a:solidFill>
                <a:latin typeface="Arial"/>
                <a:ea typeface="微软雅黑"/>
                <a:cs typeface="Arial"/>
              </a:rP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860</TotalTime>
  <Words>280</Words>
  <Application>Microsoft Office PowerPoint</Application>
  <PresentationFormat>宽屏</PresentationFormat>
  <Paragraphs>30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15" baseType="lpstr">
      <vt:lpstr>Helvetica Light</vt:lpstr>
      <vt:lpstr>Helvetica Neue</vt:lpstr>
      <vt:lpstr>等线</vt:lpstr>
      <vt:lpstr>黑体</vt:lpstr>
      <vt:lpstr>华文楷体</vt:lpstr>
      <vt:lpstr>思源黑体</vt:lpstr>
      <vt:lpstr>宋体</vt:lpstr>
      <vt:lpstr>微软雅黑</vt:lpstr>
      <vt:lpstr>微软雅黑</vt:lpstr>
      <vt:lpstr>Arial</vt:lpstr>
      <vt:lpstr>Arial Black</vt:lpstr>
      <vt:lpstr>Times New Roman</vt:lpstr>
      <vt:lpstr>1_White</vt:lpstr>
      <vt:lpstr>18_webwppDefTheme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Shiwen Liu10181</dc:creator>
  <cp:lastModifiedBy>Daoxing Yang</cp:lastModifiedBy>
  <cp:revision>67</cp:revision>
  <dcterms:created xsi:type="dcterms:W3CDTF">2025-07-29T08:25:08Z</dcterms:created>
  <dcterms:modified xsi:type="dcterms:W3CDTF">2026-07-27T13:51:50Z</dcterms:modified>
</cp:coreProperties>
</file>
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1"/>
    <p:sldMasterId id="2147483713" r:id="rId2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9299"/>
    <a:srgbClr val="0000FF"/>
    <a:srgbClr val="000000"/>
    <a:srgbClr val="FF9966"/>
    <a:srgbClr val="1A5FAF"/>
    <a:srgbClr val="4980BF"/>
    <a:srgbClr val="00366A"/>
    <a:srgbClr val="727171"/>
    <a:srgbClr val="2E75B6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6" autoAdjust="0"/>
    <p:restoredTop sz="94660"/>
  </p:normalViewPr>
  <p:slideViewPr>
    <p:cSldViewPr snapToGrid="0">
      <p:cViewPr varScale="1">
        <p:scale>
          <a:sx n="82" d="100"/>
          <a:sy n="82" d="100"/>
        </p:scale>
        <p:origin x="2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53AE0-BFF6-413C-A3CB-76AD31665D2C}" type="datetimeFigureOut">
              <a:rPr lang="zh-CN" altLang="en-US" smtClean="0"/>
              <a:t>2026/7/27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0E6DA4-0DF0-4C9D-BC51-898896A547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582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370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86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04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328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020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8471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EDECE0-B3E3-4E93-9B91-9F10B30F5B07}" type="slidenum">
              <a:rPr lang="en-US" altLang="zh-CN" smtClean="0"/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4357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E0DB2B2-D25E-444C-86B2-143D203378C0}"/>
              </a:ext>
            </a:extLst>
          </p:cNvPr>
          <p:cNvSpPr txBox="1"/>
          <p:nvPr userDrawn="1"/>
        </p:nvSpPr>
        <p:spPr>
          <a:xfrm>
            <a:off x="9921043" y="6576882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rgbClr val="00366A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F8E8141-DF10-B443-A432-4FFAD2FB8D1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9299" y="5999801"/>
            <a:ext cx="34302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1pPr>
            <a:lvl2pPr marL="742950" indent="-28575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2pPr>
            <a:lvl3pPr marL="11430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3pPr>
            <a:lvl4pPr marL="16002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4pPr>
            <a:lvl5pPr marL="2057400" indent="-228600"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5pPr>
            <a:lvl6pPr marL="25146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6pPr>
            <a:lvl7pPr marL="29718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7pPr>
            <a:lvl8pPr marL="34290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8pPr>
            <a:lvl9pPr marL="3886200" indent="-228600" defTabSz="8255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252D30"/>
                </a:solidFill>
                <a:latin typeface="Arial" panose="020B0604020202020204" pitchFamily="34" charset="0"/>
                <a:ea typeface="Helvetica Neue" panose="02000503000000020004" pitchFamily="2" charset="0"/>
                <a:cs typeface="Helvetica Neue" panose="02000503000000020004" pitchFamily="2" charset="0"/>
                <a:sym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altLang="zh-CN" sz="3600" dirty="0">
                <a:solidFill>
                  <a:schemeClr val="bg1"/>
                </a:solidFill>
                <a:ea typeface="宋体" pitchFamily="2" charset="-122"/>
              </a:rPr>
              <a:t>Contents</a:t>
            </a:r>
          </a:p>
        </p:txBody>
      </p:sp>
      <p:pic>
        <p:nvPicPr>
          <p:cNvPr id="6" name="图片 1" descr="2">
            <a:extLst>
              <a:ext uri="{FF2B5EF4-FFF2-40B4-BE49-F238E27FC236}">
                <a16:creationId xmlns:a16="http://schemas.microsoft.com/office/drawing/2014/main" id="{9F72C929-4E91-744D-ACBA-8EF3794CA7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799300" y="570477"/>
            <a:ext cx="2140217" cy="427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1AB625A-1AE1-6141-91AC-44B09F61F2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372" y="788896"/>
            <a:ext cx="2266101" cy="53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69731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744F58F-7C42-F64A-9AEA-F336833127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23" y="818341"/>
            <a:ext cx="2809391" cy="65716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B6E55B8F-CA51-604F-B5C5-9147A7F4B5F5}"/>
              </a:ext>
            </a:extLst>
          </p:cNvPr>
          <p:cNvSpPr txBox="1"/>
          <p:nvPr userDrawn="1"/>
        </p:nvSpPr>
        <p:spPr>
          <a:xfrm>
            <a:off x="9921043" y="6576882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rgbClr val="386DB4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D0D95B7-9CE1-CF4B-837C-224BE676E5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9806617">
            <a:off x="7179677" y="-2597294"/>
            <a:ext cx="10122616" cy="9562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222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64823" y="6627241"/>
            <a:ext cx="732472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9921043" y="6608005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373042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E8935146-DF8B-F442-B4BE-AE15BE05D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5564823" y="6596118"/>
            <a:ext cx="732472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zh-CN"/>
              <a:t>-</a:t>
            </a:r>
            <a:fld id="{FAEDECE0-B3E3-4E93-9B91-9F10B30F5B07}" type="slidenum">
              <a:rPr lang="en-US" altLang="zh-CN" smtClean="0"/>
              <a:pPr>
                <a:defRPr/>
              </a:pPr>
              <a:t>‹#›</a:t>
            </a:fld>
            <a:r>
              <a:rPr lang="en-US" altLang="zh-CN"/>
              <a:t>-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AC3A7A-7E03-DC4D-A036-93A8B7EC8FF4}"/>
              </a:ext>
            </a:extLst>
          </p:cNvPr>
          <p:cNvSpPr txBox="1"/>
          <p:nvPr userDrawn="1"/>
        </p:nvSpPr>
        <p:spPr>
          <a:xfrm>
            <a:off x="9921043" y="6576882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微软雅黑" panose="020B0703020204020201" pitchFamily="34" charset="-122"/>
                <a:ea typeface="微软雅黑" panose="020B0703020204020201" pitchFamily="34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7DE88738-B166-9746-B282-0D2477C518BD}"/>
              </a:ext>
            </a:extLst>
          </p:cNvPr>
          <p:cNvCxnSpPr>
            <a:cxnSpLocks/>
          </p:cNvCxnSpPr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401647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2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300"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6" y="3565525"/>
            <a:ext cx="10852151" cy="801371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100" normalizeH="0" baseline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4158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887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457189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100" normalizeH="0" baseline="0" noProof="1" dirty="0">
                <a:solidFill>
                  <a:schemeClr val="tx1"/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6" y="1508126"/>
            <a:ext cx="10852151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1530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1"/>
            <a:ext cx="3931920" cy="1115060"/>
          </a:xfrm>
        </p:spPr>
        <p:txBody>
          <a:bodyPr anchor="ctr" anchorCtr="0"/>
          <a:lstStyle>
            <a:lvl1pPr>
              <a:defRPr sz="32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1"/>
            <a:ext cx="6172200" cy="5403215"/>
          </a:xfrm>
        </p:spPr>
        <p:txBody>
          <a:bodyPr/>
          <a:lstStyle>
            <a:lvl1pPr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189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891" indent="-342891">
              <a:buFont typeface="Arial" panose="020B0604020202020204" pitchFamily="34" charset="0"/>
              <a:buChar char="•"/>
              <a:defRPr sz="240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84943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FABC47A4-756D-490B-A52F-7D9E2C9FC05F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6" y="5605146"/>
            <a:ext cx="10852151" cy="558165"/>
          </a:xfrm>
        </p:spPr>
        <p:txBody>
          <a:bodyPr/>
          <a:lstStyle>
            <a:lvl1pPr>
              <a:defRPr b="0"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 dirty="0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6" y="641350"/>
            <a:ext cx="10852151" cy="4556125"/>
          </a:xfrm>
        </p:spPr>
        <p:txBody>
          <a:bodyPr vert="horz" lIns="101600" tIns="0" rIns="82550" bIns="0" rtlCol="0">
            <a:noAutofit/>
          </a:bodyPr>
          <a:lstStyle>
            <a:lvl1pPr marL="228594" marR="0" lvl="0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457189" marR="0" lvl="1" indent="0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843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2971" marR="0" lvl="2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160" marR="0" lvl="3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349" marR="0" lvl="4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27963834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594" marR="0" lvl="0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457189" marR="0" lvl="1" indent="0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None/>
              <a:tabLst>
                <a:tab pos="804843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2971" marR="0" lvl="2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160" marR="0" lvl="3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349" marR="0" lvl="4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42081279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1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594" marR="0" lvl="0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685783" marR="0" lvl="1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843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2971" marR="0" lvl="2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160" marR="0" lvl="3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349" marR="0" lvl="4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1" y="565151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594" marR="0" lvl="0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  <a:sym typeface="+mn-ea"/>
              </a:defRPr>
            </a:lvl1pPr>
            <a:lvl2pPr marL="685783" marR="0" lvl="1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tabLst>
                <a:tab pos="804843" algn="l"/>
              </a:tabLst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2971" marR="0" lvl="2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160" marR="0" lvl="3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349" marR="0" lvl="4" indent="-228594" algn="l" defTabSz="457189" rtl="0" eaLnBrk="1" fontAlgn="auto" latinLnBrk="0" hangingPunct="1">
              <a:lnSpc>
                <a:spcPct val="130000"/>
              </a:lnSpc>
              <a:spcBef>
                <a:spcPct val="10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75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  <p:extLst>
      <p:ext uri="{BB962C8B-B14F-4D97-AF65-F5344CB8AC3E}">
        <p14:creationId xmlns:p14="http://schemas.microsoft.com/office/powerpoint/2010/main" val="13152899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457189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300" normalizeH="0" baseline="0" noProof="1" dirty="0">
                <a:solidFill>
                  <a:schemeClr val="tx1"/>
                </a:solidFill>
                <a:effectLst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</p:spTree>
    <p:extLst>
      <p:ext uri="{BB962C8B-B14F-4D97-AF65-F5344CB8AC3E}">
        <p14:creationId xmlns:p14="http://schemas.microsoft.com/office/powerpoint/2010/main" val="6163882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2"/>
          <p:cNvSpPr>
            <a:spLocks noGrp="1"/>
          </p:cNvSpPr>
          <p:nvPr>
            <p:ph type="sldNum" sz="quarter" idx="10"/>
          </p:nvPr>
        </p:nvSpPr>
        <p:spPr>
          <a:xfrm>
            <a:off x="5564823" y="6596118"/>
            <a:ext cx="732472" cy="161583"/>
          </a:xfrm>
        </p:spPr>
        <p:txBody>
          <a:bodyPr wrap="square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fld id="{FAEDECE0-B3E3-4E93-9B91-9F10B30F5B07}" type="slidenum">
              <a:rPr lang="en-US" altLang="zh-CN" smtClean="0">
                <a:solidFill>
                  <a:prstClr val="white"/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r>
              <a:rPr lang="en-US" altLang="zh-CN">
                <a:solidFill>
                  <a:prstClr val="white"/>
                </a:solidFill>
                <a:sym typeface="Arial" panose="020B0604020202020204" pitchFamily="34" charset="0"/>
              </a:rPr>
              <a:t>-</a:t>
            </a:r>
            <a:endParaRPr lang="zh-CN" altLang="en-US" dirty="0">
              <a:solidFill>
                <a:prstClr val="white"/>
              </a:solidFill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9921043" y="6576882"/>
            <a:ext cx="2534195" cy="2000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2860" tIns="22860" rIns="22860" bIns="22860" numCol="1" spcCol="38100" rtlCol="0" anchor="t">
            <a:spAutoFit/>
          </a:bodyPr>
          <a:lstStyle/>
          <a:p>
            <a:pPr marL="0" marR="0" lvl="0" indent="0" algn="ctr" defTabSz="41274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Confidential |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  <a:sym typeface="Arial" panose="020B0604020202020204"/>
              </a:rPr>
              <a:t>保密文件</a:t>
            </a:r>
          </a:p>
        </p:txBody>
      </p:sp>
      <p:cxnSp>
        <p:nvCxnSpPr>
          <p:cNvPr id="9" name="直线连接符 3"/>
          <p:cNvCxnSpPr/>
          <p:nvPr userDrawn="1"/>
        </p:nvCxnSpPr>
        <p:spPr>
          <a:xfrm>
            <a:off x="3270031" y="915024"/>
            <a:ext cx="8565121" cy="0"/>
          </a:xfrm>
          <a:prstGeom prst="line">
            <a:avLst/>
          </a:prstGeom>
          <a:noFill/>
          <a:ln w="25400" cap="flat">
            <a:solidFill>
              <a:schemeClr val="bg1">
                <a:lumMod val="8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846624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4813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Линия"/>
          <p:cNvSpPr/>
          <p:nvPr userDrawn="1"/>
        </p:nvSpPr>
        <p:spPr>
          <a:xfrm flipV="1">
            <a:off x="3493454" y="655003"/>
            <a:ext cx="8698548" cy="0"/>
          </a:xfrm>
          <a:prstGeom prst="line">
            <a:avLst/>
          </a:prstGeom>
          <a:ln w="57150" cap="flat" cmpd="sng">
            <a:solidFill>
              <a:srgbClr val="2F5A9E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" name="矩形 5"/>
          <p:cNvSpPr/>
          <p:nvPr userDrawn="1"/>
        </p:nvSpPr>
        <p:spPr>
          <a:xfrm>
            <a:off x="0" y="6474353"/>
            <a:ext cx="12192000" cy="284695"/>
          </a:xfrm>
          <a:prstGeom prst="rect">
            <a:avLst/>
          </a:prstGeom>
          <a:solidFill>
            <a:srgbClr val="2F5A9E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1" tIns="19051" rIns="19051" bIns="19051" numCol="1" spcCol="38100" rtlCol="0" anchor="ctr" forceAA="0">
            <a:spAutoFit/>
          </a:bodyPr>
          <a:lstStyle/>
          <a:p>
            <a:pPr marL="0" marR="0" lvl="0" indent="0" algn="ctr" defTabSz="41274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1360945" y="6474353"/>
            <a:ext cx="831056" cy="28469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19051" tIns="19051" rIns="19051" bIns="19051" numCol="1" spcCol="38100" rtlCol="0" anchor="ctr" forceAA="0">
            <a:spAutoFit/>
          </a:bodyPr>
          <a:lstStyle/>
          <a:p>
            <a:pPr marL="0" marR="0" lvl="0" indent="0" algn="ctr" defTabSz="41274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pic>
        <p:nvPicPr>
          <p:cNvPr id="5" name="图片 4" descr="12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6257" y="304166"/>
            <a:ext cx="2648903" cy="526415"/>
          </a:xfrm>
          <a:prstGeom prst="rect">
            <a:avLst/>
          </a:pr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95612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254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10" r:id="rId9"/>
    <p:sldLayoutId id="2147483711" r:id="rId10"/>
    <p:sldLayoutId id="2147483712" r:id="rId11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3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华文楷体" panose="02010600040101010101" pitchFamily="2" charset="-122"/>
              </a:defRPr>
            </a:lvl1pPr>
          </a:lstStyle>
          <a:p>
            <a:pPr defTabSz="412740" fontAlgn="base">
              <a:spcBef>
                <a:spcPct val="0"/>
              </a:spcBef>
              <a:spcAft>
                <a:spcPct val="0"/>
              </a:spcAft>
              <a:defRPr/>
            </a:pPr>
            <a:fld id="{49AE70B2-8BF9-45C0-BB95-33D1B9D3A854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Arial" panose="020B0604020202020204" pitchFamily="34" charset="0"/>
              </a:rPr>
              <a:pPr defTabSz="41274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  <a:sym typeface="Arial" panose="020B0604020202020204" pitchFamily="34" charset="0"/>
            </a:endParaRPr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127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/>
              <a:ea typeface="华文楷体" panose="02010600040101010101" pitchFamily="2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6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6" y="1508126"/>
            <a:ext cx="10852151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950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hdr="0" ftr="0" dt="0"/>
  <p:txStyles>
    <p:titleStyle>
      <a:lvl1pPr algn="l" defTabSz="914377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100" normalizeH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j-cs"/>
        </a:defRPr>
      </a:lvl1pPr>
    </p:titleStyle>
    <p:bodyStyle>
      <a:lvl1pPr marL="228594" indent="-228594" algn="l" defTabSz="914377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华文楷体" panose="02010600040101010101" pitchFamily="2" charset="-122"/>
          <a:ea typeface="华文楷体" panose="02010600040101010101" pitchFamily="2" charset="-122"/>
          <a:cs typeface="+mn-cs"/>
        </a:defRPr>
      </a:lvl1pPr>
      <a:lvl2pPr marL="685783" indent="-228594" algn="l" defTabSz="914377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tabLst>
          <a:tab pos="1609685" algn="l"/>
        </a:tabLst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2971" indent="-228594" algn="l" defTabSz="914377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160" indent="-228594" algn="l" defTabSz="914377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349" indent="-228594" algn="l" defTabSz="914377" rtl="0" eaLnBrk="1" fontAlgn="auto" latinLnBrk="0" hangingPunct="1">
        <a:lnSpc>
          <a:spcPct val="130000"/>
        </a:lnSpc>
        <a:spcBef>
          <a:spcPct val="1000"/>
        </a:spcBef>
        <a:spcAft>
          <a:spcPts val="500"/>
        </a:spcAft>
        <a:buFont typeface="Arial" panose="020B0604020202020204" pitchFamily="34" charset="0"/>
        <a:buChar char="•"/>
        <a:defRPr sz="1600" u="none" strike="noStrike" kern="1200" cap="none" spc="75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ct val="20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5" y="1097282"/>
            <a:ext cx="501944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设备信息管理系统（EIMS）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5" y="1353315"/>
            <a:ext cx="50194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Equipment Information Management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5" y="1591059"/>
            <a:ext cx="50292" cy="182880"/>
          </a:xfrm>
          <a:prstGeom prst="rect">
            <a:avLst/>
          </a:prstGeom>
          <a:solidFill>
            <a:srgbClr val="C88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9" y="1572771"/>
            <a:ext cx="48731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2026 年上半年工作回顾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2065" y="1828804"/>
            <a:ext cx="2445714" cy="841250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1" y="1920244"/>
            <a:ext cx="2189681" cy="162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EIMS 完成验证 · 设备预防性维护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1" y="2119508"/>
            <a:ext cx="2189681" cy="4591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按照年度计划在 DH1 工厂完成 EIMS 系统验证，具备上线运行使用条件，预计 8 月份正式上线使用（其他工厂提交变更启用）。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85795" y="1828804"/>
            <a:ext cx="2445714" cy="841250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13812" y="1920244"/>
            <a:ext cx="2189681" cy="1626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设备故障报修模块覆盖使用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3812" y="2119508"/>
            <a:ext cx="2189681" cy="4591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 i="0">
                <a:solidFill>
                  <a:srgbClr val="16283F"/>
                </a:solidFill>
                <a:latin typeface="Arial"/>
                <a:ea typeface="微软雅黑"/>
                <a:cs typeface="Arial"/>
              </a:rPr>
              <a:t>设备故障报修模块各工厂已启用，自 1 月份启动以来，累计报修 4,804 次，已闭环处理 2,539 单（TJ3/DH1 报修量最高）。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5" y="2779782"/>
            <a:ext cx="50292" cy="182880"/>
          </a:xfrm>
          <a:prstGeom prst="rect">
            <a:avLst/>
          </a:prstGeom>
          <a:solidFill>
            <a:srgbClr val="C88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9" y="2761494"/>
            <a:ext cx="48731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系统实施里程碑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4674" y="3108967"/>
            <a:ext cx="0" cy="1426468"/>
          </a:xfrm>
          <a:prstGeom prst="line">
            <a:avLst/>
          </a:prstGeom>
          <a:ln w="15240">
            <a:solidFill>
              <a:srgbClr val="C6D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5237" y="310439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003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5" y="3063247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1" i="0">
                <a:solidFill>
                  <a:srgbClr val="8A5D06"/>
                </a:solidFill>
                <a:latin typeface="Arial"/>
                <a:ea typeface="微软雅黑"/>
                <a:cs typeface="Arial"/>
              </a:rPr>
              <a:t>2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8" y="3058675"/>
            <a:ext cx="109728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系统功能开发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7" y="3035815"/>
            <a:ext cx="34466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1、EIMS 系统功能开发；2、完成变更控制文件与 URS 签批；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7" y="343358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003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5" y="339243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1" i="0">
                <a:solidFill>
                  <a:srgbClr val="8A5D06"/>
                </a:solidFill>
                <a:latin typeface="Arial"/>
                <a:ea typeface="微软雅黑"/>
                <a:cs typeface="Arial"/>
              </a:rPr>
              <a:t>3 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8" y="3387860"/>
            <a:ext cx="109728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UAT 用户测试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84837" y="3365000"/>
            <a:ext cx="34466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1、EIMS 系统环境测试；2、UAT 及 VP、RAR、FS 签批，UAT 用户测试；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7" y="376276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003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5" y="3721617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1" i="0">
                <a:solidFill>
                  <a:srgbClr val="8A5D06"/>
                </a:solidFill>
                <a:latin typeface="Arial"/>
                <a:ea typeface="微软雅黑"/>
                <a:cs typeface="Arial"/>
              </a:rPr>
              <a:t>4 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8" y="3717045"/>
            <a:ext cx="109728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文件撰写审批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4837" y="3694185"/>
            <a:ext cx="34466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1、CS+DS+代码审核和 UTITPR；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7" y="4091950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003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5" y="4050802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1" i="0">
                <a:solidFill>
                  <a:srgbClr val="8A5D06"/>
                </a:solidFill>
                <a:latin typeface="Arial"/>
                <a:ea typeface="微软雅黑"/>
                <a:cs typeface="Arial"/>
              </a:rPr>
              <a:t>5 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8" y="4046230"/>
            <a:ext cx="109728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系统验证执行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84837" y="4023370"/>
            <a:ext cx="34466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1、3Q 验证执行和验证报告签批；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5237" y="4421135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003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5" y="4379986"/>
            <a:ext cx="2560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1" i="0">
                <a:solidFill>
                  <a:srgbClr val="8A5D06"/>
                </a:solidFill>
                <a:latin typeface="Arial"/>
                <a:ea typeface="微软雅黑"/>
                <a:cs typeface="Arial"/>
              </a:rPr>
              <a:t>6 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8" y="4375414"/>
            <a:ext cx="109728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系统放行与培训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84837" y="4352554"/>
            <a:ext cx="344667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1、EIMS 系统 SOP 生效培训；2、EIMS 系统验证后放行；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5" y="4809756"/>
            <a:ext cx="50292" cy="182880"/>
          </a:xfrm>
          <a:prstGeom prst="rect">
            <a:avLst/>
          </a:prstGeom>
          <a:solidFill>
            <a:srgbClr val="C88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9" y="4791467"/>
            <a:ext cx="48731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2026 年下半年工作计划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12065" y="5047500"/>
            <a:ext cx="5019444" cy="332232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1" y="5047500"/>
            <a:ext cx="1417323" cy="332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设备全生命周期管理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5" y="5047500"/>
            <a:ext cx="3346088" cy="332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基于设备全生命周期管理 (ASM-037)：内控平台功能模块开发（备品备件管理），进一步完善设备全生命周期管理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2065" y="5425453"/>
            <a:ext cx="5019444" cy="332232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1" y="5425453"/>
            <a:ext cx="1417323" cy="332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设备故障看板与报表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57405" y="5425453"/>
            <a:ext cx="3346088" cy="332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优化设备故障分析仪表盘原型设计，实现设备故障分析报表和数据可视化。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2065" y="5803406"/>
            <a:ext cx="5019444" cy="332232"/>
          </a:xfrm>
          <a:prstGeom prst="roundRect">
            <a:avLst>
              <a:gd name="adj" fmla="val 4500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1" y="5803406"/>
            <a:ext cx="1417323" cy="332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内控平台数据互通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5" y="5803406"/>
            <a:ext cx="3346088" cy="332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85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内控平台功能升级、历史数据迁移及验证环境数据共享，实现与 EIMS 的数据互通，预计 8 月份完成。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87542" y="1097282"/>
            <a:ext cx="58923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巡检管理系统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87542" y="1353315"/>
            <a:ext cx="589239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50" b="1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Inspection Management System · EHS 隐患排查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87542" y="1609348"/>
            <a:ext cx="50292" cy="182880"/>
          </a:xfrm>
          <a:prstGeom prst="rect">
            <a:avLst/>
          </a:prstGeom>
          <a:solidFill>
            <a:srgbClr val="C88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33847" y="1591059"/>
            <a:ext cx="574608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1" i="0">
                <a:solidFill>
                  <a:srgbClr val="003669"/>
                </a:solidFill>
                <a:latin typeface="Arial"/>
                <a:ea typeface="微软雅黑"/>
                <a:cs typeface="Arial"/>
              </a:rPr>
              <a:t>系统界面与隐患台账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787542" y="1847092"/>
            <a:ext cx="5892391" cy="2667840"/>
          </a:xfrm>
          <a:prstGeom prst="roundRect">
            <a:avLst>
              <a:gd name="adj" fmla="val 2000"/>
            </a:avLst>
          </a:prstGeom>
          <a:solidFill>
            <a:srgbClr val="DDE7F3"/>
          </a:solidFill>
          <a:ln w="9525">
            <a:solidFill>
              <a:srgbClr val="C6D5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1" name="Picture 50" descr="巡检管理系统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0695" y="1942631"/>
            <a:ext cx="5746087" cy="2476761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787542" y="4588085"/>
            <a:ext cx="58923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EHS 隐患排查台账（查询区间 2026-01-01 至 2026-07-30；截图显示累计 35,684 条）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2065" y="6309375"/>
            <a:ext cx="11164851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50" b="0" i="0">
                <a:solidFill>
                  <a:srgbClr val="4E6584"/>
                </a:solidFill>
                <a:latin typeface="Arial"/>
                <a:ea typeface="微软雅黑"/>
                <a:cs typeface="Arial"/>
              </a:rPr>
              <a:t>设备系统数据来自设备管理系统汇报材料；巡检系统信息取自系统界面截图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White">
  <a:themeElements>
    <a:clrScheme name="自定义 4">
      <a:dk1>
        <a:srgbClr val="003669"/>
      </a:dk1>
      <a:lt1>
        <a:srgbClr val="FFFFFF"/>
      </a:lt1>
      <a:dk2>
        <a:srgbClr val="3263A7"/>
      </a:dk2>
      <a:lt2>
        <a:srgbClr val="E7E6E6"/>
      </a:lt2>
      <a:accent1>
        <a:srgbClr val="4472C4"/>
      </a:accent1>
      <a:accent2>
        <a:srgbClr val="E5B620"/>
      </a:accent2>
      <a:accent3>
        <a:srgbClr val="2649AB"/>
      </a:accent3>
      <a:accent4>
        <a:srgbClr val="FFC000"/>
      </a:accent4>
      <a:accent5>
        <a:srgbClr val="5B9BD5"/>
      </a:accent5>
      <a:accent6>
        <a:srgbClr val="2AA9DB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8_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280</Words>
  <Application>Microsoft Office PowerPoint</Application>
  <PresentationFormat>宽屏</PresentationFormat>
  <Paragraphs>30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Helvetica Light</vt:lpstr>
      <vt:lpstr>Helvetica Neue</vt:lpstr>
      <vt:lpstr>等线</vt:lpstr>
      <vt:lpstr>黑体</vt:lpstr>
      <vt:lpstr>华文楷体</vt:lpstr>
      <vt:lpstr>思源黑体</vt:lpstr>
      <vt:lpstr>宋体</vt:lpstr>
      <vt:lpstr>微软雅黑</vt:lpstr>
      <vt:lpstr>微软雅黑</vt:lpstr>
      <vt:lpstr>Arial</vt:lpstr>
      <vt:lpstr>Arial Black</vt:lpstr>
      <vt:lpstr>Times New Roman</vt:lpstr>
      <vt:lpstr>1_White</vt:lpstr>
      <vt:lpstr>18_webwppDefTheme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Shiwen Liu10181</dc:creator>
  <cp:lastModifiedBy>Daoxing Yang</cp:lastModifiedBy>
  <cp:revision>67</cp:revision>
  <dcterms:created xsi:type="dcterms:W3CDTF">2025-07-29T08:25:08Z</dcterms:created>
  <dcterms:modified xsi:type="dcterms:W3CDTF">2026-07-27T13:51:50Z</dcterms:modified>
</cp:coreProperties>
</file>
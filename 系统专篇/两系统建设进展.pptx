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0" r:id="rId1"/>
    <p:sldMasterId id="2147483713" r:id="rId2"/>
  </p:sldMasterIdLst>
  <p:notesMasterIdLst>
    <p:notesMasterId r:id="rId4"/>
  </p:notes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9299"/>
    <a:srgbClr val="0000FF"/>
    <a:srgbClr val="000000"/>
    <a:srgbClr val="FF9966"/>
    <a:srgbClr val="1A5FAF"/>
    <a:srgbClr val="4980BF"/>
    <a:srgbClr val="00366A"/>
    <a:srgbClr val="727171"/>
    <a:srgbClr val="2E75B6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86" autoAdjust="0"/>
    <p:restoredTop sz="94660"/>
  </p:normalViewPr>
  <p:slideViewPr>
    <p:cSldViewPr snapToGrid="0">
      <p:cViewPr varScale="1">
        <p:scale>
          <a:sx n="82" d="100"/>
          <a:sy n="82" d="100"/>
        </p:scale>
        <p:origin x="2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A53AE0-BFF6-413C-A3CB-76AD31665D2C}" type="datetimeFigureOut">
              <a:rPr lang="zh-CN" altLang="en-US" smtClean="0"/>
              <a:t>2026/7/27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0E6DA4-0DF0-4C9D-BC51-898896A547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5582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370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98632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204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2328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9020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8471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4357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E0DB2B2-D25E-444C-86B2-143D203378C0}"/>
              </a:ext>
            </a:extLst>
          </p:cNvPr>
          <p:cNvSpPr txBox="1"/>
          <p:nvPr userDrawn="1"/>
        </p:nvSpPr>
        <p:spPr>
          <a:xfrm>
            <a:off x="9921043" y="6576882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F8E8141-DF10-B443-A432-4FFAD2FB8D1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99299" y="5999801"/>
            <a:ext cx="343020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altLang="zh-CN" sz="3600" dirty="0">
                <a:solidFill>
                  <a:schemeClr val="bg1"/>
                </a:solidFill>
                <a:ea typeface="宋体" pitchFamily="2" charset="-122"/>
              </a:rPr>
              <a:t>Contents</a:t>
            </a:r>
          </a:p>
        </p:txBody>
      </p:sp>
      <p:pic>
        <p:nvPicPr>
          <p:cNvPr id="6" name="图片 1" descr="2">
            <a:extLst>
              <a:ext uri="{FF2B5EF4-FFF2-40B4-BE49-F238E27FC236}">
                <a16:creationId xmlns:a16="http://schemas.microsoft.com/office/drawing/2014/main" id="{9F72C929-4E91-744D-ACBA-8EF3794CA7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799300" y="570477"/>
            <a:ext cx="2140217" cy="4270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1AB625A-1AE1-6141-91AC-44B09F61F27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372" y="788896"/>
            <a:ext cx="2266101" cy="530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697317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744F58F-7C42-F64A-9AEA-F336833127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23" y="818341"/>
            <a:ext cx="2809391" cy="65716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6E55B8F-CA51-604F-B5C5-9147A7F4B5F5}"/>
              </a:ext>
            </a:extLst>
          </p:cNvPr>
          <p:cNvSpPr txBox="1"/>
          <p:nvPr userDrawn="1"/>
        </p:nvSpPr>
        <p:spPr>
          <a:xfrm>
            <a:off x="9921043" y="6576882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D0D95B7-9CE1-CF4B-837C-224BE676E5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9806617">
            <a:off x="7179677" y="-2597294"/>
            <a:ext cx="10122616" cy="9562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222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4823" y="6627241"/>
            <a:ext cx="732472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9921043" y="6608005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373042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4823" y="6596118"/>
            <a:ext cx="732472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9921043" y="6576882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4016479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6" y="3565525"/>
            <a:ext cx="10852151" cy="801371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24158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876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189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6" y="1508126"/>
            <a:ext cx="10852151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415309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1"/>
            <a:ext cx="3931920" cy="1115060"/>
          </a:xfrm>
        </p:spPr>
        <p:txBody>
          <a:bodyPr anchor="ctr" anchorCtr="0"/>
          <a:lstStyle>
            <a:lvl1pPr>
              <a:defRPr sz="32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1"/>
            <a:ext cx="6172200" cy="5403215"/>
          </a:xfrm>
        </p:spPr>
        <p:txBody>
          <a:bodyPr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457189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dirty="0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891" indent="-342891">
              <a:buFont typeface="Arial" panose="020B0604020202020204" pitchFamily="34" charset="0"/>
              <a:buChar char="•"/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384943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6" y="5605146"/>
            <a:ext cx="10852151" cy="558165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6" y="641350"/>
            <a:ext cx="10852151" cy="4556125"/>
          </a:xfrm>
        </p:spPr>
        <p:txBody>
          <a:bodyPr vert="horz" lIns="101600" tIns="0" rIns="82550" bIns="0" rtlCol="0">
            <a:noAutofit/>
          </a:bodyPr>
          <a:lstStyle>
            <a:lvl1pPr marL="228594" marR="0" lvl="0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457189" marR="0" lvl="1" indent="0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843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2971" marR="0" lvl="2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160" marR="0" lvl="3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349" marR="0" lvl="4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7963834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594" marR="0" lvl="0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457189" marR="0" lvl="1" indent="0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843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2971" marR="0" lvl="2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160" marR="0" lvl="3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349" marR="0" lvl="4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42081279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1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594" marR="0" lvl="0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685783" marR="0" lvl="1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843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2971" marR="0" lvl="2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160" marR="0" lvl="3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349" marR="0" lvl="4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1" y="565151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594" marR="0" lvl="0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685783" marR="0" lvl="1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843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2971" marR="0" lvl="2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160" marR="0" lvl="3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349" marR="0" lvl="4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3152899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189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61638828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8"/>
            <a:ext cx="732472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 dirty="0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3" y="6576882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4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15846624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44813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4" y="655003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3"/>
            <a:ext cx="12192000" cy="284695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1" tIns="19051" rIns="19051" bIns="19051" numCol="1" spcCol="38100" rtlCol="0" anchor="ctr" forceAA="0">
            <a:spAutoFit/>
          </a:bodyPr>
          <a:lstStyle/>
          <a:p>
            <a:pPr marL="0" marR="0" lvl="0" indent="0" algn="ctr" defTabSz="41274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3"/>
            <a:ext cx="831056" cy="28469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1" tIns="19051" rIns="19051" bIns="19051" numCol="1" spcCol="38100" rtlCol="0" anchor="ctr" forceAA="0">
            <a:spAutoFit/>
          </a:bodyPr>
          <a:lstStyle/>
          <a:p>
            <a:pPr marL="0" marR="0" lvl="0" indent="0" algn="ctr" defTabSz="41274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7" y="304166"/>
            <a:ext cx="2648903" cy="526415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79561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12546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10" r:id="rId9"/>
    <p:sldLayoutId id="2147483711" r:id="rId10"/>
    <p:sldLayoutId id="2147483712" r:id="rId11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3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4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6" y="1508126"/>
            <a:ext cx="10852151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4950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 ftr="0" dt="0"/>
  <p:txStyles>
    <p:titleStyle>
      <a:lvl1pPr algn="l" defTabSz="914377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228594" indent="-228594" algn="l" defTabSz="914377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685783" indent="-228594" algn="l" defTabSz="914377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68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2971" indent="-228594" algn="l" defTabSz="914377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160" indent="-228594" algn="l" defTabSz="914377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349" indent="-228594" algn="l" defTabSz="914377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5" y="1097282"/>
            <a:ext cx="11167869" cy="336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EIMS 完成系统验证具备上线条件，巡检系统隐患台账已归集 3.5 万余条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5" y="1579883"/>
            <a:ext cx="543763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设备信息管理系统（EIMS）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065" y="1826772"/>
            <a:ext cx="543763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Equipment Information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5" y="1982220"/>
            <a:ext cx="50292" cy="182880"/>
          </a:xfrm>
          <a:prstGeom prst="rect">
            <a:avLst/>
          </a:prstGeom>
          <a:solidFill>
            <a:srgbClr val="C88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9" y="1963932"/>
            <a:ext cx="529132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2026 年上半年工作回顾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5" y="2201677"/>
            <a:ext cx="2645662" cy="713233"/>
          </a:xfrm>
          <a:prstGeom prst="roundRect">
            <a:avLst>
              <a:gd name="adj" fmla="val 45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9" y="2320549"/>
            <a:ext cx="2353054" cy="166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EIMS 完成验证 · 设备预防性维护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9" y="2532957"/>
            <a:ext cx="2353054" cy="263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75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按照年度计划在 DH1 工厂完成 EIMS 系统验证，具备上线运行使用条件，预计 8 月份正式上线使用（其他工厂提交变更启用）。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04032" y="2201677"/>
            <a:ext cx="2645662" cy="713233"/>
          </a:xfrm>
          <a:prstGeom prst="roundRect">
            <a:avLst>
              <a:gd name="adj" fmla="val 45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0337" y="2320549"/>
            <a:ext cx="2353054" cy="166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设备故障报修模块覆盖使用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0337" y="2532957"/>
            <a:ext cx="2353054" cy="263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75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设备故障报修模块各工厂已启用，自 1 月份启动以来，累计报修 4,804 次，已闭环处理 2,539 单（TJ3/DH1 报修量最高）。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5" y="3024639"/>
            <a:ext cx="50292" cy="182880"/>
          </a:xfrm>
          <a:prstGeom prst="rect">
            <a:avLst/>
          </a:prstGeom>
          <a:solidFill>
            <a:srgbClr val="C88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9" y="3006351"/>
            <a:ext cx="529132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系统实施里程碑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5" y="3335536"/>
            <a:ext cx="0" cy="1316739"/>
          </a:xfrm>
          <a:prstGeom prst="line">
            <a:avLst/>
          </a:prstGeom>
          <a:ln w="15240">
            <a:solidFill>
              <a:srgbClr val="C6D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6949" y="33218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003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5" y="3280672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1" i="0">
                <a:solidFill>
                  <a:srgbClr val="8A5D06"/>
                </a:solidFill>
                <a:latin typeface="Arial"/>
                <a:ea typeface="微软雅黑"/>
                <a:cs typeface="Arial"/>
              </a:rPr>
              <a:t>2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90" y="3276100"/>
            <a:ext cx="106070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系统功能开发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9973" y="3253240"/>
            <a:ext cx="391972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1、EIMS 系统功能开发；2、完成变更控制文件与 URS 签批；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949" y="3628145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003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5" y="3586996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1" i="0">
                <a:solidFill>
                  <a:srgbClr val="8A5D06"/>
                </a:solidFill>
                <a:latin typeface="Arial"/>
                <a:ea typeface="微软雅黑"/>
                <a:cs typeface="Arial"/>
              </a:rPr>
              <a:t>3 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90" y="3582424"/>
            <a:ext cx="106070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UAT 用户测试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9973" y="3559564"/>
            <a:ext cx="391972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1、EIMS 系统环境测试；2、UAT 及 VP、RAR、FS 签批，UAT 用户测试；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9" y="3934469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003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5" y="3893321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1" i="0">
                <a:solidFill>
                  <a:srgbClr val="8A5D06"/>
                </a:solidFill>
                <a:latin typeface="Arial"/>
                <a:ea typeface="微软雅黑"/>
                <a:cs typeface="Arial"/>
              </a:rPr>
              <a:t>4 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90" y="3888749"/>
            <a:ext cx="106070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文件撰写审批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9973" y="3865889"/>
            <a:ext cx="391972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1、CS+DS+代码审核和 UTITPR；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6949" y="424079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003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5" y="4199646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1" i="0">
                <a:solidFill>
                  <a:srgbClr val="8A5D06"/>
                </a:solidFill>
                <a:latin typeface="Arial"/>
                <a:ea typeface="微软雅黑"/>
                <a:cs typeface="Arial"/>
              </a:rPr>
              <a:t>5 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90" y="4195074"/>
            <a:ext cx="106070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系统验证执行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9973" y="4172214"/>
            <a:ext cx="391972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1、3Q 验证执行和验证报告签批；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6949" y="4547119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003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5" y="4505971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1" i="0">
                <a:solidFill>
                  <a:srgbClr val="8A5D06"/>
                </a:solidFill>
                <a:latin typeface="Arial"/>
                <a:ea typeface="微软雅黑"/>
                <a:cs typeface="Arial"/>
              </a:rPr>
              <a:t>6 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90" y="4501399"/>
            <a:ext cx="1060706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系统放行与培训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29973" y="4478539"/>
            <a:ext cx="391972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1、EIMS 系统 SOP 生效培训；2、EIMS 系统验证后放行；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5" y="4903736"/>
            <a:ext cx="50292" cy="182880"/>
          </a:xfrm>
          <a:prstGeom prst="rect">
            <a:avLst/>
          </a:prstGeom>
          <a:solidFill>
            <a:srgbClr val="C88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9" y="4885448"/>
            <a:ext cx="529132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2026 年下半年工作计划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2065" y="5123192"/>
            <a:ext cx="5437630" cy="307002"/>
          </a:xfrm>
          <a:prstGeom prst="roundRect">
            <a:avLst>
              <a:gd name="adj" fmla="val 45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1" y="5123192"/>
            <a:ext cx="1417323" cy="307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设备全生命周期管理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7405" y="5123192"/>
            <a:ext cx="3764274" cy="307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基于设备全生命周期管理 (ASM-037)：内控平台功能模块开发（备品备件管理），进一步完善设备全生命周期管理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2065" y="5475915"/>
            <a:ext cx="5437630" cy="307002"/>
          </a:xfrm>
          <a:prstGeom prst="roundRect">
            <a:avLst>
              <a:gd name="adj" fmla="val 45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1" y="5475915"/>
            <a:ext cx="1417323" cy="307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设备故障看板与报表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5" y="5475915"/>
            <a:ext cx="3764274" cy="307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优化设备故障分析仪表盘原型设计，实现设备故障分析报表和数据可视化。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2065" y="5828637"/>
            <a:ext cx="5437630" cy="307002"/>
          </a:xfrm>
          <a:prstGeom prst="roundRect">
            <a:avLst>
              <a:gd name="adj" fmla="val 45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1" y="5828637"/>
            <a:ext cx="1417323" cy="307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内控平台数据互通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5" y="5828637"/>
            <a:ext cx="3764274" cy="307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内控平台功能升级、历史数据迁移及验证环境数据共享，实现与 EIMS 的数据互通，预计 8 月份完成。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42304" y="1579883"/>
            <a:ext cx="543763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巡检管理系统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42304" y="1826772"/>
            <a:ext cx="543763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1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Inspection Management System · EHS 隐患排查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42304" y="2037085"/>
            <a:ext cx="50292" cy="182880"/>
          </a:xfrm>
          <a:prstGeom prst="rect">
            <a:avLst/>
          </a:prstGeom>
          <a:solidFill>
            <a:srgbClr val="C88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88608" y="2018797"/>
            <a:ext cx="529132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系统界面与隐患台账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87315" y="2256541"/>
            <a:ext cx="4947607" cy="2260605"/>
          </a:xfrm>
          <a:prstGeom prst="roundRect">
            <a:avLst>
              <a:gd name="adj" fmla="val 2000"/>
            </a:avLst>
          </a:prstGeom>
          <a:solidFill>
            <a:srgbClr val="DDE7F3"/>
          </a:solidFill>
          <a:ln w="9525">
            <a:solidFill>
              <a:srgbClr val="C6D5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巡检管理系统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324" y="2348139"/>
            <a:ext cx="4819590" cy="2077409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242304" y="4608587"/>
            <a:ext cx="543763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系统界面：EHS 隐患排查台账（截图内查询区间 2026-01-01 至 2026-07-30）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42304" y="4901196"/>
            <a:ext cx="50292" cy="182880"/>
          </a:xfrm>
          <a:prstGeom prst="rect">
            <a:avLst/>
          </a:prstGeom>
          <a:solidFill>
            <a:srgbClr val="C88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88608" y="4882908"/>
            <a:ext cx="529132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系统能力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42304" y="5120652"/>
            <a:ext cx="50292" cy="210312"/>
          </a:xfrm>
          <a:prstGeom prst="rect">
            <a:avLst/>
          </a:prstGeom>
          <a:solidFill>
            <a:srgbClr val="326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88608" y="5120652"/>
            <a:ext cx="1325883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隐患全过程留痕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78500" y="5120652"/>
            <a:ext cx="3901434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逐条记录巡查主题、部门、巡查人、地点、巡查发现、分类与等级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42304" y="5385829"/>
            <a:ext cx="50292" cy="210312"/>
          </a:xfrm>
          <a:prstGeom prst="rect">
            <a:avLst/>
          </a:prstGeom>
          <a:solidFill>
            <a:srgbClr val="326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88608" y="5385829"/>
            <a:ext cx="1325883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三类巡查统一入口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78500" y="5385829"/>
            <a:ext cx="3901434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EHS 隐患排查、QA 日常巡查、生产日常巡查在同一系统内管理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42304" y="5651006"/>
            <a:ext cx="50292" cy="210312"/>
          </a:xfrm>
          <a:prstGeom prst="rect">
            <a:avLst/>
          </a:prstGeom>
          <a:solidFill>
            <a:srgbClr val="326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88608" y="5651006"/>
            <a:ext cx="1325883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多维度统计分析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8500" y="5651006"/>
            <a:ext cx="3901434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支持按厂区、部门、巡查人、整改责任人、第一责任人分别统计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2304" y="5916182"/>
            <a:ext cx="50292" cy="210312"/>
          </a:xfrm>
          <a:prstGeom prst="rect">
            <a:avLst/>
          </a:prstGeom>
          <a:solidFill>
            <a:srgbClr val="326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88608" y="5916182"/>
            <a:ext cx="1325883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计划与任务跟踪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8500" y="5916182"/>
            <a:ext cx="3901434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巡检计划与巡检任务明细可查，台账截图显示已累计 35,684 条记录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2065" y="6327663"/>
            <a:ext cx="111648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设备系统数据来自设备管理系统汇报材料；巡检系统信息取自系统界面截图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White">
  <a:themeElements>
    <a:clrScheme name="自定义 4">
      <a:dk1>
        <a:srgbClr val="003669"/>
      </a:dk1>
      <a:lt1>
        <a:srgbClr val="FFFFFF"/>
      </a:lt1>
      <a:dk2>
        <a:srgbClr val="3263A7"/>
      </a:dk2>
      <a:lt2>
        <a:srgbClr val="E7E6E6"/>
      </a:lt2>
      <a:accent1>
        <a:srgbClr val="4472C4"/>
      </a:accent1>
      <a:accent2>
        <a:srgbClr val="E5B620"/>
      </a:accent2>
      <a:accent3>
        <a:srgbClr val="2649AB"/>
      </a:accent3>
      <a:accent4>
        <a:srgbClr val="FFC000"/>
      </a:accent4>
      <a:accent5>
        <a:srgbClr val="5B9BD5"/>
      </a:accent5>
      <a:accent6>
        <a:srgbClr val="2AA9DB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860</TotalTime>
  <Words>280</Words>
  <Application>Microsoft Office PowerPoint</Application>
  <PresentationFormat>宽屏</PresentationFormat>
  <Paragraphs>30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15" baseType="lpstr">
      <vt:lpstr>Helvetica Light</vt:lpstr>
      <vt:lpstr>Helvetica Neue</vt:lpstr>
      <vt:lpstr>等线</vt:lpstr>
      <vt:lpstr>黑体</vt:lpstr>
      <vt:lpstr>华文楷体</vt:lpstr>
      <vt:lpstr>思源黑体</vt:lpstr>
      <vt:lpstr>宋体</vt:lpstr>
      <vt:lpstr>微软雅黑</vt:lpstr>
      <vt:lpstr>微软雅黑</vt:lpstr>
      <vt:lpstr>Arial</vt:lpstr>
      <vt:lpstr>Arial Black</vt:lpstr>
      <vt:lpstr>Times New Roman</vt:lpstr>
      <vt:lpstr>1_White</vt:lpstr>
      <vt:lpstr>18_webwppDefTheme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Shiwen Liu10181</dc:creator>
  <cp:lastModifiedBy>Daoxing Yang</cp:lastModifiedBy>
  <cp:revision>67</cp:revision>
  <dcterms:created xsi:type="dcterms:W3CDTF">2025-07-29T08:25:08Z</dcterms:created>
  <dcterms:modified xsi:type="dcterms:W3CDTF">2026-07-27T13:51:50Z</dcterms:modified>
</cp:coreProperties>
</file>
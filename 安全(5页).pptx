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3" r:id="rId5"/>
    <p:sldMasterId id="2147483695" r:id="rId6"/>
    <p:sldMasterId id="2147483706" r:id="rId7"/>
    <p:sldMasterId id="2147483718" r:id="rId8"/>
    <p:sldMasterId id="2147483729" r:id="rId9"/>
    <p:sldMasterId id="2147483740" r:id="rId10"/>
    <p:sldMasterId id="2147483751" r:id="rId11"/>
    <p:sldMasterId id="2147483763" r:id="rId12"/>
    <p:sldMasterId id="2147483775" r:id="rId13"/>
    <p:sldMasterId id="2147483789" r:id="rId14"/>
    <p:sldMasterId id="2147483801" r:id="rId15"/>
    <p:sldMasterId id="2147483813" r:id="rId16"/>
    <p:sldMasterId id="2147483824" r:id="rId17"/>
    <p:sldMasterId id="2147483836" r:id="rId18"/>
    <p:sldMasterId id="2147483848" r:id="rId19"/>
    <p:sldMasterId id="2147483859" r:id="rId20"/>
    <p:sldMasterId id="2147483871" r:id="rId21"/>
    <p:sldMasterId id="2147483883" r:id="rId22"/>
    <p:sldMasterId id="2147483895" r:id="rId23"/>
    <p:sldMasterId id="2147483907" r:id="rId24"/>
    <p:sldMasterId id="2147483918" r:id="rId25"/>
    <p:sldMasterId id="2147483929" r:id="rId26"/>
    <p:sldMasterId id="2147483941" r:id="rId27"/>
    <p:sldMasterId id="2147483952" r:id="rId28"/>
    <p:sldMasterId id="2147483963" r:id="rId29"/>
    <p:sldMasterId id="2147483975" r:id="rId30"/>
    <p:sldMasterId id="2147483986" r:id="rId31"/>
    <p:sldMasterId id="2147483992" r:id="rId32"/>
    <p:sldMasterId id="2147484003" r:id="rId33"/>
    <p:sldMasterId id="2147484014" r:id="rId34"/>
    <p:sldMasterId id="2147484025" r:id="rId35"/>
    <p:sldMasterId id="2147484037" r:id="rId36"/>
    <p:sldMasterId id="2147484049" r:id="rId37"/>
    <p:sldMasterId id="2147484062" r:id="rId38"/>
  </p:sldMasterIdLst>
  <p:notesMasterIdLst>
    <p:notesMasterId r:id="rId40"/>
  </p:notesMasterIdLst>
  <p:sldIdLst>
    <p:sldId id="4751" r:id="rId39"/>
    <p:sldId id="4736" r:id="rId41"/>
    <p:sldId id="4737" r:id="rId42"/>
    <p:sldId id="4748" r:id="rId43"/>
    <p:sldId id="4750" r:id="rId44"/>
  </p:sldIdLst>
  <p:sldSz cx="9144000" cy="5143500" type="screen16x9"/>
  <p:notesSz cx="6858000" cy="9144000"/>
  <p:defaultTextStyle>
    <a:defPPr>
      <a:defRPr lang="en-US"/>
    </a:defPPr>
    <a:lvl1pPr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E986B130-2AFF-4B6C-ACE2-764B932D0865}">
          <p14:sldIdLst>
            <p14:sldId id="4751"/>
            <p14:sldId id="4736"/>
            <p14:sldId id="4737"/>
            <p14:sldId id="4748"/>
            <p14:sldId id="4750"/>
          </p14:sldIdLst>
        </p14:section>
      </p14:sectionLst>
    </p:ext>
    <p:ext uri="{EFAFB233-063F-42B5-8137-9DF3F51BA10A}">
      <p15:sldGuideLst xmlns:p15="http://schemas.microsoft.com/office/powerpoint/2012/main">
        <p15:guide id="1" pos="5640" userDrawn="1">
          <p15:clr>
            <a:srgbClr val="A4A3A4"/>
          </p15:clr>
        </p15:guide>
        <p15:guide id="2" orient="horz" pos="3020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4" name="Mengxuan Li" initials="ML" lastIdx="35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3E3E"/>
    <a:srgbClr val="D9FC04"/>
    <a:srgbClr val="B64AB1"/>
    <a:srgbClr val="E67A4A"/>
    <a:srgbClr val="1B2764"/>
    <a:srgbClr val="1B2662"/>
    <a:srgbClr val="1D2D68"/>
    <a:srgbClr val="1C2A68"/>
    <a:srgbClr val="1A2560"/>
    <a:srgbClr val="191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587" autoAdjust="0"/>
  </p:normalViewPr>
  <p:slideViewPr>
    <p:cSldViewPr snapToGrid="0" snapToObjects="1" showGuides="1">
      <p:cViewPr varScale="1">
        <p:scale>
          <a:sx n="96" d="100"/>
          <a:sy n="96" d="100"/>
        </p:scale>
        <p:origin x="822" y="78"/>
      </p:cViewPr>
      <p:guideLst>
        <p:guide pos="5640"/>
        <p:guide orient="horz" pos="3020"/>
        <p:guide orient="horz" pos="259"/>
        <p:guide orient="horz" pos="14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5.xml"/><Relationship Id="rId43" Type="http://schemas.openxmlformats.org/officeDocument/2006/relationships/slide" Target="slides/slide4.xml"/><Relationship Id="rId42" Type="http://schemas.openxmlformats.org/officeDocument/2006/relationships/slide" Target="slides/slide3.xml"/><Relationship Id="rId41" Type="http://schemas.openxmlformats.org/officeDocument/2006/relationships/slide" Target="slides/slide2.xml"/><Relationship Id="rId40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765" indent="-10731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0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3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4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4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5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6.xml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6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6.xml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6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7.xml"/></Relationships>
</file>

<file path=ppt/slideLayouts/_rels/slideLayout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7.xml"/></Relationships>
</file>

<file path=ppt/slideLayouts/_rels/slideLayout3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7.xml"/></Relationships>
</file>

<file path=ppt/slideLayouts/_rels/slideLayout3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7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Contents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59"/>
            <a:ext cx="1900833" cy="7784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" dirty="0">
                <a:solidFill>
                  <a:schemeClr val="bg1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lang="zh-CN" altLang="en-US" sz="280" dirty="0">
                <a:solidFill>
                  <a:schemeClr val="bg1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lang="zh-CN" altLang="en-US" sz="280" dirty="0">
              <a:solidFill>
                <a:schemeClr val="bg1"/>
              </a:solidFill>
              <a:latin typeface="微软雅黑" panose="020B0503020204020204" pitchFamily="34" charset="-122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2A93B75A-B628-4B58-A0E2-AF8B7C034669}" type="slidenum">
              <a:rPr lang="en-US" altLang="zh-CN"/>
            </a:fld>
            <a:r>
              <a:rPr lang="en-US" altLang="zh-CN"/>
              <a:t>-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 bwMode="auto"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1926" y="599307"/>
            <a:ext cx="2151953" cy="42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Contents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3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slow">
    <p:push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2620089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20708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9245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3" y="228125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00366A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anose="02010600030101010101" pitchFamily="2" charset="-122"/>
              </a:rPr>
              <a:t>Contents</a:t>
            </a:r>
            <a:endParaRPr lang="en-US" altLang="zh-CN" sz="27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386DB4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00366A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anose="02010600030101010101" pitchFamily="2" charset="-122"/>
              </a:rPr>
              <a:t>Contents</a:t>
            </a:r>
            <a:endParaRPr lang="en-US" altLang="zh-CN" sz="27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5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6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386DB4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0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7043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0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4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1" Type="http://schemas.openxmlformats.org/officeDocument/2006/relationships/theme" Target="../theme/theme7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1" Type="http://schemas.openxmlformats.org/officeDocument/2006/relationships/theme" Target="../theme/theme8.xml"/><Relationship Id="rId1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1" Type="http://schemas.openxmlformats.org/officeDocument/2006/relationships/theme" Target="../theme/theme9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6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95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7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06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18.xml"/><Relationship Id="rId14" Type="http://schemas.openxmlformats.org/officeDocument/2006/relationships/theme" Target="../theme/theme12.xml"/><Relationship Id="rId13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17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31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0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2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1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3.xml"/><Relationship Id="rId11" Type="http://schemas.openxmlformats.org/officeDocument/2006/relationships/theme" Target="../theme/theme15.xml"/><Relationship Id="rId10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52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0.xml"/><Relationship Id="rId8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63.xml"/><Relationship Id="rId12" Type="http://schemas.openxmlformats.org/officeDocument/2006/relationships/theme" Target="../theme/theme16.xml"/><Relationship Id="rId11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62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1.xml"/><Relationship Id="rId8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74.xml"/><Relationship Id="rId12" Type="http://schemas.openxmlformats.org/officeDocument/2006/relationships/theme" Target="../theme/theme17.xml"/><Relationship Id="rId11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7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2.xml"/><Relationship Id="rId8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85.xml"/><Relationship Id="rId11" Type="http://schemas.openxmlformats.org/officeDocument/2006/relationships/theme" Target="../theme/theme18.xml"/><Relationship Id="rId10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184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2.xml"/><Relationship Id="rId8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0.xml"/><Relationship Id="rId6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98.xml"/><Relationship Id="rId4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6.xml"/><Relationship Id="rId2" Type="http://schemas.openxmlformats.org/officeDocument/2006/relationships/slideLayout" Target="../slideLayouts/slideLayout195.xml"/><Relationship Id="rId12" Type="http://schemas.openxmlformats.org/officeDocument/2006/relationships/theme" Target="../theme/theme19.xml"/><Relationship Id="rId11" Type="http://schemas.openxmlformats.org/officeDocument/2006/relationships/slideLayout" Target="../slideLayouts/slideLayout204.xml"/><Relationship Id="rId10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94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3.xml"/><Relationship Id="rId8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206.xml"/><Relationship Id="rId12" Type="http://schemas.openxmlformats.org/officeDocument/2006/relationships/theme" Target="../theme/theme20.xml"/><Relationship Id="rId11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05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4.xml"/><Relationship Id="rId8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1.xml"/><Relationship Id="rId5" Type="http://schemas.openxmlformats.org/officeDocument/2006/relationships/slideLayout" Target="../slideLayouts/slideLayout220.xml"/><Relationship Id="rId4" Type="http://schemas.openxmlformats.org/officeDocument/2006/relationships/slideLayout" Target="../slideLayouts/slideLayout219.xml"/><Relationship Id="rId3" Type="http://schemas.openxmlformats.org/officeDocument/2006/relationships/slideLayout" Target="../slideLayouts/slideLayout218.xml"/><Relationship Id="rId2" Type="http://schemas.openxmlformats.org/officeDocument/2006/relationships/slideLayout" Target="../slideLayouts/slideLayout217.xml"/><Relationship Id="rId12" Type="http://schemas.openxmlformats.org/officeDocument/2006/relationships/theme" Target="../theme/theme21.xml"/><Relationship Id="rId11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16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5.xml"/><Relationship Id="rId8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3.xml"/><Relationship Id="rId6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231.xml"/><Relationship Id="rId4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28.xml"/><Relationship Id="rId12" Type="http://schemas.openxmlformats.org/officeDocument/2006/relationships/theme" Target="../theme/theme22.xml"/><Relationship Id="rId11" Type="http://schemas.openxmlformats.org/officeDocument/2006/relationships/slideLayout" Target="../slideLayouts/slideLayout237.xml"/><Relationship Id="rId10" Type="http://schemas.openxmlformats.org/officeDocument/2006/relationships/slideLayout" Target="../slideLayouts/slideLayout236.xml"/><Relationship Id="rId1" Type="http://schemas.openxmlformats.org/officeDocument/2006/relationships/slideLayout" Target="../slideLayouts/slideLayout227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6.xml"/><Relationship Id="rId8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3.xml"/><Relationship Id="rId5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40.xml"/><Relationship Id="rId2" Type="http://schemas.openxmlformats.org/officeDocument/2006/relationships/slideLayout" Target="../slideLayouts/slideLayout239.xml"/><Relationship Id="rId11" Type="http://schemas.openxmlformats.org/officeDocument/2006/relationships/theme" Target="../theme/theme23.xml"/><Relationship Id="rId10" Type="http://schemas.openxmlformats.org/officeDocument/2006/relationships/slideLayout" Target="../slideLayouts/slideLayout247.xml"/><Relationship Id="rId1" Type="http://schemas.openxmlformats.org/officeDocument/2006/relationships/slideLayout" Target="../slideLayouts/slideLayout238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6.xml"/><Relationship Id="rId8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51.xml"/><Relationship Id="rId3" Type="http://schemas.openxmlformats.org/officeDocument/2006/relationships/slideLayout" Target="../slideLayouts/slideLayout250.xml"/><Relationship Id="rId2" Type="http://schemas.openxmlformats.org/officeDocument/2006/relationships/slideLayout" Target="../slideLayouts/slideLayout249.xml"/><Relationship Id="rId11" Type="http://schemas.openxmlformats.org/officeDocument/2006/relationships/theme" Target="../theme/theme24.xml"/><Relationship Id="rId10" Type="http://schemas.openxmlformats.org/officeDocument/2006/relationships/slideLayout" Target="../slideLayouts/slideLayout257.xml"/><Relationship Id="rId1" Type="http://schemas.openxmlformats.org/officeDocument/2006/relationships/slideLayout" Target="../slideLayouts/slideLayout248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6.xml"/><Relationship Id="rId8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64.xml"/><Relationship Id="rId6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62.xml"/><Relationship Id="rId4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60.xml"/><Relationship Id="rId2" Type="http://schemas.openxmlformats.org/officeDocument/2006/relationships/slideLayout" Target="../slideLayouts/slideLayout259.xml"/><Relationship Id="rId12" Type="http://schemas.openxmlformats.org/officeDocument/2006/relationships/theme" Target="../theme/theme25.xml"/><Relationship Id="rId11" Type="http://schemas.openxmlformats.org/officeDocument/2006/relationships/slideLayout" Target="../slideLayouts/slideLayout268.xml"/><Relationship Id="rId10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58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7.xml"/><Relationship Id="rId8" Type="http://schemas.openxmlformats.org/officeDocument/2006/relationships/slideLayout" Target="../slideLayouts/slideLayout276.xml"/><Relationship Id="rId7" Type="http://schemas.openxmlformats.org/officeDocument/2006/relationships/slideLayout" Target="../slideLayouts/slideLayout275.xml"/><Relationship Id="rId6" Type="http://schemas.openxmlformats.org/officeDocument/2006/relationships/slideLayout" Target="../slideLayouts/slideLayout274.xml"/><Relationship Id="rId5" Type="http://schemas.openxmlformats.org/officeDocument/2006/relationships/slideLayout" Target="../slideLayouts/slideLayout273.xml"/><Relationship Id="rId4" Type="http://schemas.openxmlformats.org/officeDocument/2006/relationships/slideLayout" Target="../slideLayouts/slideLayout272.xml"/><Relationship Id="rId3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70.xml"/><Relationship Id="rId11" Type="http://schemas.openxmlformats.org/officeDocument/2006/relationships/theme" Target="../theme/theme26.xml"/><Relationship Id="rId10" Type="http://schemas.openxmlformats.org/officeDocument/2006/relationships/slideLayout" Target="../slideLayouts/slideLayout278.xml"/><Relationship Id="rId1" Type="http://schemas.openxmlformats.org/officeDocument/2006/relationships/slideLayout" Target="../slideLayouts/slideLayout269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7.xml"/><Relationship Id="rId8" Type="http://schemas.openxmlformats.org/officeDocument/2006/relationships/slideLayout" Target="../slideLayouts/slideLayout286.xml"/><Relationship Id="rId7" Type="http://schemas.openxmlformats.org/officeDocument/2006/relationships/slideLayout" Target="../slideLayouts/slideLayout285.xml"/><Relationship Id="rId6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82.xml"/><Relationship Id="rId3" Type="http://schemas.openxmlformats.org/officeDocument/2006/relationships/slideLayout" Target="../slideLayouts/slideLayout281.xml"/><Relationship Id="rId2" Type="http://schemas.openxmlformats.org/officeDocument/2006/relationships/slideLayout" Target="../slideLayouts/slideLayout280.xml"/><Relationship Id="rId11" Type="http://schemas.openxmlformats.org/officeDocument/2006/relationships/theme" Target="../theme/theme27.xml"/><Relationship Id="rId10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79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7.xml"/><Relationship Id="rId8" Type="http://schemas.openxmlformats.org/officeDocument/2006/relationships/slideLayout" Target="../slideLayouts/slideLayout296.xml"/><Relationship Id="rId7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294.xml"/><Relationship Id="rId5" Type="http://schemas.openxmlformats.org/officeDocument/2006/relationships/slideLayout" Target="../slideLayouts/slideLayout293.xml"/><Relationship Id="rId4" Type="http://schemas.openxmlformats.org/officeDocument/2006/relationships/slideLayout" Target="../slideLayouts/slideLayout292.xml"/><Relationship Id="rId3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90.xml"/><Relationship Id="rId12" Type="http://schemas.openxmlformats.org/officeDocument/2006/relationships/theme" Target="../theme/theme28.xml"/><Relationship Id="rId11" Type="http://schemas.openxmlformats.org/officeDocument/2006/relationships/slideLayout" Target="../slideLayouts/slideLayout299.xml"/><Relationship Id="rId10" Type="http://schemas.openxmlformats.org/officeDocument/2006/relationships/slideLayout" Target="../slideLayouts/slideLayout298.xml"/><Relationship Id="rId1" Type="http://schemas.openxmlformats.org/officeDocument/2006/relationships/slideLayout" Target="../slideLayouts/slideLayout289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8.xml"/><Relationship Id="rId8" Type="http://schemas.openxmlformats.org/officeDocument/2006/relationships/slideLayout" Target="../slideLayouts/slideLayout307.xml"/><Relationship Id="rId7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05.xml"/><Relationship Id="rId5" Type="http://schemas.openxmlformats.org/officeDocument/2006/relationships/slideLayout" Target="../slideLayouts/slideLayout304.xml"/><Relationship Id="rId4" Type="http://schemas.openxmlformats.org/officeDocument/2006/relationships/slideLayout" Target="../slideLayouts/slideLayout303.xml"/><Relationship Id="rId3" Type="http://schemas.openxmlformats.org/officeDocument/2006/relationships/slideLayout" Target="../slideLayouts/slideLayout302.xml"/><Relationship Id="rId2" Type="http://schemas.openxmlformats.org/officeDocument/2006/relationships/slideLayout" Target="../slideLayouts/slideLayout301.xml"/><Relationship Id="rId11" Type="http://schemas.openxmlformats.org/officeDocument/2006/relationships/theme" Target="../theme/theme29.xml"/><Relationship Id="rId10" Type="http://schemas.openxmlformats.org/officeDocument/2006/relationships/slideLayout" Target="../slideLayouts/slideLayout309.xml"/><Relationship Id="rId1" Type="http://schemas.openxmlformats.org/officeDocument/2006/relationships/slideLayout" Target="../slideLayouts/slideLayout300.xml"/></Relationships>
</file>

<file path=ppt/slideMasters/_rels/slideMaster30.xml.rels><?xml version="1.0" encoding="UTF-8" standalone="yes"?>
<Relationships xmlns="http://schemas.openxmlformats.org/package/2006/relationships"><Relationship Id="rId6" Type="http://schemas.openxmlformats.org/officeDocument/2006/relationships/theme" Target="../theme/theme30.xml"/><Relationship Id="rId5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1.xml"/><Relationship Id="rId1" Type="http://schemas.openxmlformats.org/officeDocument/2006/relationships/slideLayout" Target="../slideLayouts/slideLayout31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3.xml"/><Relationship Id="rId8" Type="http://schemas.openxmlformats.org/officeDocument/2006/relationships/slideLayout" Target="../slideLayouts/slideLayout322.xml"/><Relationship Id="rId7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9.xml"/><Relationship Id="rId4" Type="http://schemas.openxmlformats.org/officeDocument/2006/relationships/slideLayout" Target="../slideLayouts/slideLayout318.xml"/><Relationship Id="rId3" Type="http://schemas.openxmlformats.org/officeDocument/2006/relationships/slideLayout" Target="../slideLayouts/slideLayout317.xml"/><Relationship Id="rId2" Type="http://schemas.openxmlformats.org/officeDocument/2006/relationships/slideLayout" Target="../slideLayouts/slideLayout316.xml"/><Relationship Id="rId11" Type="http://schemas.openxmlformats.org/officeDocument/2006/relationships/theme" Target="../theme/theme31.xml"/><Relationship Id="rId10" Type="http://schemas.openxmlformats.org/officeDocument/2006/relationships/slideLayout" Target="../slideLayouts/slideLayout324.xml"/><Relationship Id="rId1" Type="http://schemas.openxmlformats.org/officeDocument/2006/relationships/slideLayout" Target="../slideLayouts/slideLayout315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" Type="http://schemas.openxmlformats.org/officeDocument/2006/relationships/slideLayout" Target="../slideLayouts/slideLayout326.xml"/><Relationship Id="rId11" Type="http://schemas.openxmlformats.org/officeDocument/2006/relationships/theme" Target="../theme/theme32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3.xml"/><Relationship Id="rId8" Type="http://schemas.openxmlformats.org/officeDocument/2006/relationships/slideLayout" Target="../slideLayouts/slideLayout342.xml"/><Relationship Id="rId7" Type="http://schemas.openxmlformats.org/officeDocument/2006/relationships/slideLayout" Target="../slideLayouts/slideLayout341.xml"/><Relationship Id="rId6" Type="http://schemas.openxmlformats.org/officeDocument/2006/relationships/slideLayout" Target="../slideLayouts/slideLayout340.xml"/><Relationship Id="rId5" Type="http://schemas.openxmlformats.org/officeDocument/2006/relationships/slideLayout" Target="../slideLayouts/slideLayout339.xml"/><Relationship Id="rId4" Type="http://schemas.openxmlformats.org/officeDocument/2006/relationships/slideLayout" Target="../slideLayouts/slideLayout338.xml"/><Relationship Id="rId3" Type="http://schemas.openxmlformats.org/officeDocument/2006/relationships/slideLayout" Target="../slideLayouts/slideLayout337.xml"/><Relationship Id="rId2" Type="http://schemas.openxmlformats.org/officeDocument/2006/relationships/slideLayout" Target="../slideLayouts/slideLayout336.xml"/><Relationship Id="rId11" Type="http://schemas.openxmlformats.org/officeDocument/2006/relationships/theme" Target="../theme/theme33.xml"/><Relationship Id="rId10" Type="http://schemas.openxmlformats.org/officeDocument/2006/relationships/slideLayout" Target="../slideLayouts/slideLayout344.xml"/><Relationship Id="rId1" Type="http://schemas.openxmlformats.org/officeDocument/2006/relationships/slideLayout" Target="../slideLayouts/slideLayout335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3.xml"/><Relationship Id="rId8" Type="http://schemas.openxmlformats.org/officeDocument/2006/relationships/slideLayout" Target="../slideLayouts/slideLayout352.xml"/><Relationship Id="rId7" Type="http://schemas.openxmlformats.org/officeDocument/2006/relationships/slideLayout" Target="../slideLayouts/slideLayout351.xml"/><Relationship Id="rId6" Type="http://schemas.openxmlformats.org/officeDocument/2006/relationships/slideLayout" Target="../slideLayouts/slideLayout350.xml"/><Relationship Id="rId5" Type="http://schemas.openxmlformats.org/officeDocument/2006/relationships/slideLayout" Target="../slideLayouts/slideLayout349.xml"/><Relationship Id="rId4" Type="http://schemas.openxmlformats.org/officeDocument/2006/relationships/slideLayout" Target="../slideLayouts/slideLayout348.xml"/><Relationship Id="rId3" Type="http://schemas.openxmlformats.org/officeDocument/2006/relationships/slideLayout" Target="../slideLayouts/slideLayout347.xml"/><Relationship Id="rId2" Type="http://schemas.openxmlformats.org/officeDocument/2006/relationships/slideLayout" Target="../slideLayouts/slideLayout346.xml"/><Relationship Id="rId12" Type="http://schemas.openxmlformats.org/officeDocument/2006/relationships/theme" Target="../theme/theme34.xml"/><Relationship Id="rId11" Type="http://schemas.openxmlformats.org/officeDocument/2006/relationships/slideLayout" Target="../slideLayouts/slideLayout355.xml"/><Relationship Id="rId10" Type="http://schemas.openxmlformats.org/officeDocument/2006/relationships/slideLayout" Target="../slideLayouts/slideLayout354.xml"/><Relationship Id="rId1" Type="http://schemas.openxmlformats.org/officeDocument/2006/relationships/slideLayout" Target="../slideLayouts/slideLayout345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4.xml"/><Relationship Id="rId8" Type="http://schemas.openxmlformats.org/officeDocument/2006/relationships/slideLayout" Target="../slideLayouts/slideLayout363.xml"/><Relationship Id="rId7" Type="http://schemas.openxmlformats.org/officeDocument/2006/relationships/slideLayout" Target="../slideLayouts/slideLayout362.xml"/><Relationship Id="rId6" Type="http://schemas.openxmlformats.org/officeDocument/2006/relationships/slideLayout" Target="../slideLayouts/slideLayout361.xml"/><Relationship Id="rId5" Type="http://schemas.openxmlformats.org/officeDocument/2006/relationships/slideLayout" Target="../slideLayouts/slideLayout360.xml"/><Relationship Id="rId4" Type="http://schemas.openxmlformats.org/officeDocument/2006/relationships/slideLayout" Target="../slideLayouts/slideLayout359.xml"/><Relationship Id="rId3" Type="http://schemas.openxmlformats.org/officeDocument/2006/relationships/slideLayout" Target="../slideLayouts/slideLayout358.xml"/><Relationship Id="rId2" Type="http://schemas.openxmlformats.org/officeDocument/2006/relationships/slideLayout" Target="../slideLayouts/slideLayout357.xml"/><Relationship Id="rId12" Type="http://schemas.openxmlformats.org/officeDocument/2006/relationships/theme" Target="../theme/theme35.xml"/><Relationship Id="rId11" Type="http://schemas.openxmlformats.org/officeDocument/2006/relationships/slideLayout" Target="../slideLayouts/slideLayout366.xml"/><Relationship Id="rId10" Type="http://schemas.openxmlformats.org/officeDocument/2006/relationships/slideLayout" Target="../slideLayouts/slideLayout365.xml"/><Relationship Id="rId1" Type="http://schemas.openxmlformats.org/officeDocument/2006/relationships/slideLayout" Target="../slideLayouts/slideLayout356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68.xml"/><Relationship Id="rId13" Type="http://schemas.openxmlformats.org/officeDocument/2006/relationships/theme" Target="../theme/theme36.xml"/><Relationship Id="rId12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6.xml"/><Relationship Id="rId1" Type="http://schemas.openxmlformats.org/officeDocument/2006/relationships/slideLayout" Target="../slideLayouts/slideLayout367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7.xml"/><Relationship Id="rId8" Type="http://schemas.openxmlformats.org/officeDocument/2006/relationships/slideLayout" Target="../slideLayouts/slideLayout386.xml"/><Relationship Id="rId7" Type="http://schemas.openxmlformats.org/officeDocument/2006/relationships/slideLayout" Target="../slideLayouts/slideLayout385.xml"/><Relationship Id="rId6" Type="http://schemas.openxmlformats.org/officeDocument/2006/relationships/slideLayout" Target="../slideLayouts/slideLayout384.xml"/><Relationship Id="rId5" Type="http://schemas.openxmlformats.org/officeDocument/2006/relationships/slideLayout" Target="../slideLayouts/slideLayout383.xml"/><Relationship Id="rId4" Type="http://schemas.openxmlformats.org/officeDocument/2006/relationships/slideLayout" Target="../slideLayouts/slideLayout382.xml"/><Relationship Id="rId3" Type="http://schemas.openxmlformats.org/officeDocument/2006/relationships/slideLayout" Target="../slideLayouts/slideLayout381.xml"/><Relationship Id="rId2" Type="http://schemas.openxmlformats.org/officeDocument/2006/relationships/slideLayout" Target="../slideLayouts/slideLayout380.xml"/><Relationship Id="rId13" Type="http://schemas.openxmlformats.org/officeDocument/2006/relationships/theme" Target="../theme/theme37.xml"/><Relationship Id="rId12" Type="http://schemas.openxmlformats.org/officeDocument/2006/relationships/slideLayout" Target="../slideLayouts/slideLayout390.xml"/><Relationship Id="rId11" Type="http://schemas.openxmlformats.org/officeDocument/2006/relationships/slideLayout" Target="../slideLayouts/slideLayout389.xml"/><Relationship Id="rId10" Type="http://schemas.openxmlformats.org/officeDocument/2006/relationships/slideLayout" Target="../slideLayouts/slideLayout388.xml"/><Relationship Id="rId1" Type="http://schemas.openxmlformats.org/officeDocument/2006/relationships/slideLayout" Target="../slideLayouts/slideLayout3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</p:sldLayoutIdLst>
  <p:transition spd="slow">
    <p:push/>
  </p:transition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2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pPr defTabSz="309245">
              <a:defRPr/>
            </a:pPr>
            <a:r>
              <a:rPr lang="en-US" altLang="zh-CN" sz="800" dirty="0">
                <a:solidFill>
                  <a:srgbClr val="FFFFFF"/>
                </a:solidFill>
                <a:ea typeface="黑体" panose="02010609060101010101" pitchFamily="49" charset="-122"/>
              </a:rPr>
              <a:t>-</a:t>
            </a:r>
            <a:fld id="{FAEDECE0-B3E3-4E93-9B91-9F10B30F5B07}" type="slidenum">
              <a:rPr lang="en-US" altLang="zh-CN" sz="800">
                <a:solidFill>
                  <a:srgbClr val="FFFFFF"/>
                </a:solidFill>
                <a:ea typeface="黑体" panose="02010609060101010101" pitchFamily="49" charset="-122"/>
              </a:rPr>
            </a:fld>
            <a:r>
              <a:rPr lang="en-US" altLang="zh-CN" sz="800" dirty="0">
                <a:solidFill>
                  <a:srgbClr val="FFFFFF"/>
                </a:solidFill>
                <a:ea typeface="黑体" panose="02010609060101010101" pitchFamily="49" charset="-122"/>
              </a:rPr>
              <a:t>-</a:t>
            </a:r>
            <a:endParaRPr lang="zh-CN" altLang="en-US" sz="800" dirty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74923" y="1152979"/>
            <a:ext cx="2262158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200L</a:t>
            </a:r>
            <a:r>
              <a:rPr lang="zh-CN" altLang="en-US" sz="18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桶</a:t>
            </a:r>
            <a:r>
              <a:rPr lang="zh-CN" altLang="en-US" sz="18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静电事故</a:t>
            </a:r>
            <a:endParaRPr lang="en-US" altLang="zh-CN" sz="18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应急响应事故</a:t>
            </a: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硼烷四氢呋喃事故</a:t>
            </a: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离心机氮封失效事故</a:t>
            </a: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电缆事故</a:t>
            </a: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电加热事故</a:t>
            </a:r>
            <a:endParaRPr lang="en-US" altLang="zh-CN" sz="18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448347" y="78257"/>
            <a:ext cx="4535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algn="r" defTabSz="309245">
              <a:defRPr/>
            </a:pPr>
            <a:r>
              <a:rPr lang="zh-CN" altLang="en-US" b="1" dirty="0" smtClean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上半年安全管理</a:t>
            </a:r>
            <a:r>
              <a:rPr lang="zh-CN" altLang="en-US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</a:t>
            </a:r>
            <a:endParaRPr lang="en-US" altLang="zh-CN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4183142" y="4972335"/>
            <a:ext cx="549354" cy="12118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3" name="矩形: 圆角 5"/>
          <p:cNvSpPr/>
          <p:nvPr/>
        </p:nvSpPr>
        <p:spPr>
          <a:xfrm>
            <a:off x="270898" y="3231393"/>
            <a:ext cx="8672053" cy="1666567"/>
          </a:xfrm>
          <a:prstGeom prst="roundRect">
            <a:avLst>
              <a:gd name="adj" fmla="val 9260"/>
            </a:avLst>
          </a:prstGeom>
          <a:gradFill flip="none" rotWithShape="1">
            <a:gsLst>
              <a:gs pos="0">
                <a:srgbClr val="1633AB"/>
              </a:gs>
              <a:gs pos="100000">
                <a:srgbClr val="1D42E1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9"/>
          <p:cNvSpPr/>
          <p:nvPr/>
        </p:nvSpPr>
        <p:spPr>
          <a:xfrm>
            <a:off x="529747" y="1089450"/>
            <a:ext cx="8198310" cy="3735047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矩形 16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968908" y="1304882"/>
            <a:ext cx="30075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管控目标：实现隐患全流程闭环管控，杜绝隐患诱发安全事故</a:t>
            </a:r>
            <a:endParaRPr lang="zh-CN" altLang="zh-CN" sz="900" b="1" kern="10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CN" sz="9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落地措施：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8905" indent="-128905">
              <a:spcAft>
                <a:spcPts val="0"/>
              </a:spcAft>
              <a:buFont typeface="+mj-lt"/>
              <a:buAutoNum type="arabicPeriod"/>
            </a:pP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建立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全员隐患排查、上报、奖励机制，调动全员安全积极性；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8905" indent="-128905">
              <a:spcAft>
                <a:spcPts val="0"/>
              </a:spcAft>
              <a:buFont typeface="+mj-lt"/>
              <a:buAutoNum type="arabicPeriod"/>
            </a:pP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落实多维度排查：结合现有巡查，隐患排查体系和安全隐患台账系统，包括：驻厂巡查，值班巡查，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EHS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安全隐患排查，结合班组自查，车间主任隐患排查，部门隐患排查，厂房隐患排查，厂长全厂区隐患排查，专项检查，节假日安全检查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8905" indent="-128905">
              <a:spcAft>
                <a:spcPts val="0"/>
              </a:spcAft>
              <a:buFont typeface="+mj-lt"/>
              <a:buAutoNum type="arabicPeriod"/>
            </a:pP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隐患分级管控：划分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⼀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般、较大、重大隐患，分类建档、限期整改；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设立专人专岗管理巡查系统（隐患台账系统），及时汇总，分析隐患趋势，追踪落地</a:t>
            </a:r>
            <a:r>
              <a:rPr lang="zh-CN" altLang="zh-CN" sz="9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情况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8905" indent="-128905">
              <a:spcAft>
                <a:spcPts val="0"/>
              </a:spcAft>
              <a:buFont typeface="+mj-lt"/>
              <a:buAutoNum type="arabicPeriod"/>
            </a:pP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“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常态化排查、台账化管理、闭环式整改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”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隐患治理机制；整改完成后必须复查复检，确保隐患彻底清零； 集团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EHS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监督复查属地隐患清零情况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8905" indent="-128905">
              <a:spcAft>
                <a:spcPts val="0"/>
              </a:spcAft>
              <a:buFont typeface="+mj-lt"/>
              <a:buAutoNum type="arabicPeriod"/>
            </a:pP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风险预判机制：工艺变更，操作方式变更，季节变化（如湿度，温度），人员变更（包括新人增加），高产能利用率，提前进行风险防控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8905" indent="-128905">
              <a:spcAft>
                <a:spcPts val="0"/>
              </a:spcAft>
              <a:buFont typeface="+mj-lt"/>
              <a:buAutoNum type="arabicPeriod"/>
            </a:pP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设立生产安全委员会，专注隐患排查，整改方案审定，形成标准化整改方案；在隐患解决措施上，更多考虑自动化手段；各厂长轮值安委会负责人，暂定每季度轮换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21813" y="1076821"/>
            <a:ext cx="35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1200" b="1" u="sng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安全隐患排查治理体系</a:t>
            </a:r>
            <a:endParaRPr lang="zh-CN" altLang="zh-CN" sz="1200" b="1" u="sng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9214" y="904699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000658" y="1237825"/>
            <a:ext cx="0" cy="27391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4018170" y="1345356"/>
            <a:ext cx="239538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管控目</a:t>
            </a: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标：实现危险化学品采购、储存、使用、输送、装卸、废弃处置全过程风险可控</a:t>
            </a:r>
            <a:endParaRPr lang="zh-CN" altLang="zh-CN" sz="900" b="1" kern="10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</a:t>
            </a: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落地措施，在现有管理基础上，增加如下措施：</a:t>
            </a:r>
            <a:endParaRPr lang="zh-CN" altLang="zh-CN" sz="900" b="1" kern="10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CN" sz="9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危险化学品准入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管理，配齐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MSDS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，危害，历史事故资料，提前开展风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险辨识与安全交底，并对全链条人员培训；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公司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MSDS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管理升级，有来源，有审核；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新类型危险化学品，包括包装，大小，规格变更等，采购前，由集团危险化学品管理负责人审批； 建立集团危险化学品负责人岗责；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3.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工厂危险化学品使用，到货计划，包括研发使用危险化学品，由总工负责制定，工厂危险化学品管理负责人审批，夏季库存量满足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周使用，降低库存量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；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建立工厂危险化学品负责人岗责；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4.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危险化学品仓库增加消防级别，增加仓库及单一危险化学品专项应急预案，并演练；方案由</a:t>
            </a: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EHS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制定；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5.  </a:t>
            </a:r>
            <a:r>
              <a:rPr lang="zh-CN" altLang="zh-CN" sz="9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项目结束后危险化学品立即报废处理；</a:t>
            </a:r>
            <a:endParaRPr lang="zh-CN" altLang="zh-CN" sz="9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62731" y="1065430"/>
            <a:ext cx="33227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1200" b="1" u="sng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危险化学品全生命周期管理体系</a:t>
            </a:r>
            <a:endParaRPr lang="zh-CN" altLang="zh-CN" sz="1200" b="1" u="sng" kern="0" dirty="0">
              <a:latin typeface="微软雅黑" panose="020B0503020204020204" pitchFamily="34" charset="-122"/>
              <a:ea typeface="微软雅黑" panose="020B0503020204020204" pitchFamily="34" charset="-122"/>
              <a:cs typeface="华文楷体" panose="0201060004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406385" y="897895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1D42E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zh-CN" sz="3200" b="1" dirty="0">
              <a:solidFill>
                <a:srgbClr val="1D42E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976492" y="1288625"/>
            <a:ext cx="0" cy="26883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656786" y="1068357"/>
            <a:ext cx="22389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1200" b="1" u="sng" kern="0" dirty="0"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设备设施安全管理体系</a:t>
            </a:r>
            <a:endParaRPr lang="zh-CN" altLang="zh-CN" sz="1200" b="1" u="sng" kern="0" dirty="0">
              <a:latin typeface="微软雅黑" panose="020B0503020204020204" pitchFamily="34" charset="-122"/>
              <a:ea typeface="微软雅黑" panose="020B0503020204020204" pitchFamily="34" charset="-122"/>
              <a:cs typeface="华文楷体" panose="020106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46607" y="904699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720827" y="1288625"/>
            <a:ext cx="0" cy="26883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711040" y="1302989"/>
            <a:ext cx="177570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管控目标：保障生产设备、安全设施完好有效，杜绝设备故障和失效引发事故；</a:t>
            </a:r>
            <a:endParaRPr lang="zh-CN" altLang="zh-CN" sz="900" b="1" kern="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核心落地措施，在现有安全管理措施下，增加如下：</a:t>
            </a:r>
            <a:endParaRPr lang="zh-CN" altLang="zh-CN" sz="900" b="1" kern="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US" altLang="zh-CN" sz="900" kern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</a:t>
            </a:r>
            <a:r>
              <a:rPr lang="zh-CN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设立工厂关键设备设施</a:t>
            </a:r>
            <a:r>
              <a:rPr lang="en-US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MSE</a:t>
            </a:r>
            <a:r>
              <a:rPr lang="zh-CN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，熟悉设备构造，维护，常见事故，日常巡查；</a:t>
            </a:r>
            <a:endParaRPr lang="zh-CN" altLang="zh-CN" sz="900" kern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  </a:t>
            </a:r>
            <a:r>
              <a:rPr lang="zh-CN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立工厂设备安全巡检员，进一步完善岗责；负责全厂生产设备、配套辅助设施日常巡回安全检查，排查设备机械、电气、液压、气动、防护装置隐患，跟踪隐患整改，预防设备故障、机械伤害、设备起火等安全事故，落实设备安全常态化管控；</a:t>
            </a:r>
            <a:endParaRPr lang="zh-CN" altLang="zh-CN" sz="900" kern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3.</a:t>
            </a:r>
            <a:r>
              <a:rPr lang="zh-CN" altLang="zh-CN" sz="900" kern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各厂区尽快上线设备管理系统，将设备故障，安全隐患台账，隐患解决纳入设备安全常态化管控。</a:t>
            </a:r>
            <a:endParaRPr lang="zh-CN" altLang="zh-CN" sz="900" kern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7" name="TextBox 5"/>
          <p:cNvSpPr txBox="1">
            <a:spLocks noChangeArrowheads="1"/>
          </p:cNvSpPr>
          <p:nvPr/>
        </p:nvSpPr>
        <p:spPr bwMode="auto">
          <a:xfrm>
            <a:off x="4448347" y="78257"/>
            <a:ext cx="4535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algn="r" defTabSz="309245">
              <a:defRPr/>
            </a:pPr>
            <a:r>
              <a:rPr lang="zh-CN" altLang="en-US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重塑安全管理体系</a:t>
            </a:r>
            <a:endParaRPr lang="en-US" altLang="zh-CN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1650" y="715010"/>
            <a:ext cx="8381365" cy="285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zh-CN" sz="1300" b="1" kern="0" dirty="0">
                <a:latin typeface="等线" panose="0201060003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依据：全员安全生产责任制、双重预防机制（风险分级管控</a:t>
            </a:r>
            <a:r>
              <a:rPr lang="en-US" altLang="zh-CN" sz="1300" b="1" kern="0" dirty="0">
                <a:latin typeface="等线" panose="0201060003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+</a:t>
            </a:r>
            <a:r>
              <a:rPr lang="zh-CN" altLang="zh-CN" sz="1300" b="1" kern="0" dirty="0">
                <a:latin typeface="等线" panose="0201060003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隐患排查治理）、安全生产标准化、安全绩效考核</a:t>
            </a:r>
            <a:endParaRPr lang="zh-CN" altLang="zh-CN" sz="1300" b="1" kern="0" dirty="0">
              <a:effectLst/>
              <a:latin typeface="等线" panose="0201060003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3" name="矩形: 圆角 5"/>
          <p:cNvSpPr/>
          <p:nvPr/>
        </p:nvSpPr>
        <p:spPr>
          <a:xfrm>
            <a:off x="235973" y="3318388"/>
            <a:ext cx="8672053" cy="1666567"/>
          </a:xfrm>
          <a:prstGeom prst="roundRect">
            <a:avLst>
              <a:gd name="adj" fmla="val 9260"/>
            </a:avLst>
          </a:prstGeom>
          <a:gradFill flip="none" rotWithShape="1">
            <a:gsLst>
              <a:gs pos="0">
                <a:srgbClr val="1633AB"/>
              </a:gs>
              <a:gs pos="100000">
                <a:srgbClr val="1D42E1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9"/>
          <p:cNvSpPr/>
          <p:nvPr/>
        </p:nvSpPr>
        <p:spPr>
          <a:xfrm>
            <a:off x="548799" y="805628"/>
            <a:ext cx="8435181" cy="4082718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矩形 16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991698" y="1195027"/>
            <a:ext cx="26259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管控目标：杜绝人的不安全行为，提升全员岗位安全履职能力；</a:t>
            </a:r>
            <a:endParaRPr lang="zh-CN" altLang="zh-CN" sz="900" b="1" kern="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楷体" panose="02010600040101010101" pitchFamily="2" charset="-122"/>
            </a:endParaRPr>
          </a:p>
          <a:p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核心落地措施：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新员工严格落实厂级、车间级、班组级三级安全教育培训；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高风险设备，高风险操作提升自动化水平，并提升保护层级，减少人员直接参与操作；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增加专项培训，增加常态化复训频率，包括一线员工，车间管理人员，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EHS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安全相关岗位人员；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车间一线员工，必须是化工，制药相关专业背景，大专及以上学历，现有不满足学历和专业要求员工，在半年时间内进行培训，考核，不通过进行调岗；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针对安全管理人员开展专项安全管理能力提升培训；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在工厂增加安全培训专岗，统筹和组织安全培训实施，支持工厂安全培训体系工作开展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间生产组织形式变更，讨论；在小分子生产车间，实施按工段定岗为主，建立工段定岗责任制，正常生产状态操作人员固定所属工段，承担本工段设备操作、巡检、属地安全管理；车间项目变化很快，工艺变化很快，将实施危险反应，危险工艺，危险化学品的反应釜，设备相对固定，相应人员固定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12288" y="871716"/>
            <a:ext cx="35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人员安全教育培训体系</a:t>
            </a:r>
            <a:endParaRPr lang="zh-CN" altLang="zh-CN" sz="1200" b="1" u="sng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3189" y="699594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054633" y="1032720"/>
            <a:ext cx="0" cy="27391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 descr="e7d195523061f1c09e9d68d7cf438b91ef959ecb14fc25d26BBA7F7DBC18E55DFF4014AF651F0BF2569D4B6C1DA7F1A4683A481403BD872FC687266AD13265C1DE7C373772FD8728ABDD69ADD03BFF5BE2862BC891DBB79E3596FAE49742D9D7EC5EA3BB8EA40E97FC7D6CA729A9FC860B9E09D4912BA69676A88843FA1779BC74D3932D1483B4700E04AAF80173AFB7"/>
          <p:cNvSpPr/>
          <p:nvPr/>
        </p:nvSpPr>
        <p:spPr>
          <a:xfrm>
            <a:off x="5660513" y="1215199"/>
            <a:ext cx="33128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管控目标：破除制度纸面化，实现安全制度刚性落地、有效执行</a:t>
            </a:r>
            <a:endParaRPr lang="en-US" altLang="zh-CN" sz="900" b="1" kern="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楷体" panose="02010600040101010101" pitchFamily="2" charset="-122"/>
            </a:endParaRPr>
          </a:p>
          <a:p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全员安全责任制：各岗位具体安全职责、工作标准和追责机制，签订安全生产责任书，实现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人人有责、人人尽责、失职追责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EHS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，车间管理人员增加现场巡检频次和力度，对违章、违规行为零容忍，发现，制止，处罚，尽快全员通报，震慑，确保各项安全制度、操作规程落地执行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建立从班组，车间，厂房，厂长，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EHS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的多级监督机制；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制定工厂安全管理人员，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EHS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安全巡查人员比例要求，工厂按该要求实施；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对车间管理人员，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EHS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安全巡查人员增加明确隐患，违章排查每月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KPI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，必须发现多少安全隐患和违章行为；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畅通员工安全监督、隐患举报渠道，鼓励全员参与安全管理；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07089" y="871716"/>
            <a:ext cx="33227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应急管理</a:t>
            </a:r>
            <a:r>
              <a:rPr lang="zh-CN" altLang="en-US" sz="1200" b="1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体系</a:t>
            </a:r>
            <a:endParaRPr lang="zh-CN" altLang="en-US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50647" y="699594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552091" y="1032720"/>
            <a:ext cx="0" cy="26883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388779" y="3677095"/>
            <a:ext cx="24758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特殊作业安全管控体系</a:t>
            </a:r>
            <a:endParaRPr lang="zh-CN" altLang="zh-CN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20356" y="677962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643384" y="1083520"/>
            <a:ext cx="0" cy="2688380"/>
          </a:xfrm>
          <a:prstGeom prst="line">
            <a:avLst/>
          </a:prstGeom>
          <a:ln w="28575">
            <a:gradFill>
              <a:gsLst>
                <a:gs pos="0">
                  <a:srgbClr val="1D42E1"/>
                </a:gs>
                <a:gs pos="100000">
                  <a:srgbClr val="1D42E1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3497094" y="1193134"/>
            <a:ext cx="221814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rPr>
              <a:t>管控目标：快速处置突发事故，最大限度降低人员伤亡和财产损失；</a:t>
            </a:r>
            <a:endParaRPr lang="en-US" altLang="zh-CN" sz="900" b="1" kern="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楷体" panose="02010600040101010101" pitchFamily="2" charset="-122"/>
            </a:endParaRPr>
          </a:p>
          <a:p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健全综合应急预案、专项应急预案、岗位现场处置方案三级预案</a:t>
            </a:r>
            <a:r>
              <a:rPr lang="zh-CN" altLang="zh-CN" sz="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体系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应急物资与专业应急救援物资对齐，对消防救援材料，与当地消防部门联动，进行储备；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组建工厂专职、兼职应急救援队伍，明确岗位职责，车间义务消防员比例大于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，确保每班至少两名义务消防员配置；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每年至少开展两次泄漏、火灾、爆炸、中毒等实战化应急演练，该演练按车间，班组，厂内救援队伍为单位实施；每人均需实操相应设备，器具；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每次演练后开展复盘评估，优化预案及处置流程；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建立与消防、医院、应急管理部门的外部应急联动机制；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规范事故上报、现场警戒、人员疏散、现场处置全流程。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工厂按班组配备足够对讲机，降低防爆手机使用比例；</a:t>
            </a:r>
            <a:endParaRPr lang="zh-CN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5"/>
          <p:cNvSpPr txBox="1">
            <a:spLocks noChangeArrowheads="1"/>
          </p:cNvSpPr>
          <p:nvPr/>
        </p:nvSpPr>
        <p:spPr bwMode="auto">
          <a:xfrm>
            <a:off x="4448347" y="78257"/>
            <a:ext cx="4535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algn="r" defTabSz="309245">
              <a:defRPr/>
            </a:pPr>
            <a:r>
              <a:rPr lang="zh-CN" altLang="en-US" b="1" dirty="0">
                <a:solidFill>
                  <a:srgbClr val="1325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重塑安全管理体系</a:t>
            </a:r>
            <a:endParaRPr lang="en-US" altLang="zh-CN" b="1" dirty="0">
              <a:solidFill>
                <a:srgbClr val="1325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91860" y="829104"/>
            <a:ext cx="24758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安全管理制度落地和执行监督体系</a:t>
            </a:r>
            <a:endParaRPr lang="zh-CN" altLang="en-US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758673" y="3514113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07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56053" y="3941454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08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73205" y="4360582"/>
            <a:ext cx="6670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42E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09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42E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8778" y="4102843"/>
            <a:ext cx="24758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职业卫生与劳动保护</a:t>
            </a:r>
            <a:endParaRPr lang="zh-CN" altLang="zh-CN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388779" y="4461926"/>
            <a:ext cx="24758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工艺安全</a:t>
            </a:r>
            <a:endParaRPr lang="zh-CN" altLang="zh-CN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6909" y="791994"/>
            <a:ext cx="8893302" cy="4084477"/>
            <a:chOff x="-3100066" y="727240"/>
            <a:chExt cx="9057877" cy="4338637"/>
          </a:xfrm>
        </p:grpSpPr>
        <p:sp>
          <p:nvSpPr>
            <p:cNvPr id="58" name="文本框 57"/>
            <p:cNvSpPr txBox="1"/>
            <p:nvPr/>
          </p:nvSpPr>
          <p:spPr>
            <a:xfrm>
              <a:off x="1631955" y="734175"/>
              <a:ext cx="341216" cy="883671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车间生产秩序</a:t>
              </a:r>
              <a:endPara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10278" y="4744439"/>
              <a:ext cx="1192747" cy="32143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完善属地安全管理分工，压实安全管理责任</a:t>
              </a:r>
              <a:endPara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008940" y="727240"/>
              <a:ext cx="3948871" cy="913818"/>
            </a:xfrm>
            <a:prstGeom prst="rect">
              <a:avLst/>
            </a:prstGeom>
            <a:noFill/>
            <a:ln w="3175">
              <a:solidFill>
                <a:srgbClr val="FFC000"/>
              </a:solidFill>
            </a:ln>
          </p:spPr>
          <p:txBody>
            <a:bodyPr wrap="square" rtlCol="0">
              <a:noAutofit/>
            </a:bodyPr>
            <a:lstStyle/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公司内所有监控，不能被遮挡；推进厂房内人员定位系统安装；</a:t>
              </a:r>
              <a:endPara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项目步骤生产启动，开工前检查：设备准备、工艺风险、管道、配套附属设备、安全措施是否按公司流程执行到位，建立</a:t>
              </a:r>
              <a:r>
                <a:rPr kumimoji="0" lang="en-US" altLang="zh-CN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Checklist</a:t>
              </a: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；</a:t>
              </a:r>
              <a:r>
                <a:rPr kumimoji="0" lang="en-US" altLang="zh-CN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EHS</a:t>
              </a: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副主管，车间主任为最低级别要求；</a:t>
              </a:r>
              <a:endPara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车间现场，一个工序完成后，进行现场清理，杜绝物料，包装桶堆积在现场；</a:t>
              </a:r>
              <a:endPara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备料环节，减少车间物料存放，特别是可燃溶剂，易燃，自燃，易爆化学品</a:t>
              </a:r>
              <a:endPara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高风险操作，必须是双岗操作，相互监督，复核；</a:t>
              </a:r>
              <a:endPara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操作空间要求，对于狭小房间内操作，必须进行完一个操作，清场后，进入下一个操作</a:t>
              </a:r>
              <a:endPara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en-US" altLang="zh-CN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TJ1</a:t>
              </a:r>
              <a:r>
                <a:rPr kumimoji="0" lang="zh-CN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整改一号楼，二号楼，三号楼操作空间风险，制定整改时间表；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-3100066" y="4130876"/>
              <a:ext cx="3925459" cy="447154"/>
            </a:xfrm>
            <a:prstGeom prst="rect">
              <a:avLst/>
            </a:prstGeom>
            <a:noFill/>
            <a:ln w="3175">
              <a:solidFill>
                <a:srgbClr val="D9772D"/>
              </a:solidFill>
            </a:ln>
          </p:spPr>
          <p:txBody>
            <a:bodyPr wrap="square" rtlCol="0">
              <a:noAutofit/>
            </a:bodyPr>
            <a:lstStyle/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车间内还原剂，氧化剂，剧毒，易爆，自燃化学品使用，均应受</a:t>
              </a: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EHS</a:t>
              </a:r>
              <a:r>
                <a: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专人监督；车间使用后相关尾料，废液必须及时处理，禁止未破坏暂存；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对于酸，碱，氧化剂化学品，与所使用设备，配件材质兼容性检查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2008920" y="4578030"/>
              <a:ext cx="3948891" cy="487847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风险越高，安全管理责任更得压实；属地安全管理责任，压实到一线，同时</a:t>
              </a: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EHS</a:t>
              </a:r>
              <a:r>
                <a: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对于高风险区域，设备，操作等，也进行责任分区，压实巡查，监督责任；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450" marR="0" lvl="0" indent="-171450" algn="l" defTabSz="309880" rtl="0" eaLnBrk="0" fontAlgn="base" latinLnBrk="0" hangingPunct="0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EHS</a:t>
              </a:r>
              <a:r>
                <a: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牵头，建立分级巡查制度，完善安全管理体系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2441702" y="982312"/>
              <a:ext cx="187881" cy="2333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9" name="文本框 48"/>
          <p:cNvSpPr txBox="1"/>
          <p:nvPr/>
        </p:nvSpPr>
        <p:spPr>
          <a:xfrm>
            <a:off x="3954015" y="797572"/>
            <a:ext cx="447615" cy="85470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车间</a:t>
            </a: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200L</a:t>
            </a: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桶</a:t>
            </a: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&amp;</a:t>
            </a:r>
            <a:r>
              <a: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方槽使用管理</a:t>
            </a:r>
            <a:endParaRPr kumimoji="0" lang="zh-CN" altLang="en-US" sz="7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985249" y="1699109"/>
            <a:ext cx="416381" cy="8640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衬塑设备管理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975652" y="2657115"/>
            <a:ext cx="425977" cy="7570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氮气使用管理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016570" y="3490233"/>
            <a:ext cx="399193" cy="4060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设备管理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3162673" y="4138794"/>
            <a:ext cx="192030" cy="2196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58176" y="797573"/>
            <a:ext cx="3854127" cy="854703"/>
          </a:xfrm>
          <a:prstGeom prst="rect">
            <a:avLst/>
          </a:prstGeom>
          <a:noFill/>
          <a:ln w="3175"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TJ1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TJ4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、公斤级实验室禁止使用可燃溶剂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200L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包装进入车间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全面取缔使用桶或槽接收动态的离心或压力操作的母液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杜绝使用塑料，四氟材料桶装酸性废液；不具备条件厂区，升级塑料桶放桶操作硬件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尽最大可能减少周转桶进入车间转移废水，废水，废溶剂；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明确废液间的标准配置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建立自动化充氮及自动化灌装设备；配备氧含量监测，压力表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200L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桶加料标准化：氮气流速、泵的选型、尾气连接方式、插底管安装标准等。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公司制度要求：酸性溶剂使用塑料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四氟桶需厂长审批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66891" y="1698326"/>
            <a:ext cx="3849313" cy="880920"/>
          </a:xfrm>
          <a:prstGeom prst="rect">
            <a:avLst/>
          </a:prstGeom>
          <a:noFill/>
          <a:ln w="3175"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TJ1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TJ4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全部更换为铪氏合金离心机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压滤罐；其它厂区新采购设备更换为铪氏合金设备。已安装衬塑设备工厂评估是否更换，提供整改概算和整改时间表；如果不更换，保护措施是否足够，集团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EHS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审批。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工艺中杜绝酸性体系离心、过滤后严禁使用纯溶剂直接淋洗。如果必须使用纯溶剂淋洗，所有设备、管路及接收设备必须使用铪氏合金材质。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取缔衬塑插底管，更换为铪氏合金插底管，连接静电接地；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GMP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车间减少塑料管使用；酸性体系转移，使用内衬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halo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材质管路；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反应釜配置滴加罐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093088" y="3050132"/>
            <a:ext cx="3932122" cy="728041"/>
          </a:xfrm>
          <a:prstGeom prst="rect">
            <a:avLst/>
          </a:prstGeom>
          <a:noFill/>
          <a:ln w="3175"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建立年度安全培训专篇，对于各类安全培训，设备培训，操作培训等，进行明确频率，考核要求；涵盖生产、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EHS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不同级别管理人员考核清单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生产管理人员，每年至少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次各类设备实操考核；重要安全管理要求考核；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EHS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现场巡查人员，安全相关人员，每年至少一次设备实操考核；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未经培训和实操考核的人员，禁止进行操作，特别是项目人员；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所有人员考核视频存档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探讨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EHS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人员和生产人员轮岗办法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7742" y="2648159"/>
            <a:ext cx="3846410" cy="774790"/>
          </a:xfrm>
          <a:prstGeom prst="rect">
            <a:avLst/>
          </a:prstGeom>
          <a:noFill/>
          <a:ln w="3175"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储罐，设备上必须使用白钢氮气管路，禁止使用软管连接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车间内氮气接口不足问题，工厂整改，增加氮气源接口，或者使用氮气排解决；每条氮气管路上，必须有流量计；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使用氮气的设备，储罐，桶及其它工况（有一定耐压能力），必须有压力表；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使用氮气房间，必须有氧含量监测和报警设备；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TJ1&amp;TJ4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评估柔性隔离器氮气窒息和周围环境氮气窒息风险；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每年至少两次使用惰性气体的安全排查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67742" y="3490232"/>
            <a:ext cx="3853232" cy="391521"/>
          </a:xfrm>
          <a:prstGeom prst="rect">
            <a:avLst/>
          </a:prstGeom>
          <a:noFill/>
          <a:ln w="3175"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工厂内关键设备，高风险设备增加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SME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负责人，清楚掌握设备工作原理，安全，质量控制关键环节，影响因素，跟踪设备维保，故障情况，参与变更审批等；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增加厂房内白班和夜班设备安全巡查员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093088" y="1699109"/>
            <a:ext cx="3877142" cy="1266349"/>
          </a:xfrm>
          <a:prstGeom prst="rect">
            <a:avLst/>
          </a:prstGeom>
          <a:noFill/>
          <a:ln w="3175">
            <a:solidFill>
              <a:srgbClr val="D9772D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溶剂、可燃物料（非水敏感）在车间内的使用、存放区域包括走廊和连廊、卸料平台必须有喷淋及其他有效消防设备；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在高风险区域增加悬挂灭火器，但不能替代消防喷淋；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检查应急处置，相应演练是否有效，包括车间内各类设备如果发生泄漏、火灾；各厂区隔离器内发生着火；实验室通风处内着火等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检查相关风险隐患整改是否到位，措施是否有效处置措施。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建立义务消防员管理制度，增加车间内义务消防员工作服标志；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可燃溶剂，易燃易爆化学物使用区域，义务消防员比例不低于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40%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每年开展两次全员灭火实操考核，包括灭火器，消火栓，灭火毯；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各工厂建立专门的消防培训，实操，考核场地，用于人员培训，不仅限消防相关，包括化学品泄漏，中毒演练；工厂设置专门培训岗位；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推进防静电阻燃工作服，连体服替换，推进全覆盖安全帽替换工作；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000909" y="3998147"/>
            <a:ext cx="414854" cy="57571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物料和生产禁忌要求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093088" y="3845585"/>
            <a:ext cx="3877169" cy="491843"/>
          </a:xfrm>
          <a:prstGeom prst="rect">
            <a:avLst/>
          </a:prstGeom>
          <a:noFill/>
          <a:ln w="3175"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巡查条例更新，增加巡查案例，并对巡查人员进行培训，并重新考察车间巡查人员范围，必须是对于生产操作，车间风险熟悉的人员</a:t>
            </a:r>
            <a:endParaRPr kumimoji="0" lang="en-US" altLang="zh-CN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880" rtl="0" eaLnBrk="0" fontAlgn="base" latinLnBrk="0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对于巡查，检查走过场的人员，首次警告，第二次扣分，第三次撤销管理职务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33375" y="3050132"/>
            <a:ext cx="319504" cy="7280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培训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22951" y="3842347"/>
            <a:ext cx="329927" cy="49508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巡查管理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22951" y="1699109"/>
            <a:ext cx="334697" cy="124946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消防应急</a:t>
            </a:r>
            <a:endParaRPr kumimoji="0" lang="zh-CN" altLang="en-US" sz="7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4572224" y="792028"/>
            <a:ext cx="14" cy="3757439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曲线连接符 7"/>
          <p:cNvCxnSpPr>
            <a:stCxn id="49" idx="3"/>
          </p:cNvCxnSpPr>
          <p:nvPr userDrawn="1"/>
        </p:nvCxnSpPr>
        <p:spPr>
          <a:xfrm>
            <a:off x="4401630" y="1224924"/>
            <a:ext cx="14133" cy="1243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49" idx="3"/>
            <a:endCxn id="58" idx="1"/>
          </p:cNvCxnSpPr>
          <p:nvPr userDrawn="1"/>
        </p:nvCxnSpPr>
        <p:spPr>
          <a:xfrm flipV="1">
            <a:off x="4401630" y="1214476"/>
            <a:ext cx="321322" cy="1044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50" idx="3"/>
            <a:endCxn id="6" idx="1"/>
          </p:cNvCxnSpPr>
          <p:nvPr userDrawn="1"/>
        </p:nvCxnSpPr>
        <p:spPr>
          <a:xfrm>
            <a:off x="4401630" y="2131132"/>
            <a:ext cx="321321" cy="19271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60" idx="3"/>
            <a:endCxn id="4" idx="1"/>
          </p:cNvCxnSpPr>
          <p:nvPr userDrawn="1"/>
        </p:nvCxnSpPr>
        <p:spPr>
          <a:xfrm>
            <a:off x="4401629" y="3035634"/>
            <a:ext cx="331746" cy="37851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61" idx="3"/>
            <a:endCxn id="5" idx="1"/>
          </p:cNvCxnSpPr>
          <p:nvPr userDrawn="1"/>
        </p:nvCxnSpPr>
        <p:spPr>
          <a:xfrm>
            <a:off x="4415763" y="3693242"/>
            <a:ext cx="307188" cy="39664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55" idx="3"/>
            <a:endCxn id="5" idx="1"/>
          </p:cNvCxnSpPr>
          <p:nvPr userDrawn="1"/>
        </p:nvCxnSpPr>
        <p:spPr>
          <a:xfrm flipV="1">
            <a:off x="4415763" y="4089888"/>
            <a:ext cx="307188" cy="19611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837422" y="56612"/>
            <a:ext cx="6027043" cy="34240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rPr>
              <a:t>200L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rPr>
              <a:t>桶事故整改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3255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9" y="822962"/>
            <a:ext cx="3764583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设备信息管理系统（EIMS）</a:t>
            </a:r>
            <a:endParaRPr sz="120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9" y="1014987"/>
            <a:ext cx="3764583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Equipment Information Management System</a:t>
            </a:r>
            <a:endParaRPr sz="715" b="1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4049" y="1193294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5" name="TextBox 4"/>
          <p:cNvSpPr txBox="1"/>
          <p:nvPr/>
        </p:nvSpPr>
        <p:spPr>
          <a:xfrm>
            <a:off x="493777" y="1179578"/>
            <a:ext cx="365485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2026 年上半年工作回顾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9" y="1371603"/>
            <a:ext cx="1834286" cy="630938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7" name="TextBox 6"/>
          <p:cNvSpPr txBox="1"/>
          <p:nvPr/>
        </p:nvSpPr>
        <p:spPr>
          <a:xfrm>
            <a:off x="480061" y="1440183"/>
            <a:ext cx="1642261" cy="147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EIMS 完成验证 · 设备预防性维护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1" y="1589631"/>
            <a:ext cx="1642261" cy="382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40">
                <a:solidFill>
                  <a:srgbClr val="16283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按照年度计划在 DH1 工厂完成 EIMS 系统验证，具备上线运行使用条件，预计 8 月份正式上线使用（其他工厂提交变更启用）。</a:t>
            </a:r>
            <a:endParaRPr sz="640">
              <a:solidFill>
                <a:srgbClr val="16283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14346" y="1371603"/>
            <a:ext cx="1834286" cy="630938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10" name="TextBox 9"/>
          <p:cNvSpPr txBox="1"/>
          <p:nvPr/>
        </p:nvSpPr>
        <p:spPr>
          <a:xfrm>
            <a:off x="2410359" y="1440183"/>
            <a:ext cx="1642261" cy="147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设备故障报修模块覆盖使用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10359" y="1589631"/>
            <a:ext cx="1642261" cy="382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40">
                <a:solidFill>
                  <a:srgbClr val="16283F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设备故障报修模块各工厂已启用，自 1 月份启动以来，累计报修 4,804 次，已闭环处理 2,539 单（TJ3/DH1 报修量最高）。</a:t>
            </a:r>
            <a:endParaRPr sz="640">
              <a:solidFill>
                <a:srgbClr val="16283F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4049" y="2084837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13" name="TextBox 12"/>
          <p:cNvSpPr txBox="1"/>
          <p:nvPr/>
        </p:nvSpPr>
        <p:spPr>
          <a:xfrm>
            <a:off x="493777" y="2071121"/>
            <a:ext cx="365485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系统实施里程碑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63513" y="2331725"/>
            <a:ext cx="0" cy="1069851"/>
          </a:xfrm>
          <a:prstGeom prst="line">
            <a:avLst/>
          </a:prstGeom>
          <a:ln w="15240">
            <a:solidFill>
              <a:srgbClr val="C6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8935" y="2328296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16" name="TextBox 15"/>
          <p:cNvSpPr txBox="1"/>
          <p:nvPr/>
        </p:nvSpPr>
        <p:spPr>
          <a:xfrm>
            <a:off x="384049" y="2302662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3241" y="2291859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系统功能开发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23635" y="2310036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1、EIMS 系统功能开发；2、完成变更控制文件与 URS 签批；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935" y="2575185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20" name="TextBox 19"/>
          <p:cNvSpPr txBox="1"/>
          <p:nvPr/>
        </p:nvSpPr>
        <p:spPr>
          <a:xfrm>
            <a:off x="384049" y="2549551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3241" y="2538748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UAT 用户测试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3635" y="2560676"/>
            <a:ext cx="2585004" cy="1181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0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1、EIMS 系统环境测试；2、UAT 及 VP、RAR、FS 签批，UAT 用户测试；</a:t>
            </a:r>
            <a:endParaRPr sz="60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8935" y="2822074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24" name="TextBox 23"/>
          <p:cNvSpPr txBox="1"/>
          <p:nvPr/>
        </p:nvSpPr>
        <p:spPr>
          <a:xfrm>
            <a:off x="384049" y="2796439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4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3241" y="2785637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文件撰写审批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23635" y="2803814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1、CS+DS+代码审核和 UTITPR；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8935" y="3068963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28" name="TextBox 27"/>
          <p:cNvSpPr txBox="1"/>
          <p:nvPr/>
        </p:nvSpPr>
        <p:spPr>
          <a:xfrm>
            <a:off x="384049" y="3043328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5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3241" y="3032526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系统验证执行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23635" y="3050703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1、3Q 验证执行和验证报告签批；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8935" y="3315851"/>
            <a:ext cx="89154" cy="89154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32" name="TextBox 31"/>
          <p:cNvSpPr txBox="1"/>
          <p:nvPr/>
        </p:nvSpPr>
        <p:spPr>
          <a:xfrm>
            <a:off x="384049" y="3290216"/>
            <a:ext cx="192024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15" b="1">
                <a:solidFill>
                  <a:srgbClr val="8A5D0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 月</a:t>
            </a:r>
            <a:endParaRPr sz="715" b="1">
              <a:solidFill>
                <a:srgbClr val="8A5D0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3241" y="3279414"/>
            <a:ext cx="822962" cy="155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系统放行与培训</a:t>
            </a:r>
            <a:endParaRPr sz="790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23635" y="3297591"/>
            <a:ext cx="2585004" cy="125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1、EIMS 系统 SOP 生效培训；2、EIMS 系统验证后放行；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84049" y="3607317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36" name="TextBox 35"/>
          <p:cNvSpPr txBox="1"/>
          <p:nvPr/>
        </p:nvSpPr>
        <p:spPr>
          <a:xfrm>
            <a:off x="493777" y="3593600"/>
            <a:ext cx="365485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2026 年下半年工作计划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84049" y="3785625"/>
            <a:ext cx="3764583" cy="249174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38" name="TextBox 37"/>
          <p:cNvSpPr txBox="1"/>
          <p:nvPr/>
        </p:nvSpPr>
        <p:spPr>
          <a:xfrm>
            <a:off x="480061" y="3840001"/>
            <a:ext cx="1062992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设备全生命周期管理</a:t>
            </a:r>
            <a:endParaRPr sz="71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3054" y="3788512"/>
            <a:ext cx="2509566" cy="24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基于设备全生命周期管理 (ASM-037)：内控平台功能模块开发（备品备件管理），进一步完善设备全生命周期管理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84049" y="4069090"/>
            <a:ext cx="3764583" cy="249174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41" name="TextBox 40"/>
          <p:cNvSpPr txBox="1"/>
          <p:nvPr/>
        </p:nvSpPr>
        <p:spPr>
          <a:xfrm>
            <a:off x="480061" y="4123465"/>
            <a:ext cx="1062992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设备故障看板与报表</a:t>
            </a:r>
            <a:endParaRPr sz="71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43054" y="4071977"/>
            <a:ext cx="2509566" cy="24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优化设备故障分析仪表盘原型设计，实现设备故障分析报表和数据可视化。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84049" y="4352555"/>
            <a:ext cx="3764583" cy="249174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44" name="TextBox 43"/>
          <p:cNvSpPr txBox="1"/>
          <p:nvPr/>
        </p:nvSpPr>
        <p:spPr>
          <a:xfrm>
            <a:off x="480061" y="4406930"/>
            <a:ext cx="1062992" cy="1404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内控平台数据互通</a:t>
            </a:r>
            <a:endParaRPr sz="71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43054" y="4355442"/>
            <a:ext cx="2509566" cy="24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内控平台功能升级、历史数据迁移及验证环境数据共享，实现与 EIMS 的数据互通，预计 8 月份完成。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10507" y="822962"/>
            <a:ext cx="4419293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dirty="0" err="1" smtClean="0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巡检管理系统</a:t>
            </a:r>
            <a:r>
              <a:rPr lang="zh-CN" altLang="en-US" sz="1200" b="1" dirty="0" smtClean="0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和隐患台账</a:t>
            </a:r>
            <a:endParaRPr sz="1200" b="1" dirty="0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10507" y="1014987"/>
            <a:ext cx="4419293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15" b="1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Inspection Management System · EHS 隐患排查</a:t>
            </a:r>
            <a:endParaRPr sz="715" b="1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10507" y="1207011"/>
            <a:ext cx="37719" cy="13716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sp>
        <p:nvSpPr>
          <p:cNvPr id="49" name="TextBox 48"/>
          <p:cNvSpPr txBox="1"/>
          <p:nvPr/>
        </p:nvSpPr>
        <p:spPr>
          <a:xfrm>
            <a:off x="4520236" y="1193294"/>
            <a:ext cx="4309565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75" b="1">
                <a:solidFill>
                  <a:srgbClr val="003669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系统界面与隐患台账</a:t>
            </a:r>
            <a:endParaRPr sz="975" b="1">
              <a:solidFill>
                <a:srgbClr val="003669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410507" y="1385319"/>
            <a:ext cx="4419293" cy="2000880"/>
          </a:xfrm>
          <a:prstGeom prst="roundRect">
            <a:avLst>
              <a:gd name="adj" fmla="val 2000"/>
            </a:avLst>
          </a:prstGeom>
          <a:solidFill>
            <a:srgbClr val="DDE7F3"/>
          </a:solidFill>
          <a:ln w="9525">
            <a:solidFill>
              <a:srgbClr val="C6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565"/>
          </a:p>
        </p:txBody>
      </p:sp>
      <p:pic>
        <p:nvPicPr>
          <p:cNvPr id="51" name="Picture 50" descr="巡检管理系统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5372" y="1456974"/>
            <a:ext cx="4309565" cy="18575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410507" y="3441064"/>
            <a:ext cx="4419293" cy="315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dirty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EHS </a:t>
            </a:r>
            <a:r>
              <a:rPr sz="800" dirty="0" err="1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隐患排查台账（查询区间</a:t>
            </a:r>
            <a:r>
              <a:rPr sz="800" dirty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2026-01-01 至 2026-07-30；截图显示累计 35,684 条</a:t>
            </a:r>
            <a:r>
              <a:rPr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）</a:t>
            </a:r>
            <a:endParaRPr lang="en-US" sz="800" dirty="0" smtClean="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algn="l">
              <a:lnSpc>
                <a:spcPct val="128000"/>
              </a:lnSpc>
            </a:pPr>
            <a:r>
              <a:rPr lang="zh-CN" altLang="en-US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其中关于</a:t>
            </a:r>
            <a:r>
              <a:rPr lang="en-US" altLang="zh-CN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200L</a:t>
            </a:r>
            <a:r>
              <a:rPr lang="zh-CN" altLang="en-US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桶的隐患发现项</a:t>
            </a:r>
            <a:r>
              <a:rPr lang="en-US" altLang="zh-CN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288</a:t>
            </a:r>
            <a:r>
              <a:rPr lang="zh-CN" altLang="en-US" sz="800" dirty="0" smtClean="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条。</a:t>
            </a:r>
            <a:endParaRPr sz="800" dirty="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049" y="4732032"/>
            <a:ext cx="8373638" cy="12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640">
                <a:solidFill>
                  <a:srgbClr val="4E6584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设备系统数据来自设备管理系统汇报材料；巡检系统信息取自系统界面截图</a:t>
            </a:r>
            <a:endParaRPr sz="640">
              <a:solidFill>
                <a:srgbClr val="4E6584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4" name="TextBox 5"/>
          <p:cNvSpPr txBox="1">
            <a:spLocks noChangeArrowheads="1"/>
          </p:cNvSpPr>
          <p:nvPr/>
        </p:nvSpPr>
        <p:spPr bwMode="auto">
          <a:xfrm>
            <a:off x="4786980" y="136785"/>
            <a:ext cx="4166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2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26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设备管理系统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26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&amp;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26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巡检管理系统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B266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 flipH="1">
            <a:off x="4204335" y="1014730"/>
            <a:ext cx="80645" cy="38430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3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 defTabSz="1828800" fontAlgn="ctr">
          <a:spcBef>
            <a:spcPts val="0"/>
          </a:spcBef>
          <a:spcAft>
            <a:spcPts val="0"/>
          </a:spcAft>
          <a:defRPr sz="24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just">
          <a:spcAft>
            <a:spcPts val="0"/>
          </a:spcAft>
          <a:defRPr sz="2400" kern="100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3vdqsx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4912</Words>
  <Application>WPS Presentation</Application>
  <PresentationFormat>全屏显示(16:9)</PresentationFormat>
  <Paragraphs>274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37</vt:i4>
      </vt:variant>
      <vt:variant>
        <vt:lpstr>幻灯片标题</vt:lpstr>
      </vt:variant>
      <vt:variant>
        <vt:i4>5</vt:i4>
      </vt:variant>
    </vt:vector>
  </HeadingPairs>
  <TitlesOfParts>
    <vt:vector size="59" baseType="lpstr">
      <vt:lpstr>Arial</vt:lpstr>
      <vt:lpstr>宋体</vt:lpstr>
      <vt:lpstr>Wingdings</vt:lpstr>
      <vt:lpstr>Helvetica Neue</vt:lpstr>
      <vt:lpstr>微软雅黑</vt:lpstr>
      <vt:lpstr>Arial</vt:lpstr>
      <vt:lpstr>华文楷体</vt:lpstr>
      <vt:lpstr>Times New Roman</vt:lpstr>
      <vt:lpstr>Helvetica Light</vt:lpstr>
      <vt:lpstr>Open Sans</vt:lpstr>
      <vt:lpstr>等线</vt:lpstr>
      <vt:lpstr>Times New Roman</vt:lpstr>
      <vt:lpstr>Helvetica Neue</vt:lpstr>
      <vt:lpstr>黑体</vt:lpstr>
      <vt:lpstr>Arial Unicode MS</vt:lpstr>
      <vt:lpstr>Arial Black</vt:lpstr>
      <vt:lpstr>Segoe Print</vt:lpstr>
      <vt:lpstr>4_webwppDefTheme</vt:lpstr>
      <vt:lpstr>5_webwppDefTheme</vt:lpstr>
      <vt:lpstr>9_webwppDefTheme</vt:lpstr>
      <vt:lpstr>6_webwppDefTheme</vt:lpstr>
      <vt:lpstr>webwppDefTheme</vt:lpstr>
      <vt:lpstr>11_webwppDefTheme</vt:lpstr>
      <vt:lpstr>1_webwppDefTheme</vt:lpstr>
      <vt:lpstr>3_webwppDefTheme</vt:lpstr>
      <vt:lpstr>2_webwppDefTheme</vt:lpstr>
      <vt:lpstr>12_webwppDefTheme</vt:lpstr>
      <vt:lpstr>7_webwppDefTheme</vt:lpstr>
      <vt:lpstr>51_webwppDefTheme</vt:lpstr>
      <vt:lpstr>8_webwppDefTheme</vt:lpstr>
      <vt:lpstr>13_webwppDefTheme</vt:lpstr>
      <vt:lpstr>10_webwppDefTheme</vt:lpstr>
      <vt:lpstr>14_webwppDefTheme</vt:lpstr>
      <vt:lpstr>15_webwppDefTheme</vt:lpstr>
      <vt:lpstr>16_webwppDefTheme</vt:lpstr>
      <vt:lpstr>17_webwppDefTheme</vt:lpstr>
      <vt:lpstr>18_webwppDefTheme</vt:lpstr>
      <vt:lpstr>19_webwppDefTheme</vt:lpstr>
      <vt:lpstr>20_webwppDefTheme</vt:lpstr>
      <vt:lpstr>21_webwppDefTheme</vt:lpstr>
      <vt:lpstr>22_webwppDefTheme</vt:lpstr>
      <vt:lpstr>23_webwppDefTheme</vt:lpstr>
      <vt:lpstr>36_webwppDefTheme</vt:lpstr>
      <vt:lpstr>37_webwppDefTheme</vt:lpstr>
      <vt:lpstr>24_webwppDefTheme</vt:lpstr>
      <vt:lpstr>25_webwppDefTheme</vt:lpstr>
      <vt:lpstr>27_webwppDefTheme</vt:lpstr>
      <vt:lpstr>28_webwppDefTheme</vt:lpstr>
      <vt:lpstr>26_webwppDefTheme</vt:lpstr>
      <vt:lpstr>54_webwppDefTheme</vt:lpstr>
      <vt:lpstr>29_webwppDefTheme</vt:lpstr>
      <vt:lpstr>30_webwppDefTheme</vt:lpstr>
      <vt:lpstr>1_White</vt:lpstr>
      <vt:lpstr>4_White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李涛</cp:lastModifiedBy>
  <cp:revision>2204</cp:revision>
  <cp:lastPrinted>2020-08-24T06:52:00Z</cp:lastPrinted>
  <dcterms:created xsi:type="dcterms:W3CDTF">2020-08-24T06:52:00Z</dcterms:created>
  <dcterms:modified xsi:type="dcterms:W3CDTF">2026-07-30T11:07:53Z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6CE3AC170A46476F9F966556CB5A9253</vt:lpwstr>
  </property>
</Properties>
</file>
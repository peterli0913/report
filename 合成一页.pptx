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59" r:id="rId2"/>
  </p:sldMasterIdLst>
  <p:notesMasterIdLst>
    <p:notesMasterId r:id="rId5"/>
  </p:notesMasterIdLst>
  <p:sldIdLst>
    <p:sldId id="4736" r:id="rId3"/>
    <p:sldId id="4776" r:id="rId4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983">
          <p15:clr>
            <a:srgbClr val="A4A3A4"/>
          </p15:clr>
        </p15:guide>
        <p15:guide id="2" orient="horz" pos="8062">
          <p15:clr>
            <a:srgbClr val="A4A3A4"/>
          </p15:clr>
        </p15:guide>
        <p15:guide id="3" orient="horz" pos="691">
          <p15:clr>
            <a:srgbClr val="A4A3A4"/>
          </p15:clr>
        </p15:guide>
        <p15:guide id="4" orient="horz" pos="393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2" name="Yanan Liu" initials="YL" lastIdx="1" clrIdx="1"/>
  <p:cmAuthor id="2000" name="刘亚利_R3Q3Vjm6" initials="authorId_690327896" lastIdx="164094793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A6DB4"/>
    <a:srgbClr val="FF8B8B"/>
    <a:srgbClr val="FF6D6D"/>
    <a:srgbClr val="00356A"/>
    <a:srgbClr val="DEEBF7"/>
    <a:srgbClr val="BFBFBF"/>
    <a:srgbClr val="D2DEEF"/>
    <a:srgbClr val="CC00CC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4" autoAdjust="0"/>
    <p:restoredTop sz="95799" autoAdjust="0"/>
  </p:normalViewPr>
  <p:slideViewPr>
    <p:cSldViewPr snapToGrid="0" snapToObjects="1">
      <p:cViewPr varScale="1">
        <p:scale>
          <a:sx n="35" d="100"/>
          <a:sy n="35" d="100"/>
        </p:scale>
        <p:origin x="664" y="64"/>
      </p:cViewPr>
      <p:guideLst>
        <p:guide pos="14983"/>
        <p:guide orient="horz" pos="8062"/>
        <p:guide orient="horz" pos="691"/>
        <p:guide orient="horz" pos="39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anose="020005030000000200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11" indent="0" algn="ctr">
              <a:buNone/>
              <a:defRPr sz="4000"/>
            </a:lvl2pPr>
            <a:lvl3pPr marL="1828823" indent="0" algn="ctr">
              <a:buNone/>
              <a:defRPr sz="3600"/>
            </a:lvl3pPr>
            <a:lvl4pPr marL="2743234" indent="0" algn="ctr">
              <a:buNone/>
              <a:defRPr sz="3200"/>
            </a:lvl4pPr>
            <a:lvl5pPr marL="3657646" indent="0" algn="ctr">
              <a:buNone/>
              <a:defRPr sz="3200"/>
            </a:lvl5pPr>
            <a:lvl6pPr marL="4572057" indent="0" algn="ctr">
              <a:buNone/>
              <a:defRPr sz="3200"/>
            </a:lvl6pPr>
            <a:lvl7pPr marL="5486469" indent="0" algn="ctr">
              <a:buNone/>
              <a:defRPr sz="3200"/>
            </a:lvl7pPr>
            <a:lvl8pPr marL="6400880" indent="0" algn="ctr">
              <a:buNone/>
              <a:defRPr sz="3200"/>
            </a:lvl8pPr>
            <a:lvl9pPr marL="7315291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20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619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3419479"/>
            <a:ext cx="21031200" cy="5705475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9178928"/>
            <a:ext cx="21031200" cy="3000373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11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23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4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5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6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9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762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556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3362325"/>
            <a:ext cx="1031557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5010151"/>
            <a:ext cx="10315573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2325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0151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601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83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914400"/>
            <a:ext cx="7864475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2"/>
            <a:ext cx="12344400" cy="9747251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114801"/>
            <a:ext cx="7864475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11" indent="0">
              <a:buNone/>
              <a:defRPr sz="2800"/>
            </a:lvl2pPr>
            <a:lvl3pPr marL="1828823" indent="0">
              <a:buNone/>
              <a:defRPr sz="2400"/>
            </a:lvl3pPr>
            <a:lvl4pPr marL="2743234" indent="0">
              <a:buNone/>
              <a:defRPr sz="2000"/>
            </a:lvl4pPr>
            <a:lvl5pPr marL="3657646" indent="0">
              <a:buNone/>
              <a:defRPr sz="2000"/>
            </a:lvl5pPr>
            <a:lvl6pPr marL="4572057" indent="0">
              <a:buNone/>
              <a:defRPr sz="2000"/>
            </a:lvl6pPr>
            <a:lvl7pPr marL="5486469" indent="0">
              <a:buNone/>
              <a:defRPr sz="2000"/>
            </a:lvl7pPr>
            <a:lvl8pPr marL="6400880" indent="0">
              <a:buNone/>
              <a:defRPr sz="2000"/>
            </a:lvl8pPr>
            <a:lvl9pPr marL="7315291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09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98597" y="11999600"/>
            <a:ext cx="68604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72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598599" y="1140953"/>
            <a:ext cx="4280435" cy="85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44" y="1577792"/>
            <a:ext cx="4532203" cy="106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6139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749573" y="13242975"/>
            <a:ext cx="884859" cy="636072"/>
          </a:xfrm>
        </p:spPr>
        <p:txBody>
          <a:bodyPr/>
          <a:lstStyle>
            <a:lvl1pPr algn="ctr"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0463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47" y="1636683"/>
            <a:ext cx="5618781" cy="13143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14359355" y="-5194588"/>
            <a:ext cx="20245232" cy="1912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99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254482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216008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0078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6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9862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1"/>
            <a:ext cx="21031200" cy="870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8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1828823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6" indent="-457206" algn="l" defTabSz="182882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1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29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40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51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63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74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86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9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1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23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34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57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69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8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9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5512">
              <a:defRPr/>
            </a:pPr>
            <a:r>
              <a:rPr lang="en-US" altLang="zh-CN">
                <a:solidFill>
                  <a:srgbClr val="FFFFFF"/>
                </a:solidFill>
              </a:rPr>
              <a:t>-</a:t>
            </a:r>
            <a:fld id="{FAEDECE0-B3E3-4E93-9B91-9F10B30F5B07}" type="slidenum">
              <a:rPr lang="en-US" altLang="zh-CN">
                <a:solidFill>
                  <a:srgbClr val="FFFFFF"/>
                </a:solidFill>
              </a:rPr>
              <a:pPr defTabSz="825512">
                <a:defRPr/>
              </a:pPr>
              <a:t>1</a:t>
            </a:fld>
            <a:r>
              <a:rPr lang="en-US" altLang="zh-CN">
                <a:solidFill>
                  <a:srgbClr val="FFFFFF"/>
                </a:solidFill>
              </a:rPr>
              <a:t>-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矩形: 圆角 5"/>
          <p:cNvSpPr/>
          <p:nvPr/>
        </p:nvSpPr>
        <p:spPr>
          <a:xfrm>
            <a:off x="629263" y="8849036"/>
            <a:ext cx="23125475" cy="4444179"/>
          </a:xfrm>
          <a:prstGeom prst="roundRect">
            <a:avLst>
              <a:gd name="adj" fmla="val 9260"/>
            </a:avLst>
          </a:prstGeom>
          <a:gradFill flip="none" rotWithShape="1">
            <a:gsLst>
              <a:gs pos="0">
                <a:srgbClr val="1633AB"/>
              </a:gs>
              <a:gs pos="100000">
                <a:srgbClr val="1D42E1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1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80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4" name="矩形: 圆角 9"/>
          <p:cNvSpPr/>
          <p:nvPr/>
        </p:nvSpPr>
        <p:spPr>
          <a:xfrm>
            <a:off x="1260920" y="2082800"/>
            <a:ext cx="21862160" cy="10887248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1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80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7" name="矩形 16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2558356" y="2932740"/>
            <a:ext cx="7144445" cy="877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>
              <a:spcAft>
                <a:spcPts val="0"/>
              </a:spcAft>
            </a:pP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defTabSz="825512"/>
            <a:r>
              <a:rPr lang="zh-CN" altLang="zh-CN" dirty="0"/>
              <a:t>一、人员管理类高频合规性问题：着装，培训，外来人员管理，复核，隐瞒不报</a:t>
            </a:r>
            <a:endParaRPr lang="zh-CN" altLang="zh-CN" b="1" dirty="0"/>
          </a:p>
          <a:p>
            <a:pPr defTabSz="825512"/>
            <a:r>
              <a:rPr lang="zh-CN" altLang="zh-CN" dirty="0"/>
              <a:t>二、物料、中间产品管理类（混淆、交叉污染）</a:t>
            </a:r>
            <a:endParaRPr lang="zh-CN" altLang="zh-CN" b="1" dirty="0"/>
          </a:p>
          <a:p>
            <a:pPr defTabSz="825512"/>
            <a:r>
              <a:rPr lang="zh-CN" altLang="zh-CN" dirty="0"/>
              <a:t>三、工艺操作合规问题</a:t>
            </a:r>
            <a:endParaRPr lang="zh-CN" altLang="zh-CN" b="1" dirty="0"/>
          </a:p>
          <a:p>
            <a:pPr defTabSz="825512"/>
            <a:r>
              <a:rPr lang="zh-CN" altLang="zh-CN" dirty="0"/>
              <a:t>四、设备、设施相关问题（衔接设备安全巡检）：状态，标识，清洁，跑冒滴漏，交叉污染；</a:t>
            </a:r>
            <a:endParaRPr lang="zh-CN" altLang="zh-CN" b="1" dirty="0"/>
          </a:p>
          <a:p>
            <a:pPr defTabSz="825512"/>
            <a:r>
              <a:rPr lang="zh-CN" altLang="zh-CN" dirty="0"/>
              <a:t>五、洁净区环境与公用系统（无菌车间重灾区）</a:t>
            </a:r>
            <a:endParaRPr lang="zh-CN" altLang="zh-CN" b="1" dirty="0"/>
          </a:p>
          <a:p>
            <a:pPr defTabSz="825512"/>
            <a:r>
              <a:rPr lang="zh-CN" altLang="zh-CN" dirty="0"/>
              <a:t>六、记录与文件缺陷（飞检第一关注重点）</a:t>
            </a:r>
            <a:endParaRPr lang="en-US" altLang="zh-CN" dirty="0"/>
          </a:p>
          <a:p>
            <a:pPr defTabSz="825512"/>
            <a:r>
              <a:rPr lang="zh-CN" altLang="zh-CN" dirty="0"/>
              <a:t>七、计算机化系统</a:t>
            </a:r>
            <a:r>
              <a:rPr lang="en-US" altLang="zh-CN" dirty="0"/>
              <a:t> &amp; </a:t>
            </a:r>
            <a:r>
              <a:rPr lang="zh-CN" altLang="zh-CN" dirty="0"/>
              <a:t>数据完整性问题</a:t>
            </a:r>
            <a:endParaRPr lang="zh-CN" altLang="zh-CN" b="1" dirty="0"/>
          </a:p>
          <a:p>
            <a:pPr defTabSz="825512"/>
            <a:r>
              <a:rPr lang="zh-CN" altLang="zh-CN" dirty="0"/>
              <a:t>八、质量体系工具落地问题（偏差、变更、</a:t>
            </a:r>
            <a:r>
              <a:rPr lang="en-US" altLang="zh-CN" dirty="0"/>
              <a:t>CAPA</a:t>
            </a:r>
            <a:r>
              <a:rPr lang="zh-CN" altLang="zh-CN" dirty="0"/>
              <a:t>、</a:t>
            </a:r>
            <a:r>
              <a:rPr lang="en-US" altLang="zh-CN" dirty="0"/>
              <a:t>OOS</a:t>
            </a:r>
            <a:r>
              <a:rPr lang="zh-CN" altLang="zh-CN" dirty="0"/>
              <a:t>瞒报，调查不充分）</a:t>
            </a:r>
            <a:endParaRPr lang="zh-CN" altLang="zh-CN" b="1" dirty="0"/>
          </a:p>
          <a:p>
            <a:pPr defTabSz="825512"/>
            <a:r>
              <a:rPr lang="zh-CN" altLang="zh-CN" dirty="0"/>
              <a:t>九、现场</a:t>
            </a:r>
            <a:r>
              <a:rPr lang="en-US" altLang="zh-CN" dirty="0"/>
              <a:t> EHS </a:t>
            </a:r>
            <a:r>
              <a:rPr lang="zh-CN" altLang="zh-CN" dirty="0"/>
              <a:t>合规问题（</a:t>
            </a:r>
            <a:r>
              <a:rPr lang="en-US" altLang="zh-CN" dirty="0"/>
              <a:t>GMP + </a:t>
            </a:r>
            <a:r>
              <a:rPr lang="zh-CN" altLang="zh-CN" dirty="0"/>
              <a:t>安全生产双重要求）</a:t>
            </a:r>
            <a:endParaRPr lang="zh-CN" altLang="zh-CN" b="1" dirty="0"/>
          </a:p>
          <a:p>
            <a:pPr defTabSz="825512"/>
            <a:endParaRPr lang="en-US" altLang="zh-CN" b="1" dirty="0"/>
          </a:p>
          <a:p>
            <a:pPr defTabSz="825512"/>
            <a:r>
              <a:rPr lang="zh-CN" altLang="zh-CN" b="1" dirty="0">
                <a:solidFill>
                  <a:srgbClr val="FF0000"/>
                </a:solidFill>
              </a:rPr>
              <a:t>重大高风险缺陷（极易导致官方警告、停产）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伪造、篡改生产</a:t>
            </a:r>
            <a:r>
              <a:rPr lang="en-US" altLang="zh-CN" dirty="0"/>
              <a:t> / </a:t>
            </a:r>
            <a:r>
              <a:rPr lang="zh-CN" altLang="zh-CN" dirty="0"/>
              <a:t>检验原始数据；共享账号规避系统管控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未经</a:t>
            </a:r>
            <a:r>
              <a:rPr lang="en-US" altLang="zh-CN" dirty="0"/>
              <a:t> QA </a:t>
            </a:r>
            <a:r>
              <a:rPr lang="zh-CN" altLang="zh-CN" dirty="0"/>
              <a:t>放行物料投入生产</a:t>
            </a:r>
            <a:endParaRPr lang="en-US" altLang="zh-CN" dirty="0"/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隐瞒重大异常，不报偏差，继续生产产品</a:t>
            </a:r>
            <a:endParaRPr lang="en-US" altLang="zh-CN" dirty="0"/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拆除、屏蔽设备安全、工艺联锁装置</a:t>
            </a:r>
            <a:endParaRPr lang="en-US" altLang="zh-CN" dirty="0"/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跨品种生产未有效清场，存在严重交叉污染风险</a:t>
            </a:r>
          </a:p>
          <a:p>
            <a:pPr defTabSz="825512"/>
            <a:r>
              <a:rPr lang="en-US" altLang="zh-CN" dirty="0"/>
              <a:t> </a:t>
            </a:r>
            <a:endParaRPr lang="zh-CN" altLang="zh-CN" b="1" dirty="0"/>
          </a:p>
          <a:p>
            <a:pPr defTabSz="825512"/>
            <a:r>
              <a:rPr lang="zh-CN" altLang="zh-CN" b="1" dirty="0"/>
              <a:t>主要一般缺陷（日常巡检最常见）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记录填写不及时、信息不全；记录修改不规范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物料标识不清、容器敞口存放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洁净区人员行为违规、更衣不规范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环境监测超标未调查；消毒管理不规范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维保、巡检记录漏记；计量器具临近</a:t>
            </a:r>
            <a:r>
              <a:rPr lang="en-US" altLang="zh-CN" dirty="0"/>
              <a:t> / </a:t>
            </a:r>
            <a:r>
              <a:rPr lang="zh-CN" altLang="zh-CN" dirty="0"/>
              <a:t>超校准周期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审计追踪仅开启，未实施周期性审核</a:t>
            </a:r>
          </a:p>
        </p:txBody>
      </p:sp>
      <p:sp>
        <p:nvSpPr>
          <p:cNvPr id="18" name="矩形 17"/>
          <p:cNvSpPr/>
          <p:nvPr/>
        </p:nvSpPr>
        <p:spPr>
          <a:xfrm>
            <a:off x="2558359" y="2324576"/>
            <a:ext cx="5995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>
              <a:spcAft>
                <a:spcPts val="0"/>
              </a:spcAft>
            </a:pPr>
            <a:r>
              <a:rPr lang="zh-CN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生产车间常见合规性问题</a:t>
            </a:r>
          </a:p>
        </p:txBody>
      </p:sp>
      <p:sp>
        <p:nvSpPr>
          <p:cNvPr id="19" name="矩形 18"/>
          <p:cNvSpPr/>
          <p:nvPr/>
        </p:nvSpPr>
        <p:spPr>
          <a:xfrm>
            <a:off x="1039171" y="1865585"/>
            <a:ext cx="1778741" cy="1405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2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33" b="1" dirty="0">
                <a:solidFill>
                  <a:srgbClr val="1D42E1"/>
                </a:solidFill>
                <a:latin typeface="Arial"/>
                <a:ea typeface="微软雅黑"/>
                <a:cs typeface="+mn-ea"/>
                <a:sym typeface="+mn-lt"/>
              </a:rPr>
              <a:t>01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2643021" y="2753920"/>
            <a:ext cx="0" cy="73044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9387814" y="2943838"/>
            <a:ext cx="7569285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/>
            <a:endParaRPr lang="en-US" altLang="zh-CN" dirty="0"/>
          </a:p>
          <a:p>
            <a:pPr defTabSz="825512"/>
            <a:r>
              <a:rPr lang="zh-CN" altLang="en-US" dirty="0"/>
              <a:t>一、</a:t>
            </a:r>
            <a:r>
              <a:rPr lang="zh-CN" altLang="zh-CN" dirty="0"/>
              <a:t>样品管理类（高频问题）；</a:t>
            </a:r>
          </a:p>
          <a:p>
            <a:pPr defTabSz="825512"/>
            <a:r>
              <a:rPr lang="zh-CN" altLang="en-US" dirty="0"/>
              <a:t>二、</a:t>
            </a:r>
            <a:r>
              <a:rPr lang="zh-CN" altLang="zh-CN" dirty="0"/>
              <a:t>检验操作行为违规</a:t>
            </a:r>
          </a:p>
          <a:p>
            <a:pPr defTabSz="825512"/>
            <a:r>
              <a:rPr lang="zh-CN" altLang="en-US" dirty="0"/>
              <a:t>三、</a:t>
            </a:r>
            <a:r>
              <a:rPr lang="zh-CN" altLang="zh-CN" dirty="0"/>
              <a:t>原始记录与数据完整性（</a:t>
            </a:r>
            <a:r>
              <a:rPr lang="en-US" altLang="zh-CN" dirty="0"/>
              <a:t>GMP </a:t>
            </a:r>
            <a:r>
              <a:rPr lang="zh-CN" altLang="zh-CN" dirty="0"/>
              <a:t>红线，重大违规）</a:t>
            </a:r>
          </a:p>
          <a:p>
            <a:pPr defTabSz="825512"/>
            <a:r>
              <a:rPr lang="zh-CN" altLang="en-US" dirty="0"/>
              <a:t>四、</a:t>
            </a:r>
            <a:r>
              <a:rPr lang="zh-CN" altLang="zh-CN" dirty="0"/>
              <a:t>仪器设备管理违规；</a:t>
            </a:r>
          </a:p>
          <a:p>
            <a:pPr defTabSz="825512"/>
            <a:r>
              <a:rPr lang="zh-CN" altLang="en-US" dirty="0"/>
              <a:t>五、</a:t>
            </a:r>
            <a:r>
              <a:rPr lang="zh-CN" altLang="zh-CN" dirty="0"/>
              <a:t>试剂、试液、标准品、培养基管理；</a:t>
            </a:r>
          </a:p>
          <a:p>
            <a:pPr defTabSz="825512"/>
            <a:r>
              <a:rPr lang="zh-CN" altLang="en-US" dirty="0"/>
              <a:t>六、</a:t>
            </a:r>
            <a:r>
              <a:rPr lang="zh-CN" altLang="zh-CN" dirty="0"/>
              <a:t>实验室环境、清洁消毒、微生物专项违规</a:t>
            </a:r>
          </a:p>
          <a:p>
            <a:pPr defTabSz="825512"/>
            <a:r>
              <a:rPr lang="zh-CN" altLang="en-US" dirty="0"/>
              <a:t>七、</a:t>
            </a:r>
            <a:r>
              <a:rPr lang="zh-CN" altLang="zh-CN" dirty="0"/>
              <a:t>文件、报告、偏差</a:t>
            </a:r>
            <a:r>
              <a:rPr lang="en-US" altLang="zh-CN" dirty="0"/>
              <a:t> OOS </a:t>
            </a:r>
            <a:r>
              <a:rPr lang="zh-CN" altLang="zh-CN" dirty="0"/>
              <a:t>管理，调查</a:t>
            </a:r>
          </a:p>
          <a:p>
            <a:pPr defTabSz="825512"/>
            <a:r>
              <a:rPr lang="zh-CN" altLang="en-US" dirty="0"/>
              <a:t>八、</a:t>
            </a:r>
            <a:r>
              <a:rPr lang="zh-CN" altLang="zh-CN" dirty="0"/>
              <a:t>人员卫生与行为规范</a:t>
            </a:r>
          </a:p>
          <a:p>
            <a:pPr defTabSz="825512"/>
            <a:r>
              <a:rPr lang="en-US" altLang="zh-CN" dirty="0"/>
              <a:t> </a:t>
            </a:r>
            <a:endParaRPr lang="zh-CN" altLang="zh-CN" dirty="0"/>
          </a:p>
          <a:p>
            <a:pPr defTabSz="825512"/>
            <a:endParaRPr lang="en-US" altLang="zh-CN" b="1" dirty="0"/>
          </a:p>
          <a:p>
            <a:pPr defTabSz="825512"/>
            <a:endParaRPr lang="en-US" altLang="zh-CN" b="1" dirty="0"/>
          </a:p>
          <a:p>
            <a:pPr defTabSz="825512"/>
            <a:endParaRPr lang="en-US" altLang="zh-CN" b="1" dirty="0"/>
          </a:p>
          <a:p>
            <a:pPr defTabSz="825512"/>
            <a:endParaRPr lang="en-US" altLang="zh-CN" b="1" dirty="0"/>
          </a:p>
          <a:p>
            <a:pPr defTabSz="825512"/>
            <a:r>
              <a:rPr lang="zh-CN" altLang="zh-CN" b="1" dirty="0">
                <a:solidFill>
                  <a:srgbClr val="FF0000"/>
                </a:solidFill>
              </a:rPr>
              <a:t>重大高风险缺陷：</a:t>
            </a:r>
            <a:r>
              <a:rPr lang="zh-CN" altLang="zh-CN" dirty="0"/>
              <a:t>伪造数据、删除图谱、共用账号、隐瞒</a:t>
            </a:r>
            <a:r>
              <a:rPr lang="en-US" altLang="zh-CN" dirty="0"/>
              <a:t> OOS </a:t>
            </a:r>
            <a:r>
              <a:rPr lang="zh-CN" altLang="zh-CN" dirty="0"/>
              <a:t>结果、擅自更改检验方法、挪用留样</a:t>
            </a:r>
          </a:p>
          <a:p>
            <a:pPr defTabSz="825512"/>
            <a:endParaRPr lang="en-US" altLang="zh-CN" b="1" dirty="0"/>
          </a:p>
          <a:p>
            <a:pPr defTabSz="825512"/>
            <a:r>
              <a:rPr lang="zh-CN" altLang="zh-CN" b="1" dirty="0"/>
              <a:t>一般违规：</a:t>
            </a:r>
            <a:r>
              <a:rPr lang="zh-CN" altLang="zh-CN" dirty="0"/>
              <a:t>样品存放条件不达标、漏做仪器日常核查、试剂标识不全、未及时填写设备日志；</a:t>
            </a:r>
          </a:p>
          <a:p>
            <a:pPr defTabSz="825512"/>
            <a:endParaRPr lang="en-US" altLang="zh-CN" b="1" dirty="0"/>
          </a:p>
          <a:p>
            <a:pPr defTabSz="825512"/>
            <a:r>
              <a:rPr lang="zh-CN" altLang="zh-CN" b="1" dirty="0"/>
              <a:t>轻微违规：</a:t>
            </a:r>
            <a:r>
              <a:rPr lang="zh-CN" altLang="zh-CN" dirty="0"/>
              <a:t>记录书写不规范、物品摆放杂乱、清洁不及时、标识粘贴不整齐；</a:t>
            </a:r>
          </a:p>
        </p:txBody>
      </p:sp>
      <p:sp>
        <p:nvSpPr>
          <p:cNvPr id="14" name="矩形 13"/>
          <p:cNvSpPr/>
          <p:nvPr/>
        </p:nvSpPr>
        <p:spPr>
          <a:xfrm>
            <a:off x="9283760" y="2324576"/>
            <a:ext cx="88605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>
              <a:spcAft>
                <a:spcPts val="0"/>
              </a:spcAft>
            </a:pPr>
            <a:r>
              <a:rPr lang="en-US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QC </a:t>
            </a:r>
            <a:r>
              <a:rPr lang="zh-CN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实验室常见</a:t>
            </a:r>
            <a:r>
              <a:rPr lang="en-US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GMP </a:t>
            </a:r>
            <a:r>
              <a:rPr lang="zh-CN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违规行为</a:t>
            </a:r>
          </a:p>
        </p:txBody>
      </p:sp>
      <p:sp>
        <p:nvSpPr>
          <p:cNvPr id="15" name="矩形 14"/>
          <p:cNvSpPr/>
          <p:nvPr/>
        </p:nvSpPr>
        <p:spPr>
          <a:xfrm>
            <a:off x="7868392" y="1865585"/>
            <a:ext cx="1778741" cy="1405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23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8533" b="1" dirty="0">
                <a:solidFill>
                  <a:srgbClr val="1D42E1"/>
                </a:solidFill>
                <a:latin typeface="Arial"/>
                <a:ea typeface="微软雅黑"/>
                <a:cs typeface="+mn-ea"/>
                <a:sym typeface="+mn-lt"/>
              </a:rPr>
              <a:t>02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9472243" y="2753920"/>
            <a:ext cx="0" cy="7169013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6957099" y="2324576"/>
            <a:ext cx="63544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>
              <a:spcAft>
                <a:spcPts val="0"/>
              </a:spcAft>
            </a:pPr>
            <a:r>
              <a:rPr lang="zh-CN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计算机化系统</a:t>
            </a:r>
          </a:p>
        </p:txBody>
      </p:sp>
      <p:sp>
        <p:nvSpPr>
          <p:cNvPr id="11" name="矩形 10"/>
          <p:cNvSpPr/>
          <p:nvPr/>
        </p:nvSpPr>
        <p:spPr>
          <a:xfrm>
            <a:off x="15199502" y="1865585"/>
            <a:ext cx="1778741" cy="1405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2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33" b="1" dirty="0">
                <a:solidFill>
                  <a:srgbClr val="1D42E1"/>
                </a:solidFill>
                <a:latin typeface="Arial"/>
                <a:ea typeface="微软雅黑"/>
                <a:cs typeface="+mn-ea"/>
                <a:sym typeface="+mn-lt"/>
              </a:rPr>
              <a:t>03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6803352" y="2753920"/>
            <a:ext cx="0" cy="7169013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6855769" y="2927692"/>
            <a:ext cx="60719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/>
            <a:endParaRPr lang="en-US" altLang="zh-CN" dirty="0"/>
          </a:p>
          <a:p>
            <a:pPr defTabSz="825512"/>
            <a:r>
              <a:rPr lang="zh-CN" altLang="zh-CN" dirty="0"/>
              <a:t>一</a:t>
            </a:r>
            <a:r>
              <a:rPr lang="zh-CN" altLang="en-US" dirty="0"/>
              <a:t>、</a:t>
            </a:r>
            <a:r>
              <a:rPr lang="zh-CN" altLang="zh-CN" dirty="0"/>
              <a:t>用户访问与账号权限持续管理</a:t>
            </a:r>
            <a:endParaRPr lang="en-US" altLang="zh-CN" dirty="0"/>
          </a:p>
          <a:p>
            <a:pPr defTabSz="825512"/>
            <a:r>
              <a:rPr lang="zh-CN" altLang="zh-CN" dirty="0"/>
              <a:t>二</a:t>
            </a:r>
            <a:r>
              <a:rPr lang="zh-CN" altLang="en-US" dirty="0"/>
              <a:t>、</a:t>
            </a:r>
            <a:r>
              <a:rPr lang="zh-CN" altLang="zh-CN" dirty="0"/>
              <a:t>审计追踪（</a:t>
            </a:r>
            <a:r>
              <a:rPr lang="en-US" altLang="zh-CN" dirty="0"/>
              <a:t>Audit Trail</a:t>
            </a:r>
            <a:r>
              <a:rPr lang="zh-CN" altLang="zh-CN" dirty="0"/>
              <a:t>）常态化管理（核查高频重点）</a:t>
            </a:r>
          </a:p>
          <a:p>
            <a:pPr defTabSz="825512"/>
            <a:r>
              <a:rPr lang="zh-CN" altLang="zh-CN" dirty="0"/>
              <a:t>三</a:t>
            </a:r>
            <a:r>
              <a:rPr lang="zh-CN" altLang="en-US" dirty="0"/>
              <a:t>、</a:t>
            </a:r>
            <a:r>
              <a:rPr lang="zh-CN" altLang="zh-CN" dirty="0"/>
              <a:t>系统日常运维管理（所有运维操作不能脱离</a:t>
            </a:r>
            <a:r>
              <a:rPr lang="en-US" altLang="zh-CN" dirty="0"/>
              <a:t> GMP </a:t>
            </a:r>
            <a:r>
              <a:rPr lang="zh-CN" altLang="zh-CN" dirty="0"/>
              <a:t>体系）</a:t>
            </a:r>
          </a:p>
          <a:p>
            <a:pPr defTabSz="825512"/>
            <a:r>
              <a:rPr lang="zh-CN" altLang="zh-CN" dirty="0"/>
              <a:t>四</a:t>
            </a:r>
            <a:r>
              <a:rPr lang="zh-CN" altLang="en-US" dirty="0"/>
              <a:t>、</a:t>
            </a:r>
            <a:r>
              <a:rPr lang="zh-CN" altLang="zh-CN" dirty="0"/>
              <a:t>备份管理与定期灾难恢复演练</a:t>
            </a:r>
          </a:p>
          <a:p>
            <a:pPr defTabSz="825512"/>
            <a:r>
              <a:rPr lang="zh-CN" altLang="zh-CN" dirty="0"/>
              <a:t>五</a:t>
            </a:r>
            <a:r>
              <a:rPr lang="zh-CN" altLang="en-US" dirty="0"/>
              <a:t>、</a:t>
            </a:r>
            <a:r>
              <a:rPr lang="zh-CN" altLang="zh-CN" dirty="0"/>
              <a:t>电子记录、电子签名日常管控</a:t>
            </a:r>
            <a:endParaRPr lang="en-US" altLang="zh-CN" dirty="0"/>
          </a:p>
          <a:p>
            <a:pPr defTabSz="825512"/>
            <a:r>
              <a:rPr lang="zh-CN" altLang="zh-CN" dirty="0"/>
              <a:t>六、系统异常事件、故障管理（</a:t>
            </a:r>
            <a:r>
              <a:rPr lang="en-US" altLang="zh-CN" dirty="0"/>
              <a:t>IT </a:t>
            </a:r>
            <a:r>
              <a:rPr lang="zh-CN" altLang="zh-CN" dirty="0"/>
              <a:t>与质量体系打通）</a:t>
            </a:r>
          </a:p>
          <a:p>
            <a:pPr defTabSz="825512"/>
            <a:r>
              <a:rPr lang="zh-CN" altLang="zh-CN" dirty="0"/>
              <a:t>七、变更控制</a:t>
            </a:r>
            <a:r>
              <a:rPr lang="en-US" altLang="zh-CN" dirty="0"/>
              <a:t>—— </a:t>
            </a:r>
            <a:r>
              <a:rPr lang="zh-CN" altLang="zh-CN" dirty="0"/>
              <a:t>运行阶段所有系统变更必经流程</a:t>
            </a:r>
          </a:p>
          <a:p>
            <a:pPr defTabSz="825512"/>
            <a:r>
              <a:rPr lang="zh-CN" altLang="zh-CN" dirty="0"/>
              <a:t>八、供应商持续管理（外购软件、</a:t>
            </a:r>
            <a:r>
              <a:rPr lang="en-US" altLang="zh-CN" dirty="0"/>
              <a:t>SaaS </a:t>
            </a:r>
            <a:r>
              <a:rPr lang="zh-CN" altLang="zh-CN" dirty="0"/>
              <a:t>云系统重点）</a:t>
            </a:r>
          </a:p>
          <a:p>
            <a:pPr defTabSz="825512"/>
            <a:r>
              <a:rPr lang="zh-CN" altLang="zh-CN" dirty="0"/>
              <a:t>十、人员持续培训与行为监督</a:t>
            </a:r>
          </a:p>
          <a:p>
            <a:pPr defTabSz="825512"/>
            <a:r>
              <a:rPr lang="zh-CN" altLang="zh-CN" dirty="0"/>
              <a:t>十一、周期性系统合规回顾（</a:t>
            </a:r>
            <a:r>
              <a:rPr lang="en-US" altLang="zh-CN" dirty="0"/>
              <a:t>System Periodic Review</a:t>
            </a:r>
            <a:r>
              <a:rPr lang="zh-CN" altLang="zh-CN" dirty="0"/>
              <a:t>，</a:t>
            </a:r>
            <a:r>
              <a:rPr lang="en-US" altLang="zh-CN" dirty="0"/>
              <a:t>SPR</a:t>
            </a:r>
            <a:r>
              <a:rPr lang="zh-CN" altLang="zh-CN" dirty="0"/>
              <a:t>）</a:t>
            </a:r>
          </a:p>
          <a:p>
            <a:pPr defTabSz="825512"/>
            <a:r>
              <a:rPr lang="zh-CN" altLang="zh-CN" dirty="0"/>
              <a:t>欧美药企标准要求：每</a:t>
            </a:r>
            <a:r>
              <a:rPr lang="en-US" altLang="zh-CN" dirty="0"/>
              <a:t> 12 </a:t>
            </a:r>
            <a:r>
              <a:rPr lang="zh-CN" altLang="zh-CN" dirty="0"/>
              <a:t>个月开展计算机化系统周期性回顾</a:t>
            </a:r>
            <a:r>
              <a:rPr lang="en-US" altLang="zh-CN" dirty="0"/>
              <a:t> SPR</a:t>
            </a:r>
            <a:endParaRPr lang="zh-CN" altLang="zh-CN" dirty="0"/>
          </a:p>
          <a:p>
            <a:pPr defTabSz="825512"/>
            <a:r>
              <a:rPr lang="zh-CN" altLang="zh-CN" dirty="0"/>
              <a:t>十二、文档持续维护</a:t>
            </a:r>
          </a:p>
          <a:p>
            <a:pPr defTabSz="825512"/>
            <a:endParaRPr lang="zh-CN" altLang="zh-CN" dirty="0"/>
          </a:p>
          <a:p>
            <a:pPr defTabSz="825512"/>
            <a:endParaRPr lang="zh-CN" altLang="zh-CN" dirty="0"/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C8E95CAF-7B3A-C830-85AE-29FC8D722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2260" y="208685"/>
            <a:ext cx="12095021" cy="173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algn="r" defTabSz="825482">
              <a:defRPr/>
            </a:pPr>
            <a:r>
              <a:rPr lang="zh-CN" altLang="en-US" sz="5333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</a:t>
            </a:r>
            <a:r>
              <a:rPr lang="en-US" altLang="zh-CN" sz="5333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GMP</a:t>
            </a:r>
            <a:r>
              <a:rPr lang="zh-CN" altLang="en-US" sz="5333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合规管理</a:t>
            </a:r>
            <a:endParaRPr lang="en-US" altLang="zh-CN" sz="5333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825482">
              <a:defRPr/>
            </a:pPr>
            <a:endParaRPr lang="en-US" altLang="zh-CN" sz="5333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452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D8A6-A167-8C82-2125-D1EF2870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97BC3F-95BE-4325-AC0A-05AAE969A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5512">
              <a:defRPr/>
            </a:pPr>
            <a:r>
              <a:rPr lang="en-US" altLang="zh-CN">
                <a:solidFill>
                  <a:srgbClr val="FFFFFF"/>
                </a:solidFill>
              </a:rPr>
              <a:t>-</a:t>
            </a:r>
            <a:fld id="{FAEDECE0-B3E3-4E93-9B91-9F10B30F5B07}" type="slidenum">
              <a:rPr lang="en-US" altLang="zh-CN">
                <a:solidFill>
                  <a:srgbClr val="FFFFFF"/>
                </a:solidFill>
              </a:rPr>
              <a:pPr defTabSz="825512">
                <a:defRPr/>
              </a:pPr>
              <a:t>2</a:t>
            </a:fld>
            <a:r>
              <a:rPr lang="en-US" altLang="zh-CN">
                <a:solidFill>
                  <a:srgbClr val="FFFFFF"/>
                </a:solidFill>
              </a:rPr>
              <a:t>-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矩形: 圆角 5">
            <a:extLst>
              <a:ext uri="{FF2B5EF4-FFF2-40B4-BE49-F238E27FC236}">
                <a16:creationId xmlns:a16="http://schemas.microsoft.com/office/drawing/2014/main" id="{1FB43DEC-E1D8-55D8-F9E2-45235A00FBAB}"/>
              </a:ext>
            </a:extLst>
          </p:cNvPr>
          <p:cNvSpPr/>
          <p:nvPr/>
        </p:nvSpPr>
        <p:spPr>
          <a:xfrm>
            <a:off x="629263" y="8849036"/>
            <a:ext cx="23125475" cy="4444179"/>
          </a:xfrm>
          <a:prstGeom prst="roundRect">
            <a:avLst>
              <a:gd name="adj" fmla="val 9260"/>
            </a:avLst>
          </a:prstGeom>
          <a:gradFill flip="none" rotWithShape="1">
            <a:gsLst>
              <a:gs pos="0">
                <a:srgbClr val="1633AB"/>
              </a:gs>
              <a:gs pos="100000">
                <a:srgbClr val="1D42E1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1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80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4" name="矩形: 圆角 9">
            <a:extLst>
              <a:ext uri="{FF2B5EF4-FFF2-40B4-BE49-F238E27FC236}">
                <a16:creationId xmlns:a16="http://schemas.microsoft.com/office/drawing/2014/main" id="{D41DA363-121A-F23B-06EA-5DC989E16D66}"/>
              </a:ext>
            </a:extLst>
          </p:cNvPr>
          <p:cNvSpPr/>
          <p:nvPr/>
        </p:nvSpPr>
        <p:spPr>
          <a:xfrm>
            <a:off x="1260920" y="2082800"/>
            <a:ext cx="21862160" cy="10887248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1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80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7" name="矩形 16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>
            <a:extLst>
              <a:ext uri="{FF2B5EF4-FFF2-40B4-BE49-F238E27FC236}">
                <a16:creationId xmlns:a16="http://schemas.microsoft.com/office/drawing/2014/main" id="{BAE2E175-54A2-F005-0FEE-4CE2367812F8}"/>
              </a:ext>
            </a:extLst>
          </p:cNvPr>
          <p:cNvSpPr/>
          <p:nvPr/>
        </p:nvSpPr>
        <p:spPr>
          <a:xfrm>
            <a:off x="2558356" y="2932740"/>
            <a:ext cx="7144445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>
              <a:spcAft>
                <a:spcPts val="0"/>
              </a:spcAft>
              <a:defRPr/>
            </a:pP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defTabSz="825512"/>
            <a:r>
              <a:rPr lang="zh-CN" altLang="zh-CN" dirty="0"/>
              <a:t>一、库房区域与硬件设施合规问题（高频）</a:t>
            </a:r>
          </a:p>
          <a:p>
            <a:pPr defTabSz="825512"/>
            <a:r>
              <a:rPr lang="zh-CN" altLang="zh-CN" dirty="0"/>
              <a:t>二、物料存放与状态管理问题（</a:t>
            </a:r>
            <a:r>
              <a:rPr lang="en-US" altLang="zh-CN" dirty="0"/>
              <a:t>GMP</a:t>
            </a:r>
            <a:r>
              <a:rPr lang="zh-CN" altLang="zh-CN" dirty="0"/>
              <a:t>重点缺陷）</a:t>
            </a:r>
          </a:p>
          <a:p>
            <a:pPr defTabSz="825512"/>
            <a:r>
              <a:rPr lang="zh-CN" altLang="zh-CN" dirty="0"/>
              <a:t>三、入库、取样、出库、退库流程合规问题</a:t>
            </a:r>
          </a:p>
          <a:p>
            <a:pPr defTabSz="825512"/>
            <a:r>
              <a:rPr lang="zh-CN" altLang="zh-CN" dirty="0"/>
              <a:t>四、温湿度、冷链、储存条件合规问题</a:t>
            </a:r>
          </a:p>
          <a:p>
            <a:pPr defTabSz="825512"/>
            <a:r>
              <a:rPr lang="zh-CN" altLang="zh-CN" dirty="0"/>
              <a:t>五、台账、记录、追溯管理问题（核查重灾区）</a:t>
            </a:r>
          </a:p>
          <a:p>
            <a:pPr defTabSz="825512"/>
            <a:r>
              <a:rPr lang="zh-CN" altLang="zh-CN" dirty="0"/>
              <a:t>六、计算机化系统与数据完整性问题（</a:t>
            </a:r>
            <a:r>
              <a:rPr lang="en-US" altLang="zh-CN" dirty="0"/>
              <a:t>WMS/ERP</a:t>
            </a:r>
            <a:r>
              <a:rPr lang="zh-CN" altLang="zh-CN" dirty="0"/>
              <a:t>）</a:t>
            </a:r>
            <a:endParaRPr lang="en-US" altLang="zh-CN" dirty="0"/>
          </a:p>
          <a:p>
            <a:pPr defTabSz="825512"/>
            <a:r>
              <a:rPr lang="zh-CN" altLang="zh-CN" dirty="0"/>
              <a:t>七、清洁、卫生、防虫鼠、环境管理问题</a:t>
            </a:r>
          </a:p>
          <a:p>
            <a:pPr defTabSz="825512"/>
            <a:r>
              <a:rPr lang="zh-CN" altLang="zh-CN" dirty="0"/>
              <a:t>八、危化品、有机溶剂库房专项问题（</a:t>
            </a:r>
            <a:r>
              <a:rPr lang="en-US" altLang="zh-CN" dirty="0"/>
              <a:t>EHS+GMP</a:t>
            </a:r>
            <a:r>
              <a:rPr lang="zh-CN" altLang="zh-CN" dirty="0"/>
              <a:t>双重缺陷）</a:t>
            </a:r>
          </a:p>
          <a:p>
            <a:pPr defTabSz="825512"/>
            <a:r>
              <a:rPr lang="zh-CN" altLang="zh-CN" dirty="0"/>
              <a:t>九、人员管理与操作合规问题</a:t>
            </a:r>
          </a:p>
          <a:p>
            <a:pPr defTabSz="825512"/>
            <a:r>
              <a:rPr lang="zh-CN" altLang="zh-CN" dirty="0"/>
              <a:t>十、质量体系执行问题（偏差</a:t>
            </a:r>
            <a:r>
              <a:rPr lang="en-US" altLang="zh-CN" dirty="0"/>
              <a:t>/</a:t>
            </a:r>
            <a:r>
              <a:rPr lang="zh-CN" altLang="zh-CN" dirty="0"/>
              <a:t>变更</a:t>
            </a:r>
            <a:r>
              <a:rPr lang="en-US" altLang="zh-CN" dirty="0"/>
              <a:t>/CAPA</a:t>
            </a:r>
            <a:r>
              <a:rPr lang="zh-CN" altLang="zh-CN" dirty="0"/>
              <a:t>）</a:t>
            </a:r>
          </a:p>
          <a:p>
            <a:pPr defTabSz="825512"/>
            <a:endParaRPr lang="en-US" altLang="zh-CN" dirty="0"/>
          </a:p>
          <a:p>
            <a:pPr defTabSz="825512"/>
            <a:endParaRPr lang="en-US" altLang="zh-CN" dirty="0"/>
          </a:p>
          <a:p>
            <a:pPr defTabSz="825512"/>
            <a:r>
              <a:rPr lang="zh-CN" altLang="zh-CN" b="1" dirty="0">
                <a:solidFill>
                  <a:srgbClr val="FF0000"/>
                </a:solidFill>
              </a:rPr>
              <a:t>重大高风险缺陷（飞检直接判重缺陷）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未经放行物料入库、领用、投产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账物严重不符、虚假记录、补录数据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不合格品与合格品混放、失控管理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危化品违规混存、无防爆防静电措施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系统共享账号、删除</a:t>
            </a:r>
            <a:r>
              <a:rPr lang="en-US" altLang="zh-CN" dirty="0"/>
              <a:t>/</a:t>
            </a:r>
            <a:r>
              <a:rPr lang="zh-CN" altLang="zh-CN" dirty="0"/>
              <a:t>篡改物料数据</a:t>
            </a:r>
          </a:p>
          <a:p>
            <a:pPr marL="457206" indent="-457206" defTabSz="825512">
              <a:buFont typeface="Wingdings" panose="05000000000000000000" pitchFamily="2" charset="2"/>
              <a:buChar char="Ø"/>
            </a:pPr>
            <a:r>
              <a:rPr lang="zh-CN" altLang="zh-CN" dirty="0"/>
              <a:t>温湿度长期超标不处置、瞒报异常</a:t>
            </a:r>
          </a:p>
          <a:p>
            <a:pPr defTabSz="825512"/>
            <a:endParaRPr lang="zh-CN" altLang="zh-CN" dirty="0"/>
          </a:p>
          <a:p>
            <a:pPr defTabSz="825512"/>
            <a:endParaRPr lang="zh-CN" altLang="zh-CN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BB7016-BE05-3D82-F072-924AC85A3E6C}"/>
              </a:ext>
            </a:extLst>
          </p:cNvPr>
          <p:cNvSpPr/>
          <p:nvPr/>
        </p:nvSpPr>
        <p:spPr>
          <a:xfrm>
            <a:off x="2558359" y="2324576"/>
            <a:ext cx="5995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5512">
              <a:spcAft>
                <a:spcPts val="0"/>
              </a:spcAft>
            </a:pPr>
            <a:r>
              <a:rPr lang="zh-CN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库房管理</a:t>
            </a:r>
            <a:r>
              <a:rPr lang="zh-CN" altLang="en-US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</a:t>
            </a:r>
            <a:r>
              <a:rPr lang="zh-CN" altLang="zh-CN" sz="32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合规性问题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5D0B80-22A7-867C-1DC0-B0542FEBC845}"/>
              </a:ext>
            </a:extLst>
          </p:cNvPr>
          <p:cNvSpPr/>
          <p:nvPr/>
        </p:nvSpPr>
        <p:spPr>
          <a:xfrm>
            <a:off x="1039171" y="1865585"/>
            <a:ext cx="1778741" cy="1405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2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33" b="1" dirty="0">
                <a:solidFill>
                  <a:srgbClr val="1D42E1"/>
                </a:solidFill>
                <a:latin typeface="Arial"/>
                <a:ea typeface="微软雅黑"/>
                <a:cs typeface="+mn-ea"/>
                <a:sym typeface="+mn-lt"/>
              </a:rPr>
              <a:t>04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EB854F8-9412-AEDE-4388-3C1DB85447A1}"/>
              </a:ext>
            </a:extLst>
          </p:cNvPr>
          <p:cNvCxnSpPr/>
          <p:nvPr/>
        </p:nvCxnSpPr>
        <p:spPr>
          <a:xfrm>
            <a:off x="2643021" y="2753920"/>
            <a:ext cx="0" cy="73044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">
            <a:extLst>
              <a:ext uri="{FF2B5EF4-FFF2-40B4-BE49-F238E27FC236}">
                <a16:creationId xmlns:a16="http://schemas.microsoft.com/office/drawing/2014/main" id="{4D59E99B-1DB0-3AB1-902C-8A5BDC19F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2260" y="208685"/>
            <a:ext cx="12095021" cy="173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algn="r" defTabSz="825482">
              <a:defRPr/>
            </a:pPr>
            <a:r>
              <a:rPr lang="zh-CN" altLang="en-US" sz="5333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</a:t>
            </a:r>
            <a:r>
              <a:rPr lang="en-US" altLang="zh-CN" sz="5333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GMP</a:t>
            </a:r>
            <a:r>
              <a:rPr lang="zh-CN" altLang="en-US" sz="5333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合规管理</a:t>
            </a:r>
            <a:endParaRPr lang="en-US" altLang="zh-CN" sz="5333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825482">
              <a:defRPr/>
            </a:pPr>
            <a:endParaRPr lang="en-US" altLang="zh-CN" sz="5333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3404776"/>
      </p:ext>
    </p:extLst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6553</TotalTime>
  <Words>798</Words>
  <Application>Microsoft Office PowerPoint</Application>
  <PresentationFormat>自定义</PresentationFormat>
  <Paragraphs>89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Helvetica Neue</vt:lpstr>
      <vt:lpstr>宋体</vt:lpstr>
      <vt:lpstr>微软雅黑</vt:lpstr>
      <vt:lpstr>Arial</vt:lpstr>
      <vt:lpstr>Arial Black</vt:lpstr>
      <vt:lpstr>Wingdings</vt:lpstr>
      <vt:lpstr>webwppDefTheme</vt:lpstr>
      <vt:lpstr>1_White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Jing Chen</cp:lastModifiedBy>
  <cp:revision>367</cp:revision>
  <cp:lastPrinted>2026-03-24T11:02:51Z</cp:lastPrinted>
  <dcterms:created xsi:type="dcterms:W3CDTF">2026-03-24T11:02:51Z</dcterms:created>
  <dcterms:modified xsi:type="dcterms:W3CDTF">2026-07-30T06:48:05Z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6CE3AC170A46476F9F966556CB5A9253</vt:lpwstr>
  </property>
</Properties>
</file>
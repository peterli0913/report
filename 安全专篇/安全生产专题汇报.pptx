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4"/>
  </p:notesMasterIdLst>
  <p:sldIdLst>
    <p:sldId id="256" r:id="rId3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24384000" cy="13716000"/>
  <p:notesSz cx="6858000" cy="9144000"/>
  <p:defaultTextStyle>
    <a:defPPr>
      <a:defRPr lang="en-US"/>
    </a:defPPr>
    <a:lvl1pPr marL="0" lvl="0" indent="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0" lvl="1" indent="2286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0" lvl="2" indent="4572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0" lvl="3" indent="6858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0" lvl="4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lvl="5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6pPr>
    <a:lvl7pPr marL="2743200" lvl="6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7pPr>
    <a:lvl8pPr marL="3200400" lvl="7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8pPr>
    <a:lvl9pPr marL="3657600" lvl="8" indent="914400" algn="l" defTabSz="8255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252D30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cong Wen" initials="BW" lastIdx="1" clrIdx="1"/>
  <p:cmAuthor id="2" name="Xinmiao Wang12911" initials="XW" lastIdx="5" clrIdx="2"/>
  <p:cmAuthor id="3" name="Zhaoqiang Liu" initials="ZL" lastIdx="3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FF9933"/>
    <a:srgbClr val="FFCC99"/>
    <a:srgbClr val="00B050"/>
    <a:srgbClr val="2F5A9E"/>
    <a:srgbClr val="0000FF"/>
    <a:srgbClr val="3477B2"/>
    <a:srgbClr val="FFEEDD"/>
    <a:srgbClr val="FFFF66"/>
    <a:srgbClr val="0E5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87822" autoAdjust="0"/>
  </p:normalViewPr>
  <p:slideViewPr>
    <p:cSldViewPr snapToGrid="0" snapToObjects="1" showGuides="1">
      <p:cViewPr varScale="1">
        <p:scale>
          <a:sx n="32" d="100"/>
          <a:sy n="32" d="100"/>
        </p:scale>
        <p:origin x="1290" y="84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-95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6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67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11" indent="0" algn="ctr">
              <a:buNone/>
              <a:defRPr sz="4000"/>
            </a:lvl2pPr>
            <a:lvl3pPr marL="1828823" indent="0" algn="ctr">
              <a:buNone/>
              <a:defRPr sz="3600"/>
            </a:lvl3pPr>
            <a:lvl4pPr marL="2743234" indent="0" algn="ctr">
              <a:buNone/>
              <a:defRPr sz="3200"/>
            </a:lvl4pPr>
            <a:lvl5pPr marL="3657646" indent="0" algn="ctr">
              <a:buNone/>
              <a:defRPr sz="3200"/>
            </a:lvl5pPr>
            <a:lvl6pPr marL="4572057" indent="0" algn="ctr">
              <a:buNone/>
              <a:defRPr sz="3200"/>
            </a:lvl6pPr>
            <a:lvl7pPr marL="5486469" indent="0" algn="ctr">
              <a:buNone/>
              <a:defRPr sz="3200"/>
            </a:lvl7pPr>
            <a:lvl8pPr marL="6400880" indent="0" algn="ctr">
              <a:buNone/>
              <a:defRPr sz="3200"/>
            </a:lvl8pPr>
            <a:lvl9pPr marL="7315291" indent="0" algn="ctr">
              <a:buNone/>
              <a:defRPr sz="3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11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15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1" y="3419479"/>
            <a:ext cx="21031200" cy="5705475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1" y="9178928"/>
            <a:ext cx="21031200" cy="3000373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11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23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4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5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6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9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922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1"/>
            <a:ext cx="10363200" cy="87026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1"/>
            <a:ext cx="10363200" cy="87026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213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9" y="3362325"/>
            <a:ext cx="10315573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11" indent="0">
              <a:buNone/>
              <a:defRPr sz="4000" b="1"/>
            </a:lvl2pPr>
            <a:lvl3pPr marL="1828823" indent="0">
              <a:buNone/>
              <a:defRPr sz="3600" b="1"/>
            </a:lvl3pPr>
            <a:lvl4pPr marL="2743234" indent="0">
              <a:buNone/>
              <a:defRPr sz="3200" b="1"/>
            </a:lvl4pPr>
            <a:lvl5pPr marL="3657646" indent="0">
              <a:buNone/>
              <a:defRPr sz="3200" b="1"/>
            </a:lvl5pPr>
            <a:lvl6pPr marL="4572057" indent="0">
              <a:buNone/>
              <a:defRPr sz="3200" b="1"/>
            </a:lvl6pPr>
            <a:lvl7pPr marL="5486469" indent="0">
              <a:buNone/>
              <a:defRPr sz="3200" b="1"/>
            </a:lvl7pPr>
            <a:lvl8pPr marL="6400880" indent="0">
              <a:buNone/>
              <a:defRPr sz="3200" b="1"/>
            </a:lvl8pPr>
            <a:lvl9pPr marL="7315291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9" y="5010151"/>
            <a:ext cx="10315573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2325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11" indent="0">
              <a:buNone/>
              <a:defRPr sz="4000" b="1"/>
            </a:lvl2pPr>
            <a:lvl3pPr marL="1828823" indent="0">
              <a:buNone/>
              <a:defRPr sz="3600" b="1"/>
            </a:lvl3pPr>
            <a:lvl4pPr marL="2743234" indent="0">
              <a:buNone/>
              <a:defRPr sz="3200" b="1"/>
            </a:lvl4pPr>
            <a:lvl5pPr marL="3657646" indent="0">
              <a:buNone/>
              <a:defRPr sz="3200" b="1"/>
            </a:lvl5pPr>
            <a:lvl6pPr marL="4572057" indent="0">
              <a:buNone/>
              <a:defRPr sz="3200" b="1"/>
            </a:lvl6pPr>
            <a:lvl7pPr marL="5486469" indent="0">
              <a:buNone/>
              <a:defRPr sz="3200" b="1"/>
            </a:lvl7pPr>
            <a:lvl8pPr marL="6400880" indent="0">
              <a:buNone/>
              <a:defRPr sz="3200" b="1"/>
            </a:lvl8pPr>
            <a:lvl9pPr marL="7315291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0151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844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590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914400"/>
            <a:ext cx="7864475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2"/>
            <a:ext cx="12344400" cy="9747251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114801"/>
            <a:ext cx="7864475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11" indent="0">
              <a:buNone/>
              <a:defRPr sz="2800"/>
            </a:lvl2pPr>
            <a:lvl3pPr marL="1828823" indent="0">
              <a:buNone/>
              <a:defRPr sz="2400"/>
            </a:lvl3pPr>
            <a:lvl4pPr marL="2743234" indent="0">
              <a:buNone/>
              <a:defRPr sz="2000"/>
            </a:lvl4pPr>
            <a:lvl5pPr marL="3657646" indent="0">
              <a:buNone/>
              <a:defRPr sz="2000"/>
            </a:lvl5pPr>
            <a:lvl6pPr marL="4572057" indent="0">
              <a:buNone/>
              <a:defRPr sz="2000"/>
            </a:lvl6pPr>
            <a:lvl7pPr marL="5486469" indent="0">
              <a:buNone/>
              <a:defRPr sz="2000"/>
            </a:lvl7pPr>
            <a:lvl8pPr marL="6400880" indent="0">
              <a:buNone/>
              <a:defRPr sz="2000"/>
            </a:lvl8pPr>
            <a:lvl9pPr marL="7315291" indent="0">
              <a:buNone/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143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98597" y="11999600"/>
            <a:ext cx="686041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72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598599" y="1140953"/>
            <a:ext cx="4280435" cy="854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744" y="1577792"/>
            <a:ext cx="4532203" cy="106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3865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749573" y="13242975"/>
            <a:ext cx="884859" cy="636072"/>
          </a:xfrm>
        </p:spPr>
        <p:txBody>
          <a:bodyPr/>
          <a:lstStyle>
            <a:lvl1pPr algn="ctr"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-</a:t>
            </a:r>
            <a:fld id="{FAEDECE0-B3E3-4E93-9B91-9F10B30F5B07}" type="slidenum">
              <a:rPr lang="en-US" altLang="zh-CN" dirty="0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5504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447" y="1636683"/>
            <a:ext cx="5618781" cy="13143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14359355" y="-5194588"/>
            <a:ext cx="20245232" cy="1912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97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254482"/>
            <a:ext cx="1464944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6" y="13216008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8"/>
            <a:ext cx="1713024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908711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6"/>
            <a:ext cx="1464944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6" y="13153763"/>
            <a:ext cx="5068389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indent="0" algn="ctr" defTabSz="82551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8"/>
            <a:ext cx="17130243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617944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1"/>
            <a:ext cx="21031200" cy="8702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54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1828823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6" indent="-457206" algn="l" defTabSz="182882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17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29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40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51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63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74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86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97" indent="-457206" algn="l" defTabSz="18288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11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23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34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57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69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80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91" algn="l" defTabSz="1828823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6" y="3383288"/>
            <a:ext cx="22262586" cy="6217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安全生产专题汇报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0706" y="4297690"/>
            <a:ext cx="137160" cy="237744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9348" y="4242826"/>
            <a:ext cx="21713945" cy="1316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68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一起事故，背后是 300 次未被听见的预警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9348" y="5669294"/>
            <a:ext cx="16474314" cy="1024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34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从本年度一起二级事故，看隐患整改闭环的失效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60706" y="11887229"/>
            <a:ext cx="22262587" cy="0"/>
          </a:xfrm>
          <a:prstGeom prst="line">
            <a:avLst/>
          </a:prstGeom>
          <a:ln w="20320">
            <a:solidFill>
              <a:srgbClr val="C2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0706" y="12106686"/>
            <a:ext cx="22262586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汇报单位：【待填】    |    汇报人：【待填】    |    汇报日期：【待填】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6" y="2377445"/>
            <a:ext cx="22262586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6" y="2926087"/>
            <a:ext cx="22262586" cy="792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这起事故不是偶然 —— 预警信号早已齐备，缺的是整改闭环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706" y="4011178"/>
            <a:ext cx="10820396" cy="5512748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9348" y="4486667"/>
            <a:ext cx="9723113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海因里希法则告诉我们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9348" y="5437645"/>
            <a:ext cx="9723113" cy="1133858"/>
          </a:xfrm>
          <a:prstGeom prst="roundRect">
            <a:avLst>
              <a:gd name="adj" fmla="val 3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75108" y="5437645"/>
            <a:ext cx="2194565" cy="1133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50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  <a:r>
              <a:rPr sz="23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 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83" y="5437645"/>
            <a:ext cx="6504417" cy="1133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严重伤害事故（死亡或重伤）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9348" y="6790960"/>
            <a:ext cx="9723113" cy="1133858"/>
          </a:xfrm>
          <a:prstGeom prst="roundRect">
            <a:avLst>
              <a:gd name="adj" fmla="val 3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8" y="6790960"/>
            <a:ext cx="2194565" cy="1133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50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29</a:t>
            </a:r>
            <a:r>
              <a:rPr sz="23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 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83" y="6790960"/>
            <a:ext cx="6504417" cy="1133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轻微伤害事故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9348" y="8144276"/>
            <a:ext cx="9723113" cy="1133858"/>
          </a:xfrm>
          <a:prstGeom prst="roundRect">
            <a:avLst>
              <a:gd name="adj" fmla="val 3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75108" y="8144276"/>
            <a:ext cx="2194565" cy="1133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50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300</a:t>
            </a:r>
            <a:r>
              <a:rPr sz="23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 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83" y="8144276"/>
            <a:ext cx="6504417" cy="1133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无伤害的未遂事件或事故隐患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348" y="9387863"/>
            <a:ext cx="9723113" cy="5120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每一起严重事故下面，都垫着约 300 个被忽略的信号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02896" y="4011178"/>
            <a:ext cx="10820396" cy="5512748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51538" y="4486667"/>
            <a:ext cx="9723113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我们的实际情况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51538" y="5364493"/>
            <a:ext cx="9723113" cy="1536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2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~300</a:t>
            </a:r>
            <a:r>
              <a:rPr sz="3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  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51538" y="7083569"/>
            <a:ext cx="9723113" cy="6949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集团巡检管理系统中 1~6 月关于 200L 桶操作的隐患记录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051538" y="8034548"/>
            <a:ext cx="9723113" cy="1133858"/>
          </a:xfrm>
          <a:prstGeom prst="roundRect">
            <a:avLst>
              <a:gd name="adj" fmla="val 3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417299" y="8034548"/>
            <a:ext cx="8991591" cy="1133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这些隐患未被从根本上整改解决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6" y="9962839"/>
            <a:ext cx="22262586" cy="2143846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99619" y="10255448"/>
            <a:ext cx="1379731" cy="15586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核心判断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43943" y="10365176"/>
            <a:ext cx="0" cy="1339173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8536" y="10255448"/>
            <a:ext cx="19675844" cy="15586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2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两个 300 量级高度吻合：预警从不缺席，事故仍然发生 —— 问题不在于没看见，而在于看见之后没有根治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6" y="12362718"/>
            <a:ext cx="17007882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法则数据为通用安全管理理论；隐患条数来自集团巡检管理系统 1~6 月记录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51469" y="12362718"/>
            <a:ext cx="1554483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6" y="2377445"/>
            <a:ext cx="22262586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事故回顾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6" y="2926087"/>
            <a:ext cx="22262586" cy="792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本次事故基本情况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6" y="3901449"/>
            <a:ext cx="22262586" cy="449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本年度发生的一起二级事故，是本次专题倒查的起点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6" y="4606809"/>
            <a:ext cx="7103869" cy="2795124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36195" y="5009146"/>
            <a:ext cx="6152891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厂区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5" y="5594363"/>
            <a:ext cx="6152891" cy="78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【待填】厂区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5" y="6524107"/>
            <a:ext cx="6152891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事故发生的厂区名称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65" y="4606809"/>
            <a:ext cx="7103869" cy="2795124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15554" y="5009146"/>
            <a:ext cx="6152891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事故级别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5554" y="5594363"/>
            <a:ext cx="6152891" cy="78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二级事故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5554" y="6524107"/>
            <a:ext cx="6152891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按集团事故分级标准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19423" y="4606809"/>
            <a:ext cx="7103869" cy="2795124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94913" y="5009146"/>
            <a:ext cx="6152891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发生位置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94913" y="5594363"/>
            <a:ext cx="6152891" cy="78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3 号楼 1 层 303 房间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94913" y="6524107"/>
            <a:ext cx="6152891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具体作业地点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6" y="7913999"/>
            <a:ext cx="22262586" cy="4192686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9348" y="8389488"/>
            <a:ext cx="21165303" cy="5120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事故简介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8" y="9194162"/>
            <a:ext cx="21165303" cy="11338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900" b="0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【待填】请补充事故发生的时间、作业内容、直接原因、人员伤害情况与财产损失情况。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09348" y="10620630"/>
            <a:ext cx="21165303" cy="0"/>
          </a:xfrm>
          <a:prstGeom prst="line">
            <a:avLst/>
          </a:prstGeom>
          <a:ln w="20320">
            <a:solidFill>
              <a:srgbClr val="C2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609348" y="11126599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90602" y="10949814"/>
            <a:ext cx="20784049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这起事故的意义不止于事故本身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0602" y="11501758"/>
            <a:ext cx="20784049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它暴露出同类操作风险长期存在、此前已被多次记录却未被消除，因此本次同步开展了隐患倒查，结果见下一页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6" y="12362718"/>
            <a:ext cx="17007882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事故信息以正式事故调查报告为准；标注【待填】处需按实际情况补充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51469" y="12362718"/>
            <a:ext cx="1554483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6" y="2377445"/>
            <a:ext cx="22262586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理论依据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6" y="2926087"/>
            <a:ext cx="22262586" cy="792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海因里希法则：事故是概率的必然，不是运气的偶然</a:t>
            </a:r>
          </a:p>
        </p:txBody>
      </p:sp>
      <p:sp>
        <p:nvSpPr>
          <p:cNvPr id="4" name="Trapezoid 3"/>
          <p:cNvSpPr/>
          <p:nvPr/>
        </p:nvSpPr>
        <p:spPr>
          <a:xfrm>
            <a:off x="2744934" y="4303786"/>
            <a:ext cx="2245636" cy="2070613"/>
          </a:xfrm>
          <a:prstGeom prst="trapezoi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4934" y="4303786"/>
            <a:ext cx="2245636" cy="2070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60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77135" y="4753875"/>
            <a:ext cx="6081932" cy="548641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29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严重伤害事故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7135" y="5375669"/>
            <a:ext cx="6081932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死亡或重伤</a:t>
            </a:r>
          </a:p>
        </p:txBody>
      </p:sp>
      <p:sp>
        <p:nvSpPr>
          <p:cNvPr id="8" name="Trapezoid 7"/>
          <p:cNvSpPr/>
          <p:nvPr/>
        </p:nvSpPr>
        <p:spPr>
          <a:xfrm>
            <a:off x="1902820" y="6667008"/>
            <a:ext cx="3929864" cy="2070613"/>
          </a:xfrm>
          <a:prstGeom prst="trapezoid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2820" y="6667008"/>
            <a:ext cx="3929864" cy="2070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60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7135" y="7117097"/>
            <a:ext cx="6081932" cy="548641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29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轻微伤害事故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7135" y="7738891"/>
            <a:ext cx="6081932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需医疗处理但未致残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6" y="9030230"/>
            <a:ext cx="5614091" cy="2070613"/>
          </a:xfrm>
          <a:prstGeom prst="roundRect">
            <a:avLst>
              <a:gd name="adj" fmla="val 2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6" y="9030230"/>
            <a:ext cx="5614091" cy="2070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60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135" y="9480319"/>
            <a:ext cx="6081932" cy="548641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29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未遂事件与事故隐患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135" y="10102113"/>
            <a:ext cx="6081932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尚未造成伤害的信号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6" y="11283724"/>
            <a:ext cx="11696024" cy="5120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比例关系为统计规律，不同行业数值略有差异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7437" y="4011178"/>
            <a:ext cx="9505855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这条法则对我们意味着什么</a:t>
            </a:r>
          </a:p>
        </p:txBody>
      </p:sp>
      <p:sp>
        <p:nvSpPr>
          <p:cNvPr id="18" name="Oval 17"/>
          <p:cNvSpPr/>
          <p:nvPr/>
        </p:nvSpPr>
        <p:spPr>
          <a:xfrm>
            <a:off x="13817437" y="4992636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98692" y="4815852"/>
            <a:ext cx="9124600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严重事故从不孤立出现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98692" y="5367795"/>
            <a:ext cx="9124600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它站在数百个未被处理的隐患之上，是长期积累的结果</a:t>
            </a:r>
          </a:p>
        </p:txBody>
      </p:sp>
      <p:sp>
        <p:nvSpPr>
          <p:cNvPr id="21" name="Oval 20"/>
          <p:cNvSpPr/>
          <p:nvPr/>
        </p:nvSpPr>
        <p:spPr>
          <a:xfrm>
            <a:off x="13817437" y="6364382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98692" y="6187597"/>
            <a:ext cx="9124600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隐患的数量决定事故的概率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98692" y="6739541"/>
            <a:ext cx="9124600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隐患基数不减少，事故只是时间问题，与运气无关</a:t>
            </a:r>
          </a:p>
        </p:txBody>
      </p:sp>
      <p:sp>
        <p:nvSpPr>
          <p:cNvPr id="24" name="Oval 23"/>
          <p:cNvSpPr/>
          <p:nvPr/>
        </p:nvSpPr>
        <p:spPr>
          <a:xfrm>
            <a:off x="13817437" y="7736127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98692" y="7559343"/>
            <a:ext cx="9124600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能被消除的只有底层的 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98692" y="8111286"/>
            <a:ext cx="9124600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无法直接消除事故，只能通过消除隐患降低概率</a:t>
            </a:r>
          </a:p>
        </p:txBody>
      </p:sp>
      <p:sp>
        <p:nvSpPr>
          <p:cNvPr id="27" name="Oval 26"/>
          <p:cNvSpPr/>
          <p:nvPr/>
        </p:nvSpPr>
        <p:spPr>
          <a:xfrm>
            <a:off x="13817437" y="9107873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98692" y="8931089"/>
            <a:ext cx="9124600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已记录但未整改，等于没有发现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98692" y="9483032"/>
            <a:ext cx="9124600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记录本身不降低风险，只有闭环整改才降低风险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6" y="12362718"/>
            <a:ext cx="17007882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海因里希法则为通用安全管理理论，用于说明隐患数量与事故概率的统计关系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51469" y="12362718"/>
            <a:ext cx="1554483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6" y="2377445"/>
            <a:ext cx="22262586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隐患倒查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6" y="2926087"/>
            <a:ext cx="22262586" cy="792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巡检系统里躺着约 300 条同类隐患，半年未被根治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706" y="4011178"/>
            <a:ext cx="7128253" cy="3033377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3" y="4467667"/>
            <a:ext cx="6323579" cy="116840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80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~300</a:t>
            </a:r>
            <a:r>
              <a:rPr sz="336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 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3" y="5745799"/>
            <a:ext cx="6323579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200L 桶操作相关隐患记录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3" y="6257864"/>
            <a:ext cx="6323579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集团巡检管理系统，1~6 月累计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27873" y="4011178"/>
            <a:ext cx="7128253" cy="3033377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0210" y="4467667"/>
            <a:ext cx="6323579" cy="116840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80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6</a:t>
            </a:r>
            <a:r>
              <a:rPr sz="336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 个月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0210" y="5745799"/>
            <a:ext cx="6323579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隐患反复出现的时间跨度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0210" y="6257864"/>
            <a:ext cx="6323579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1 月至 6 月持续被记录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195039" y="4011178"/>
            <a:ext cx="7128253" cy="3033377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97376" y="4467667"/>
            <a:ext cx="6323579" cy="116840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80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未</a:t>
            </a:r>
            <a:r>
              <a:rPr sz="336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 根治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97376" y="5745799"/>
            <a:ext cx="6323579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隐患的实际处理状态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97376" y="6257864"/>
            <a:ext cx="6323579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隐患未被从根本上整改解决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6" y="7556620"/>
            <a:ext cx="11253212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倒查是怎么做的</a:t>
            </a:r>
          </a:p>
        </p:txBody>
      </p:sp>
      <p:sp>
        <p:nvSpPr>
          <p:cNvPr id="17" name="Oval 16"/>
          <p:cNvSpPr/>
          <p:nvPr/>
        </p:nvSpPr>
        <p:spPr>
          <a:xfrm>
            <a:off x="1060706" y="8538078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1961" y="8361294"/>
            <a:ext cx="10871957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以本次事故为起点，回溯半年隐患台账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1961" y="8913237"/>
            <a:ext cx="10871957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在集团巡检管理系统中检索同类操作风险的历史记录</a:t>
            </a:r>
          </a:p>
        </p:txBody>
      </p:sp>
      <p:sp>
        <p:nvSpPr>
          <p:cNvPr id="20" name="Oval 19"/>
          <p:cNvSpPr/>
          <p:nvPr/>
        </p:nvSpPr>
        <p:spPr>
          <a:xfrm>
            <a:off x="1060706" y="9873248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1961" y="9696464"/>
            <a:ext cx="10871957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锁定 200L 桶操作这一类风险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1961" y="10248407"/>
            <a:ext cx="10871957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1~6 月共检索到约 300 条相关隐患记录</a:t>
            </a:r>
          </a:p>
        </p:txBody>
      </p:sp>
      <p:sp>
        <p:nvSpPr>
          <p:cNvPr id="23" name="Oval 22"/>
          <p:cNvSpPr/>
          <p:nvPr/>
        </p:nvSpPr>
        <p:spPr>
          <a:xfrm>
            <a:off x="1060706" y="11208418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1961" y="11031633"/>
            <a:ext cx="10871957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核查这些隐患的处理状态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1961" y="11583577"/>
            <a:ext cx="10871957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结论是：隐患未被从根本上整改解决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935712" y="7556620"/>
            <a:ext cx="10387580" cy="4550065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47777" y="7995533"/>
            <a:ext cx="9363450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这个结果说明什么</a:t>
            </a:r>
          </a:p>
        </p:txBody>
      </p:sp>
      <p:sp>
        <p:nvSpPr>
          <p:cNvPr id="28" name="Oval 27"/>
          <p:cNvSpPr/>
          <p:nvPr/>
        </p:nvSpPr>
        <p:spPr>
          <a:xfrm>
            <a:off x="13447777" y="8995280"/>
            <a:ext cx="112268" cy="11226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16078" y="8836783"/>
            <a:ext cx="8995149" cy="429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风险早已被识别，不存在没有想到的问题</a:t>
            </a:r>
          </a:p>
        </p:txBody>
      </p:sp>
      <p:sp>
        <p:nvSpPr>
          <p:cNvPr id="30" name="Oval 29"/>
          <p:cNvSpPr/>
          <p:nvPr/>
        </p:nvSpPr>
        <p:spPr>
          <a:xfrm>
            <a:off x="13447777" y="9790302"/>
            <a:ext cx="112268" cy="11226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16078" y="9631805"/>
            <a:ext cx="8995149" cy="429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同类隐患在半年内被反复记录，说明整改未触及根源</a:t>
            </a:r>
          </a:p>
        </p:txBody>
      </p:sp>
      <p:sp>
        <p:nvSpPr>
          <p:cNvPr id="32" name="Oval 31"/>
          <p:cNvSpPr/>
          <p:nvPr/>
        </p:nvSpPr>
        <p:spPr>
          <a:xfrm>
            <a:off x="13447777" y="10585324"/>
            <a:ext cx="112268" cy="11226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16078" y="10426827"/>
            <a:ext cx="8995149" cy="429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巡检发挥了发现作用，但闭环没有走完</a:t>
            </a:r>
          </a:p>
        </p:txBody>
      </p:sp>
      <p:sp>
        <p:nvSpPr>
          <p:cNvPr id="34" name="Oval 33"/>
          <p:cNvSpPr/>
          <p:nvPr/>
        </p:nvSpPr>
        <p:spPr>
          <a:xfrm>
            <a:off x="13447777" y="11380346"/>
            <a:ext cx="112268" cy="11226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16078" y="11221849"/>
            <a:ext cx="8995149" cy="429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同样的风险仍在产线上，随时可能再次转化为事故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6" y="12362718"/>
            <a:ext cx="17007882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数据来源：集团巡检管理系统隐患台账，统计区间为本年度 1 月至 6 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51469" y="12362718"/>
            <a:ext cx="1554483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6" y="2377445"/>
            <a:ext cx="22262586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根因分析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6" y="2926087"/>
            <a:ext cx="22262586" cy="792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隐患管理的闭环，断在「整改」与「验证」之间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6" y="3901449"/>
            <a:ext cx="22262586" cy="449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以下为基于倒查结果的分析判断，具体断点需结合各厂区实际核实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6" y="4606809"/>
            <a:ext cx="4218430" cy="2795124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26467" y="4935994"/>
            <a:ext cx="3486908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7" y="5521211"/>
            <a:ext cx="3486908" cy="6217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6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7" y="6252733"/>
            <a:ext cx="3486908" cy="950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巡检、观察、上报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1745" y="4606809"/>
            <a:ext cx="4218430" cy="2795124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7506" y="4935994"/>
            <a:ext cx="3486908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7506" y="5521211"/>
            <a:ext cx="3486908" cy="6217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6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7506" y="6252733"/>
            <a:ext cx="3486908" cy="950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录入巡检管理系统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2784" y="4606809"/>
            <a:ext cx="4218430" cy="2795124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48545" y="4935994"/>
            <a:ext cx="3486908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8545" y="5521211"/>
            <a:ext cx="3486908" cy="6217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整改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8545" y="6252733"/>
            <a:ext cx="3486908" cy="950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消除隐患的根本原因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8545" y="6597260"/>
            <a:ext cx="3486908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断点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593823" y="4606809"/>
            <a:ext cx="4218430" cy="2795124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959584" y="4935994"/>
            <a:ext cx="3486908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59584" y="5521211"/>
            <a:ext cx="3486908" cy="6217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59584" y="6252733"/>
            <a:ext cx="3486908" cy="950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确认风险不再重现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59584" y="6597260"/>
            <a:ext cx="3486908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断点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104862" y="4606809"/>
            <a:ext cx="4218430" cy="2795124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470623" y="4935994"/>
            <a:ext cx="3486908" cy="47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0623" y="5521211"/>
            <a:ext cx="3486908" cy="6217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6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固化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0623" y="6252733"/>
            <a:ext cx="3486908" cy="950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纳入标准与考核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6" y="7913999"/>
            <a:ext cx="10820396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断在哪里</a:t>
            </a:r>
          </a:p>
        </p:txBody>
      </p:sp>
      <p:sp>
        <p:nvSpPr>
          <p:cNvPr id="28" name="Oval 27"/>
          <p:cNvSpPr/>
          <p:nvPr/>
        </p:nvSpPr>
        <p:spPr>
          <a:xfrm>
            <a:off x="1060706" y="8895457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1961" y="8718673"/>
            <a:ext cx="10439141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整改停在表面处置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1961" y="9270616"/>
            <a:ext cx="10439141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清理了现场、补了标识，但导致隐患反复出现的作业方式没有改变</a:t>
            </a:r>
          </a:p>
        </p:txBody>
      </p:sp>
      <p:sp>
        <p:nvSpPr>
          <p:cNvPr id="31" name="Oval 30"/>
          <p:cNvSpPr/>
          <p:nvPr/>
        </p:nvSpPr>
        <p:spPr>
          <a:xfrm>
            <a:off x="1060706" y="10230627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41961" y="10053842"/>
            <a:ext cx="10439141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验证环节缺失或流于形式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1961" y="10605786"/>
            <a:ext cx="10439141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隐患关闭以已处理为准，而不是以同类风险不再出现为准</a:t>
            </a:r>
          </a:p>
        </p:txBody>
      </p:sp>
      <p:sp>
        <p:nvSpPr>
          <p:cNvPr id="34" name="Oval 33"/>
          <p:cNvSpPr/>
          <p:nvPr/>
        </p:nvSpPr>
        <p:spPr>
          <a:xfrm>
            <a:off x="1060706" y="11565796"/>
            <a:ext cx="125222" cy="12522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1961" y="11389012"/>
            <a:ext cx="10439141" cy="478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9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重复出现未触发升级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1961" y="11940955"/>
            <a:ext cx="10439141" cy="45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668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同类隐患被记录数百次，仍按单条处理，未升级为专项整治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502896" y="7913999"/>
            <a:ext cx="10820396" cy="4192686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014962" y="8352912"/>
            <a:ext cx="9796266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闭环应当怎样才算走完</a:t>
            </a:r>
          </a:p>
        </p:txBody>
      </p:sp>
      <p:sp>
        <p:nvSpPr>
          <p:cNvPr id="39" name="Oval 38"/>
          <p:cNvSpPr/>
          <p:nvPr/>
        </p:nvSpPr>
        <p:spPr>
          <a:xfrm>
            <a:off x="13014962" y="9352658"/>
            <a:ext cx="112268" cy="11226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383262" y="9194162"/>
            <a:ext cx="9427965" cy="429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整改要指向原因，不是指向现象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83262" y="9696575"/>
            <a:ext cx="9427965" cy="407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392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改的是作业方式、工装或流程，不只是清理现场</a:t>
            </a:r>
          </a:p>
        </p:txBody>
      </p:sp>
      <p:sp>
        <p:nvSpPr>
          <p:cNvPr id="42" name="Oval 41"/>
          <p:cNvSpPr/>
          <p:nvPr/>
        </p:nvSpPr>
        <p:spPr>
          <a:xfrm>
            <a:off x="13014962" y="10591328"/>
            <a:ext cx="112268" cy="11226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383262" y="10432832"/>
            <a:ext cx="9427965" cy="429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关闭要以不再重现为标准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83262" y="10935245"/>
            <a:ext cx="9427965" cy="407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392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设定观察期，期内同类隐患零复现才允许关闭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6" y="12362718"/>
            <a:ext cx="17007882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本页为基于隐患倒查结果的分析建议，具体措施需结合各厂区实际情况确定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51469" y="12362718"/>
            <a:ext cx="1554483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6" y="2377445"/>
            <a:ext cx="22262586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保障基石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6" y="2926087"/>
            <a:ext cx="22262586" cy="792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安全生产的五大保障基石，目前均未被充分保障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6" y="3901449"/>
            <a:ext cx="22262586" cy="449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五大体系共同支撑安全生产，任何一块不牢，事故就会从那里发生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6" y="4606809"/>
            <a:ext cx="4159908" cy="4917071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595" y="5045722"/>
            <a:ext cx="1024130" cy="10241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3" y="6325885"/>
            <a:ext cx="3355234" cy="877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27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人员培训及</a:t>
            </a:r>
          </a:p>
          <a:p>
            <a:pPr algn="ctr">
              <a:lnSpc>
                <a:spcPct val="128000"/>
              </a:lnSpc>
            </a:pPr>
            <a:r>
              <a:rPr sz="27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安全教育体系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3" y="7386592"/>
            <a:ext cx="3355234" cy="893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人是否真的会做、愿意做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3" y="8463174"/>
            <a:ext cx="3355234" cy="621793"/>
          </a:xfrm>
          <a:prstGeom prst="roundRect">
            <a:avLst>
              <a:gd name="adj" fmla="val 6000"/>
            </a:avLst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3" y="8463174"/>
            <a:ext cx="3355234" cy="621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现状：【待评估】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6376" y="4606809"/>
            <a:ext cx="4159908" cy="4917071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265" y="5045722"/>
            <a:ext cx="1024130" cy="10241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88713" y="6325885"/>
            <a:ext cx="3355234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27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应急管理体系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8713" y="6947679"/>
            <a:ext cx="3355234" cy="13326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出事时能否有效控制损失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8713" y="8463174"/>
            <a:ext cx="3355234" cy="621793"/>
          </a:xfrm>
          <a:prstGeom prst="roundRect">
            <a:avLst>
              <a:gd name="adj" fmla="val 6000"/>
            </a:avLst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8713" y="8463174"/>
            <a:ext cx="3355234" cy="621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现状：【待评估】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12045" y="4606809"/>
            <a:ext cx="4159908" cy="4917071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9934" y="5045722"/>
            <a:ext cx="1024130" cy="10241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14382" y="6325885"/>
            <a:ext cx="3355234" cy="877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27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危险化学品</a:t>
            </a:r>
          </a:p>
          <a:p>
            <a:pPr algn="ctr">
              <a:lnSpc>
                <a:spcPct val="128000"/>
              </a:lnSpc>
            </a:pPr>
            <a:r>
              <a:rPr sz="27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管理体系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4382" y="7386592"/>
            <a:ext cx="3355234" cy="893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危化品全流程是否受控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4382" y="8463174"/>
            <a:ext cx="3355234" cy="621793"/>
          </a:xfrm>
          <a:prstGeom prst="roundRect">
            <a:avLst>
              <a:gd name="adj" fmla="val 6000"/>
            </a:avLst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4382" y="8463174"/>
            <a:ext cx="3355234" cy="621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现状：【待评估】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7715" y="4606809"/>
            <a:ext cx="4159908" cy="4917071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05604" y="5045722"/>
            <a:ext cx="1024130" cy="10241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040052" y="6325885"/>
            <a:ext cx="3355234" cy="877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27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安全风险管控及</a:t>
            </a:r>
          </a:p>
          <a:p>
            <a:pPr algn="ctr">
              <a:lnSpc>
                <a:spcPct val="128000"/>
              </a:lnSpc>
            </a:pPr>
            <a:r>
              <a:rPr sz="27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隐患排查治理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0052" y="7386592"/>
            <a:ext cx="3355234" cy="8937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风险是否被识别并消除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40052" y="8463174"/>
            <a:ext cx="3355234" cy="621793"/>
          </a:xfrm>
          <a:prstGeom prst="roundRect">
            <a:avLst>
              <a:gd name="adj" fmla="val 6000"/>
            </a:avLst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40052" y="8463174"/>
            <a:ext cx="3355234" cy="621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现状：【待评估】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163384" y="4606809"/>
            <a:ext cx="4159908" cy="4917071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equip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31273" y="5045722"/>
            <a:ext cx="1024130" cy="102413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565721" y="6325885"/>
            <a:ext cx="3355234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27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设备管理体系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65721" y="6947679"/>
            <a:ext cx="3355234" cy="13326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23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设备是否处于安全状态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565721" y="8463174"/>
            <a:ext cx="3355234" cy="621793"/>
          </a:xfrm>
          <a:prstGeom prst="roundRect">
            <a:avLst>
              <a:gd name="adj" fmla="val 6000"/>
            </a:avLst>
          </a:prstGeom>
          <a:solidFill>
            <a:srgbClr val="DC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565721" y="8463174"/>
            <a:ext cx="3355234" cy="621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现状：【待评估】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0706" y="9999369"/>
            <a:ext cx="22262586" cy="2107316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99619" y="10291978"/>
            <a:ext cx="1062230" cy="15220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请重视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26442" y="10401707"/>
            <a:ext cx="0" cy="130264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91035" y="10291978"/>
            <a:ext cx="19993345" cy="15220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2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同类隐患半年内被记录约 300 次仍未根治 —— 风险管控与隐患治理这块基石首先没有立住。五个体系不是文件，要落到每一次实际操作上。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6" y="12362718"/>
            <a:ext cx="17007882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五大保障基石划分沿用集团安全管理体系口径；各体系现状评级需按实际填写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51469" y="12362718"/>
            <a:ext cx="1554483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6" y="2377445"/>
            <a:ext cx="22262586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行动要求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6" y="2926087"/>
            <a:ext cx="22262586" cy="7924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请各层级立即落实的三件事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6" y="3901449"/>
            <a:ext cx="22262586" cy="449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下列为建议框架，具体责任人与完成时限请按实际管理要求确定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6" y="4606809"/>
            <a:ext cx="3145543" cy="2207350"/>
          </a:xfrm>
          <a:prstGeom prst="roundRect">
            <a:avLst>
              <a:gd name="adj" fmla="val 4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5" y="4606809"/>
            <a:ext cx="2560326" cy="220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3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管理层</a:t>
            </a:r>
          </a:p>
        </p:txBody>
      </p:sp>
      <p:sp>
        <p:nvSpPr>
          <p:cNvPr id="7" name="Oval 6"/>
          <p:cNvSpPr/>
          <p:nvPr/>
        </p:nvSpPr>
        <p:spPr>
          <a:xfrm>
            <a:off x="4535435" y="4917706"/>
            <a:ext cx="116586" cy="11658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08054" y="4753113"/>
            <a:ext cx="18415239" cy="445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把重复隐患纳入管理视野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8054" y="5272037"/>
            <a:ext cx="18415239" cy="42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484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对同类隐患累计超过阈值的风险点，升级为专项整治并跟踪到关闭</a:t>
            </a:r>
          </a:p>
        </p:txBody>
      </p:sp>
      <p:sp>
        <p:nvSpPr>
          <p:cNvPr id="10" name="Oval 9"/>
          <p:cNvSpPr/>
          <p:nvPr/>
        </p:nvSpPr>
        <p:spPr>
          <a:xfrm>
            <a:off x="4535435" y="6115390"/>
            <a:ext cx="116586" cy="11658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8054" y="5950797"/>
            <a:ext cx="18415239" cy="445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为整改配资源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8054" y="6469721"/>
            <a:ext cx="18415239" cy="42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484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涉及工装、设备、作业方式变更的整改，明确预算与责任部门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0706" y="7253072"/>
            <a:ext cx="3145543" cy="2207350"/>
          </a:xfrm>
          <a:prstGeom prst="roundRect">
            <a:avLst>
              <a:gd name="adj" fmla="val 4000"/>
            </a:avLst>
          </a:prstGeom>
          <a:solidFill>
            <a:srgbClr val="326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5" y="7253072"/>
            <a:ext cx="2560326" cy="220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3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车间与班组</a:t>
            </a:r>
          </a:p>
        </p:txBody>
      </p:sp>
      <p:sp>
        <p:nvSpPr>
          <p:cNvPr id="15" name="Oval 14"/>
          <p:cNvSpPr/>
          <p:nvPr/>
        </p:nvSpPr>
        <p:spPr>
          <a:xfrm>
            <a:off x="4535435" y="7563969"/>
            <a:ext cx="116586" cy="11658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08054" y="7399377"/>
            <a:ext cx="18415239" cy="445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隐患关闭改为复现验证制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8054" y="7918300"/>
            <a:ext cx="18415239" cy="42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484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设定观察期，期内同类隐患零复现才允许关闭，不以已处理为准</a:t>
            </a:r>
          </a:p>
        </p:txBody>
      </p:sp>
      <p:sp>
        <p:nvSpPr>
          <p:cNvPr id="18" name="Oval 17"/>
          <p:cNvSpPr/>
          <p:nvPr/>
        </p:nvSpPr>
        <p:spPr>
          <a:xfrm>
            <a:off x="4535435" y="8761653"/>
            <a:ext cx="116586" cy="11658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8054" y="8597061"/>
            <a:ext cx="18415239" cy="445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对 200L 桶操作开展专项排查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8054" y="9115984"/>
            <a:ext cx="18415239" cy="42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484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覆盖全部相关岗位，逐条核对作业方式是否已实质改变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6" y="9899336"/>
            <a:ext cx="3145543" cy="2207350"/>
          </a:xfrm>
          <a:prstGeom prst="roundRect">
            <a:avLst>
              <a:gd name="adj" fmla="val 4000"/>
            </a:avLst>
          </a:prstGeom>
          <a:solidFill>
            <a:srgbClr val="1A7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3315" y="9899336"/>
            <a:ext cx="2560326" cy="2207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3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每一位员工</a:t>
            </a:r>
          </a:p>
        </p:txBody>
      </p:sp>
      <p:sp>
        <p:nvSpPr>
          <p:cNvPr id="23" name="Oval 22"/>
          <p:cNvSpPr/>
          <p:nvPr/>
        </p:nvSpPr>
        <p:spPr>
          <a:xfrm>
            <a:off x="4535435" y="10210232"/>
            <a:ext cx="116586" cy="11658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08054" y="10045640"/>
            <a:ext cx="18415239" cy="445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继续上报，不要因为报了没用而停止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8054" y="10564563"/>
            <a:ext cx="18415239" cy="42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484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上报量下降不等于更安全，隐瞒才是最大的风险</a:t>
            </a:r>
          </a:p>
        </p:txBody>
      </p:sp>
      <p:sp>
        <p:nvSpPr>
          <p:cNvPr id="26" name="Oval 25"/>
          <p:cNvSpPr/>
          <p:nvPr/>
        </p:nvSpPr>
        <p:spPr>
          <a:xfrm>
            <a:off x="4535435" y="11407916"/>
            <a:ext cx="116586" cy="11658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8054" y="11243324"/>
            <a:ext cx="18415239" cy="445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按标准作业，不省步骤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8054" y="11762247"/>
            <a:ext cx="18415239" cy="422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484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绝大多数事故的直接原因，是一次以为这次没事的省略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6" y="12362718"/>
            <a:ext cx="17007882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本页为建议框架，请按各厂区实际情况确定责任人、完成时限与验证方式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51469" y="12362718"/>
            <a:ext cx="1554483" cy="4389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20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6" y="4297690"/>
            <a:ext cx="22262586" cy="6217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1" i="0">
                <a:solidFill>
                  <a:srgbClr val="C00000"/>
                </a:solidFill>
                <a:latin typeface="Arial"/>
                <a:ea typeface="微软雅黑"/>
                <a:cs typeface="Arial"/>
              </a:rPr>
              <a:t>请全员重视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0706" y="5175516"/>
            <a:ext cx="137160" cy="277978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9348" y="5102364"/>
            <a:ext cx="19591076" cy="1243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62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下一个 300 条隐患里，可能就藏着下一起事故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9348" y="6601984"/>
            <a:ext cx="16029062" cy="10972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我们无法消除事故本身，但可以消除通向事故的每一条隐患。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9348" y="9509783"/>
            <a:ext cx="6920988" cy="1572771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5" y="9802392"/>
            <a:ext cx="6116314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9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发现隐患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5" y="10460762"/>
            <a:ext cx="6116314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立即上报，不判断大小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5826" y="9509783"/>
            <a:ext cx="6920988" cy="1572771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08163" y="9802392"/>
            <a:ext cx="6116314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9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整改隐患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8163" y="10460762"/>
            <a:ext cx="6116314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改到原因，不停在现象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02304" y="9509783"/>
            <a:ext cx="6920988" cy="1572771"/>
          </a:xfrm>
          <a:prstGeom prst="roundRect">
            <a:avLst>
              <a:gd name="adj" fmla="val 45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804641" y="9802392"/>
            <a:ext cx="6116314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9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关闭隐患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04641" y="10460762"/>
            <a:ext cx="6116314" cy="548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以不再重现为标准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0706" y="11667773"/>
            <a:ext cx="22262587" cy="0"/>
          </a:xfrm>
          <a:prstGeom prst="line">
            <a:avLst/>
          </a:prstGeom>
          <a:ln w="20320">
            <a:solidFill>
              <a:srgbClr val="C2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0706" y="11887229"/>
            <a:ext cx="22262586" cy="5120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本材料为内部安全警示用途，请勿外传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122</Words>
  <Application>Microsoft Office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Helvetica Neue</vt:lpstr>
      <vt:lpstr>黑体</vt:lpstr>
      <vt:lpstr>思源宋体 CN Medium</vt:lpstr>
      <vt:lpstr>宋体</vt:lpstr>
      <vt:lpstr>微软雅黑</vt:lpstr>
      <vt:lpstr>Arial</vt:lpstr>
      <vt:lpstr>Arial Black</vt:lpstr>
      <vt:lpstr>webwppDefTheme</vt:lpstr>
      <vt:lpstr>2_White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老必</dc:creator>
  <cp:lastModifiedBy>Liang Wang</cp:lastModifiedBy>
  <cp:revision>54</cp:revision>
  <dcterms:created xsi:type="dcterms:W3CDTF">2026-07-23T10:31:40Z</dcterms:created>
  <dcterms:modified xsi:type="dcterms:W3CDTF">2026-07-30T01:09:35Z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079963312D2240389AD908715C6431E1</vt:lpwstr>
  </property>
</Properties>
</file>
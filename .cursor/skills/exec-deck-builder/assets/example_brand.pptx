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2438403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 年</c:v>
                </c:pt>
              </c:strCache>
            </c:strRef>
          </c:tx>
          <c:spPr>
            <a:solidFill>
              <a:srgbClr val="4472C4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148</c:v>
                </c:pt>
                <c:pt idx="1">
                  <c:v>132</c:v>
                </c:pt>
                <c:pt idx="2">
                  <c:v>165</c:v>
                </c:pt>
                <c:pt idx="3">
                  <c:v>171</c:v>
                </c:pt>
                <c:pt idx="4">
                  <c:v>178</c:v>
                </c:pt>
                <c:pt idx="5">
                  <c:v>182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年</c:v>
                </c:pt>
              </c:strCache>
            </c:strRef>
          </c:tx>
          <c:spPr>
            <a:solidFill>
              <a:srgbClr val="E5B620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186</c:v>
                </c:pt>
                <c:pt idx="1">
                  <c:v>171</c:v>
                </c:pt>
                <c:pt idx="2">
                  <c:v>208</c:v>
                </c:pt>
                <c:pt idx="3">
                  <c:v>232</c:v>
                </c:pt>
                <c:pt idx="4">
                  <c:v>241</c:v>
                </c:pt>
                <c:pt idx="5">
                  <c:v>246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2400" b="1">
                  <a:solidFill>
                    <a:srgbClr val="E7E6E6"/>
                  </a:solidFill>
                  <a:latin typeface="Arial"/>
                  <a:ea typeface="微软雅黑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19050">
            <a:solidFill>
              <a:srgbClr val="4A79B8"/>
            </a:solidFill>
          </a:ln>
        </c:spPr>
        <c:txPr>
          <a:bodyPr/>
          <a:lstStyle/>
          <a:p>
            <a:pPr>
              <a:defRPr sz="2400">
                <a:solidFill>
                  <a:srgbClr val="D7E2EF"/>
                </a:solidFill>
                <a:latin typeface="Arial"/>
                <a:ea typeface="微软雅黑"/>
                <a:cs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12700">
              <a:solidFill>
                <a:srgbClr val="4A79B8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 w="19050">
            <a:solidFill>
              <a:srgbClr val="4A79B8"/>
            </a:solidFill>
          </a:ln>
        </c:spPr>
        <c:txPr>
          <a:bodyPr/>
          <a:lstStyle/>
          <a:p>
            <a:pPr>
              <a:defRPr sz="2400">
                <a:solidFill>
                  <a:srgbClr val="D7E2EF"/>
                </a:solidFill>
                <a:latin typeface="Arial"/>
                <a:ea typeface="微软雅黑"/>
                <a:cs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2400">
              <a:solidFill>
                <a:srgbClr val="D7E2EF"/>
              </a:solidFill>
              <a:latin typeface="Arial"/>
              <a:ea typeface="微软雅黑"/>
              <a:cs typeface="Arial"/>
            </a:defRPr>
          </a:pPr>
        </a:p>
      </c:txPr>
    </c:legend>
    <c:dispBlanksAs val="gap"/>
  </c:chart>
  <c:txPr>
    <a:bodyPr/>
    <a:lstStyle/>
    <a:p>
      <a:pPr>
        <a:defRPr sz="2400">
          <a:solidFill>
            <a:srgbClr val="D7E2EF"/>
          </a:solidFill>
          <a:latin typeface="Arial"/>
          <a:ea typeface="微软雅黑"/>
          <a:cs typeface="Arial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A5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30" cy="13716051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24384030" cy="13716051"/>
          </a:xfrm>
          <a:prstGeom prst="rect">
            <a:avLst/>
          </a:prstGeom>
          <a:solidFill>
            <a:srgbClr val="002A52">
              <a:alpha val="5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572773" y="3346716"/>
            <a:ext cx="21238482" cy="5486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1" i="0">
                <a:solidFill>
                  <a:srgbClr val="F4E09F"/>
                </a:solidFill>
                <a:latin typeface="Arial"/>
                <a:ea typeface="微软雅黑"/>
                <a:cs typeface="Arial"/>
              </a:rPr>
              <a:t>生产管理部 · 半年度经营汇报</a:t>
            </a:r>
          </a:p>
        </p:txBody>
      </p:sp>
      <p:sp>
        <p:nvSpPr>
          <p:cNvPr id="5" name="Rectangle 4"/>
          <p:cNvSpPr/>
          <p:nvPr/>
        </p:nvSpPr>
        <p:spPr>
          <a:xfrm>
            <a:off x="1572773" y="4114815"/>
            <a:ext cx="164592" cy="1133860"/>
          </a:xfrm>
          <a:prstGeom prst="rect">
            <a:avLst/>
          </a:prstGeom>
          <a:solidFill>
            <a:srgbClr val="E5B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21415" y="4114815"/>
            <a:ext cx="20689840" cy="1178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8000" b="1" i="0">
                <a:solidFill>
                  <a:srgbClr val="E7E6E6"/>
                </a:solidFill>
                <a:latin typeface="Arial"/>
                <a:ea typeface="微软雅黑"/>
                <a:cs typeface="Arial"/>
              </a:rPr>
              <a:t>2026 年上半年生产运营回顾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21415" y="5695717"/>
            <a:ext cx="16990786" cy="5943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600" b="0" i="0">
                <a:solidFill>
                  <a:srgbClr val="D7E2EF"/>
                </a:solidFill>
                <a:latin typeface="Arial"/>
                <a:ea typeface="微软雅黑"/>
                <a:cs typeface="Arial"/>
              </a:rPr>
              <a:t>产能达成、质量合规与产线瓶颈的系统性复盘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572773" y="11448330"/>
            <a:ext cx="21238483" cy="0"/>
          </a:xfrm>
          <a:prstGeom prst="line">
            <a:avLst/>
          </a:prstGeom>
          <a:ln w="19050">
            <a:solidFill>
              <a:srgbClr val="4A79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572773" y="11704363"/>
            <a:ext cx="21238482" cy="5486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400" b="0" i="0">
                <a:solidFill>
                  <a:srgbClr val="D7E2EF"/>
                </a:solidFill>
                <a:latin typeface="Arial"/>
                <a:ea typeface="微软雅黑"/>
                <a:cs typeface="Arial"/>
              </a:rPr>
              <a:t>汇报人：张三    |    2026 年 7 月 30 日    |    内部资料 请勿外传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66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33860" y="1133860"/>
            <a:ext cx="22116309" cy="438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300" b="1" i="0">
                <a:solidFill>
                  <a:srgbClr val="F4E09F"/>
                </a:solidFill>
                <a:latin typeface="Arial"/>
                <a:ea typeface="微软雅黑"/>
                <a:cs typeface="Arial"/>
              </a:rPr>
              <a:t>执行摘要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60" y="1682502"/>
            <a:ext cx="22116309" cy="7625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600" b="1" i="0">
                <a:solidFill>
                  <a:srgbClr val="E7E6E6"/>
                </a:solidFill>
                <a:latin typeface="Arial"/>
                <a:ea typeface="微软雅黑"/>
                <a:cs typeface="Arial"/>
              </a:rPr>
              <a:t>上半年产量超目标 5.2 个百分点，但 3 号线瓶颈已开始制约三季度交付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33860" y="2737622"/>
            <a:ext cx="5199892" cy="3566173"/>
          </a:xfrm>
          <a:prstGeom prst="roundRect">
            <a:avLst>
              <a:gd name="adj" fmla="val 4500"/>
            </a:avLst>
          </a:prstGeom>
          <a:solidFill>
            <a:srgbClr val="0B4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36197" y="3424440"/>
            <a:ext cx="4395217" cy="1168404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8000"/>
              </a:lnSpc>
            </a:pPr>
            <a:r>
              <a:rPr sz="8000" b="1" i="0">
                <a:solidFill>
                  <a:srgbClr val="E7E6E6"/>
                </a:solidFill>
                <a:latin typeface="Arial"/>
                <a:ea typeface="微软雅黑"/>
                <a:cs typeface="Arial"/>
              </a:rPr>
              <a:t>1,284</a:t>
            </a:r>
            <a:r>
              <a:rPr sz="3360" b="0" i="0">
                <a:solidFill>
                  <a:srgbClr val="D7E2EF"/>
                </a:solidFill>
                <a:latin typeface="Arial"/>
                <a:ea typeface="微软雅黑"/>
                <a:cs typeface="Arial"/>
              </a:rPr>
              <a:t> 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36197" y="4702573"/>
            <a:ext cx="4395217" cy="438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300" b="0" i="0">
                <a:solidFill>
                  <a:srgbClr val="D7E2EF"/>
                </a:solidFill>
                <a:latin typeface="Arial"/>
                <a:ea typeface="微软雅黑"/>
                <a:cs typeface="Arial"/>
              </a:rPr>
              <a:t>上半年总产量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7" y="5141487"/>
            <a:ext cx="4395217" cy="4754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40" b="0" i="0">
                <a:solidFill>
                  <a:srgbClr val="B9EED4"/>
                </a:solidFill>
                <a:latin typeface="Arial"/>
                <a:ea typeface="微软雅黑"/>
                <a:cs typeface="Arial"/>
              </a:rPr>
              <a:t>▲ </a:t>
            </a:r>
            <a:r>
              <a:rPr sz="2400" b="1" i="0">
                <a:solidFill>
                  <a:srgbClr val="B9EED4"/>
                </a:solidFill>
                <a:latin typeface="Arial"/>
                <a:ea typeface="微软雅黑"/>
                <a:cs typeface="Arial"/>
              </a:rPr>
              <a:t>同比 +23.1%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72666" y="2737622"/>
            <a:ext cx="5199892" cy="3566173"/>
          </a:xfrm>
          <a:prstGeom prst="roundRect">
            <a:avLst>
              <a:gd name="adj" fmla="val 4500"/>
            </a:avLst>
          </a:prstGeom>
          <a:solidFill>
            <a:srgbClr val="0B4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75003" y="3424440"/>
            <a:ext cx="4395217" cy="1168404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8000"/>
              </a:lnSpc>
            </a:pPr>
            <a:r>
              <a:rPr sz="8000" b="1" i="0">
                <a:solidFill>
                  <a:srgbClr val="F4E09F"/>
                </a:solidFill>
                <a:latin typeface="Arial"/>
                <a:ea typeface="微软雅黑"/>
                <a:cs typeface="Arial"/>
              </a:rPr>
              <a:t>105.2</a:t>
            </a:r>
            <a:r>
              <a:rPr sz="3360" b="0" i="0">
                <a:solidFill>
                  <a:srgbClr val="D7E2EF"/>
                </a:solidFill>
                <a:latin typeface="Arial"/>
                <a:ea typeface="微软雅黑"/>
                <a:cs typeface="Arial"/>
              </a:rPr>
              <a:t>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5003" y="4702573"/>
            <a:ext cx="4395217" cy="438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300" b="0" i="0">
                <a:solidFill>
                  <a:srgbClr val="D7E2EF"/>
                </a:solidFill>
                <a:latin typeface="Arial"/>
                <a:ea typeface="微软雅黑"/>
                <a:cs typeface="Arial"/>
              </a:rPr>
              <a:t>年度目标达成率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75003" y="5141487"/>
            <a:ext cx="4395217" cy="4754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40" b="0" i="0">
                <a:solidFill>
                  <a:srgbClr val="B9EED4"/>
                </a:solidFill>
                <a:latin typeface="Arial"/>
                <a:ea typeface="微软雅黑"/>
                <a:cs typeface="Arial"/>
              </a:rPr>
              <a:t>▲ </a:t>
            </a:r>
            <a:r>
              <a:rPr sz="2400" b="1" i="0">
                <a:solidFill>
                  <a:srgbClr val="B9EED4"/>
                </a:solidFill>
                <a:latin typeface="Arial"/>
                <a:ea typeface="微软雅黑"/>
                <a:cs typeface="Arial"/>
              </a:rPr>
              <a:t>高于计划 5.2pp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411472" y="2737622"/>
            <a:ext cx="5199892" cy="3566173"/>
          </a:xfrm>
          <a:prstGeom prst="roundRect">
            <a:avLst>
              <a:gd name="adj" fmla="val 4500"/>
            </a:avLst>
          </a:prstGeom>
          <a:solidFill>
            <a:srgbClr val="0B4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13809" y="3424440"/>
            <a:ext cx="4395217" cy="1168404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8000"/>
              </a:lnSpc>
            </a:pPr>
            <a:r>
              <a:rPr sz="8000" b="1" i="0">
                <a:solidFill>
                  <a:srgbClr val="E7E6E6"/>
                </a:solidFill>
                <a:latin typeface="Arial"/>
                <a:ea typeface="微软雅黑"/>
                <a:cs typeface="Arial"/>
              </a:rPr>
              <a:t>99.2</a:t>
            </a:r>
            <a:r>
              <a:rPr sz="3360" b="0" i="0">
                <a:solidFill>
                  <a:srgbClr val="D7E2EF"/>
                </a:solidFill>
                <a:latin typeface="Arial"/>
                <a:ea typeface="微软雅黑"/>
                <a:cs typeface="Arial"/>
              </a:rPr>
              <a:t>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13809" y="4702573"/>
            <a:ext cx="4395217" cy="438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300" b="0" i="0">
                <a:solidFill>
                  <a:srgbClr val="D7E2EF"/>
                </a:solidFill>
                <a:latin typeface="Arial"/>
                <a:ea typeface="微软雅黑"/>
                <a:cs typeface="Arial"/>
              </a:rPr>
              <a:t>批次一次通过率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13809" y="5141487"/>
            <a:ext cx="4395217" cy="4754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40" b="0" i="0">
                <a:solidFill>
                  <a:srgbClr val="B9EED4"/>
                </a:solidFill>
                <a:latin typeface="Arial"/>
                <a:ea typeface="微软雅黑"/>
                <a:cs typeface="Arial"/>
              </a:rPr>
              <a:t>▲ </a:t>
            </a:r>
            <a:r>
              <a:rPr sz="2400" b="1" i="0">
                <a:solidFill>
                  <a:srgbClr val="B9EED4"/>
                </a:solidFill>
                <a:latin typeface="Arial"/>
                <a:ea typeface="微软雅黑"/>
                <a:cs typeface="Arial"/>
              </a:rPr>
              <a:t>同比 +1.4pp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050277" y="2737622"/>
            <a:ext cx="5199892" cy="3566173"/>
          </a:xfrm>
          <a:prstGeom prst="roundRect">
            <a:avLst>
              <a:gd name="adj" fmla="val 4500"/>
            </a:avLst>
          </a:prstGeom>
          <a:solidFill>
            <a:srgbClr val="0B4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452615" y="3424440"/>
            <a:ext cx="4395217" cy="1168404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8000"/>
              </a:lnSpc>
            </a:pPr>
            <a:r>
              <a:rPr sz="8000" b="1" i="0">
                <a:solidFill>
                  <a:srgbClr val="E7E6E6"/>
                </a:solidFill>
                <a:latin typeface="Arial"/>
                <a:ea typeface="微软雅黑"/>
                <a:cs typeface="Arial"/>
              </a:rPr>
              <a:t>6</a:t>
            </a:r>
            <a:r>
              <a:rPr sz="3360" b="0" i="0">
                <a:solidFill>
                  <a:srgbClr val="D7E2EF"/>
                </a:solidFill>
                <a:latin typeface="Arial"/>
                <a:ea typeface="微软雅黑"/>
                <a:cs typeface="Arial"/>
              </a:rPr>
              <a:t> 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452615" y="4702573"/>
            <a:ext cx="4395217" cy="438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300" b="0" i="0">
                <a:solidFill>
                  <a:srgbClr val="D7E2EF"/>
                </a:solidFill>
                <a:latin typeface="Arial"/>
                <a:ea typeface="微软雅黑"/>
                <a:cs typeface="Arial"/>
              </a:rPr>
              <a:t>重大偏差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452615" y="5141487"/>
            <a:ext cx="4395217" cy="4754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40" b="0" i="0">
                <a:solidFill>
                  <a:srgbClr val="B9EED4"/>
                </a:solidFill>
                <a:latin typeface="Arial"/>
                <a:ea typeface="微软雅黑"/>
                <a:cs typeface="Arial"/>
              </a:rPr>
              <a:t>▼ </a:t>
            </a:r>
            <a:r>
              <a:rPr sz="2400" b="1" i="0">
                <a:solidFill>
                  <a:srgbClr val="B9EED4"/>
                </a:solidFill>
                <a:latin typeface="Arial"/>
                <a:ea typeface="微软雅黑"/>
                <a:cs typeface="Arial"/>
              </a:rPr>
              <a:t>同比 -45%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60" y="6872960"/>
            <a:ext cx="10747257" cy="5120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3200" b="1" i="0">
                <a:solidFill>
                  <a:srgbClr val="E7E6E6"/>
                </a:solidFill>
                <a:latin typeface="Arial"/>
                <a:ea typeface="微软雅黑"/>
                <a:cs typeface="Arial"/>
              </a:rPr>
              <a:t>三个结论</a:t>
            </a:r>
          </a:p>
        </p:txBody>
      </p:sp>
      <p:sp>
        <p:nvSpPr>
          <p:cNvPr id="21" name="Oval 20"/>
          <p:cNvSpPr/>
          <p:nvPr/>
        </p:nvSpPr>
        <p:spPr>
          <a:xfrm>
            <a:off x="1133860" y="7738596"/>
            <a:ext cx="120904" cy="120904"/>
          </a:xfrm>
          <a:prstGeom prst="ellipse">
            <a:avLst/>
          </a:prstGeom>
          <a:solidFill>
            <a:srgbClr val="E5B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10797" y="7567907"/>
            <a:ext cx="10370320" cy="4622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E7E6E6"/>
                </a:solidFill>
                <a:latin typeface="Arial"/>
                <a:ea typeface="微软雅黑"/>
                <a:cs typeface="Arial"/>
              </a:rPr>
              <a:t>产能已释放到设计上限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0797" y="8103341"/>
            <a:ext cx="10370320" cy="4383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576" b="0" i="0">
                <a:solidFill>
                  <a:srgbClr val="D7E2EF"/>
                </a:solidFill>
                <a:latin typeface="Arial"/>
                <a:ea typeface="微软雅黑"/>
                <a:cs typeface="Arial"/>
              </a:rPr>
              <a:t>1、2 号线利用率 94%，进一步增产依赖 3 号线扩能</a:t>
            </a:r>
          </a:p>
        </p:txBody>
      </p:sp>
      <p:sp>
        <p:nvSpPr>
          <p:cNvPr id="24" name="Oval 23"/>
          <p:cNvSpPr/>
          <p:nvPr/>
        </p:nvSpPr>
        <p:spPr>
          <a:xfrm>
            <a:off x="1133860" y="8968448"/>
            <a:ext cx="120904" cy="120904"/>
          </a:xfrm>
          <a:prstGeom prst="ellipse">
            <a:avLst/>
          </a:prstGeom>
          <a:solidFill>
            <a:srgbClr val="E5B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510797" y="8797759"/>
            <a:ext cx="10370320" cy="4622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E7E6E6"/>
                </a:solidFill>
                <a:latin typeface="Arial"/>
                <a:ea typeface="微软雅黑"/>
                <a:cs typeface="Arial"/>
              </a:rPr>
              <a:t>质量指标全面向好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10797" y="9333193"/>
            <a:ext cx="10370320" cy="4383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576" b="0" i="0">
                <a:solidFill>
                  <a:srgbClr val="D7E2EF"/>
                </a:solidFill>
                <a:latin typeface="Arial"/>
                <a:ea typeface="微软雅黑"/>
                <a:cs typeface="Arial"/>
              </a:rPr>
              <a:t>一次通过率 99.2%，重大偏差同比下降 45%</a:t>
            </a:r>
          </a:p>
        </p:txBody>
      </p:sp>
      <p:sp>
        <p:nvSpPr>
          <p:cNvPr id="27" name="Oval 26"/>
          <p:cNvSpPr/>
          <p:nvPr/>
        </p:nvSpPr>
        <p:spPr>
          <a:xfrm>
            <a:off x="1133860" y="10198300"/>
            <a:ext cx="120904" cy="120904"/>
          </a:xfrm>
          <a:prstGeom prst="ellipse">
            <a:avLst/>
          </a:prstGeom>
          <a:solidFill>
            <a:srgbClr val="E5B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510797" y="10027612"/>
            <a:ext cx="10370320" cy="4622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E7E6E6"/>
                </a:solidFill>
                <a:latin typeface="Arial"/>
                <a:ea typeface="微软雅黑"/>
                <a:cs typeface="Arial"/>
              </a:rPr>
              <a:t>瓶颈从原料转向后处理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10797" y="10563046"/>
            <a:ext cx="10370320" cy="4383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576" b="0" i="0">
                <a:solidFill>
                  <a:srgbClr val="D7E2EF"/>
                </a:solidFill>
                <a:latin typeface="Arial"/>
                <a:ea typeface="微软雅黑"/>
                <a:cs typeface="Arial"/>
              </a:rPr>
              <a:t>结晶工序 CT 占全流程 38%，是当前唯一瓶颈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502912" y="6872960"/>
            <a:ext cx="10747257" cy="5120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3200" b="1" i="0">
                <a:solidFill>
                  <a:srgbClr val="E7E6E6"/>
                </a:solidFill>
                <a:latin typeface="Arial"/>
                <a:ea typeface="微软雅黑"/>
                <a:cs typeface="Arial"/>
              </a:rPr>
              <a:t>需要决策的事项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502912" y="7567907"/>
            <a:ext cx="694946" cy="46228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2520" b="1" i="0">
                <a:solidFill>
                  <a:srgbClr val="F4E09F"/>
                </a:solidFill>
                <a:latin typeface="Arial"/>
                <a:ea typeface="微软雅黑"/>
                <a:cs typeface="Arial"/>
              </a:rP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344163" y="7567907"/>
            <a:ext cx="9906006" cy="4622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E7E6E6"/>
                </a:solidFill>
                <a:latin typeface="Arial"/>
                <a:ea typeface="微软雅黑"/>
                <a:cs typeface="Arial"/>
              </a:rPr>
              <a:t>3 号线结晶工序扩能投资 2,800 万元，请批准立项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502912" y="8359374"/>
            <a:ext cx="694946" cy="46228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2520" b="1" i="0">
                <a:solidFill>
                  <a:srgbClr val="F4E09F"/>
                </a:solidFill>
                <a:latin typeface="Arial"/>
                <a:ea typeface="微软雅黑"/>
                <a:cs typeface="Arial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344163" y="8359374"/>
            <a:ext cx="9906006" cy="4622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E7E6E6"/>
                </a:solidFill>
                <a:latin typeface="Arial"/>
                <a:ea typeface="微软雅黑"/>
                <a:cs typeface="Arial"/>
              </a:rPr>
              <a:t>Q3 起 A 产品排产上限暂定 240 吨 / 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502912" y="9150841"/>
            <a:ext cx="694946" cy="46228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2520" b="1" i="0">
                <a:solidFill>
                  <a:srgbClr val="F4E09F"/>
                </a:solidFill>
                <a:latin typeface="Arial"/>
                <a:ea typeface="微软雅黑"/>
                <a:cs typeface="Arial"/>
              </a:rPr>
              <a:t>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344163" y="9150841"/>
            <a:ext cx="9906006" cy="4622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E7E6E6"/>
                </a:solidFill>
                <a:latin typeface="Arial"/>
                <a:ea typeface="微软雅黑"/>
                <a:cs typeface="Arial"/>
              </a:rPr>
              <a:t>关键岗位增编 12 人，请人力资源部支持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33860" y="12655343"/>
            <a:ext cx="22116309" cy="438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 i="0">
                <a:solidFill>
                  <a:srgbClr val="D7E2EF"/>
                </a:solidFill>
                <a:latin typeface="Arial"/>
                <a:ea typeface="微软雅黑"/>
                <a:cs typeface="Arial"/>
              </a:rPr>
              <a:t>数据来源：MES 系统 + ERP 生产模块，统计区间 2026-01-01 至 2026-06-30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421363" y="12655343"/>
            <a:ext cx="1828806" cy="438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1900" b="0" i="0">
                <a:solidFill>
                  <a:srgbClr val="D7E2EF"/>
                </a:solidFill>
                <a:latin typeface="Arial"/>
                <a:ea typeface="微软雅黑"/>
                <a:cs typeface="Arial"/>
              </a:rPr>
              <a:t>2 /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66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33860" y="1133860"/>
            <a:ext cx="22116309" cy="438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300" b="1" i="0">
                <a:solidFill>
                  <a:srgbClr val="F4E09F"/>
                </a:solidFill>
                <a:latin typeface="Arial"/>
                <a:ea typeface="微软雅黑"/>
                <a:cs typeface="Arial"/>
              </a:rPr>
              <a:t>产量趋势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60" y="1682502"/>
            <a:ext cx="22116309" cy="7625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600" b="1" i="0">
                <a:solidFill>
                  <a:srgbClr val="E7E6E6"/>
                </a:solidFill>
                <a:latin typeface="Arial"/>
                <a:ea typeface="微软雅黑"/>
                <a:cs typeface="Arial"/>
              </a:rPr>
              <a:t>产量逐月攀升，Q2 月均产量较 Q1 提升 28%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1133860" y="2737622"/>
          <a:ext cx="22116309" cy="725082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1133860" y="10317630"/>
            <a:ext cx="22116309" cy="2045103"/>
          </a:xfrm>
          <a:prstGeom prst="roundRect">
            <a:avLst>
              <a:gd name="adj" fmla="val 4500"/>
            </a:avLst>
          </a:prstGeom>
          <a:solidFill>
            <a:srgbClr val="E5B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72773" y="10610239"/>
            <a:ext cx="1328932" cy="145988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2400" b="1" i="0">
                <a:solidFill>
                  <a:srgbClr val="0A1F3C"/>
                </a:solidFill>
                <a:latin typeface="Arial"/>
                <a:ea typeface="微软雅黑"/>
                <a:cs typeface="Arial"/>
              </a:rPr>
              <a:t>关键发现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066299" y="10719967"/>
            <a:ext cx="0" cy="1240429"/>
          </a:xfrm>
          <a:prstGeom prst="line">
            <a:avLst/>
          </a:prstGeom>
          <a:ln w="19050">
            <a:solidFill>
              <a:srgbClr val="0A1F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230892" y="10610239"/>
            <a:ext cx="19580364" cy="145988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</a:pPr>
            <a:r>
              <a:rPr sz="2800" b="1" i="0">
                <a:solidFill>
                  <a:srgbClr val="0A1F3C"/>
                </a:solidFill>
                <a:latin typeface="Arial"/>
                <a:ea typeface="微软雅黑"/>
                <a:cs typeface="Arial"/>
              </a:rPr>
              <a:t>6 月单月产量 246 吨创历史新高，已达 3 号线满负荷状态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60" y="12655343"/>
            <a:ext cx="22116309" cy="438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 i="0">
                <a:solidFill>
                  <a:srgbClr val="D7E2EF"/>
                </a:solidFill>
                <a:latin typeface="Arial"/>
                <a:ea typeface="微软雅黑"/>
                <a:cs typeface="Arial"/>
              </a:rPr>
              <a:t>数据来源：MES 系统批次产出记录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21363" y="12655343"/>
            <a:ext cx="1828806" cy="438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1900" b="0" i="0">
                <a:solidFill>
                  <a:srgbClr val="D7E2EF"/>
                </a:solidFill>
                <a:latin typeface="Arial"/>
                <a:ea typeface="微软雅黑"/>
                <a:cs typeface="Arial"/>
              </a:rPr>
              <a:t>3 /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微软雅黑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软雅黑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
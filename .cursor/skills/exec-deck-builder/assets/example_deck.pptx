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C4E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影响占比</c:v>
                </c:pt>
              </c:strCache>
            </c:strRef>
          </c:tx>
          <c:spPr>
            <a:solidFill>
              <a:srgbClr val="C93B3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其他</c:v>
                </c:pt>
                <c:pt idx="1">
                  <c:v>人员配置不足</c:v>
                </c:pt>
                <c:pt idx="2">
                  <c:v>设备非计划停机</c:v>
                </c:pt>
                <c:pt idx="3">
                  <c:v>结晶周期偏长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15</c:v>
                </c:pt>
                <c:pt idx="2">
                  <c:v>26</c:v>
                </c:pt>
                <c:pt idx="3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前处理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合成反应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结晶后处理</c:v>
                </c:pt>
              </c:strCache>
            </c:strRef>
          </c:tx>
          <c:spPr>
            <a:solidFill>
              <a:srgbClr val="2AA9DB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</c:v>
                </c:pt>
                <c:pt idx="1">
                  <c:v>41</c:v>
                </c:pt>
                <c:pt idx="2">
                  <c:v>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包装检验</c:v>
                </c:pt>
              </c:strCache>
            </c:strRef>
          </c:tx>
          <c:spPr>
            <a:solidFill>
              <a:srgbClr val="27A567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25</c:v>
                </c:pt>
                <c:pt idx="1">
                  <c:v>21</c:v>
                </c:pt>
                <c:pt idx="2">
                  <c:v>24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67335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786384" y="2057400"/>
            <a:ext cx="82296" cy="566928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2057400"/>
            <a:ext cx="10344881" cy="589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2847848"/>
            <a:ext cx="8495361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86384" y="5724144"/>
            <a:ext cx="10619201" cy="0"/>
          </a:xfrm>
          <a:prstGeom prst="line">
            <a:avLst/>
          </a:prstGeom>
          <a:ln w="9525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86384" y="5852160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6320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7488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7488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7488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712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6880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880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6880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05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73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73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73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619459"/>
            <a:ext cx="56075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566928" y="401569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396" y="3930355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396" y="4198071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630623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396" y="4545279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396" y="4812995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5245547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5396" y="5160203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396" y="5427919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 CT 时间占全流程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8820" y="3619459"/>
            <a:ext cx="51762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820" y="3930355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9444" y="3930355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8820" y="4326087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9444" y="4326087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Q3 起 A 产品排产上限暂定 240 吨/月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8820" y="4721819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69444" y="4721819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整体表现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产量、达成率与产线负荷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36396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5154772"/>
            <a:ext cx="11058113" cy="1026571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5301076"/>
            <a:ext cx="664463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33143" y="5355940"/>
            <a:ext cx="0" cy="624236"/>
          </a:xfrm>
          <a:prstGeom prst="line">
            <a:avLst/>
          </a:prstGeom>
          <a:ln w="9525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15440" y="5301076"/>
            <a:ext cx="9790145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产线达成率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四条产线中 3 号线是唯一未达标产线，缺口 8.4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68806"/>
            <a:ext cx="55790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各产线目标达成率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3129" y="2136902"/>
            <a:ext cx="0" cy="2790317"/>
          </a:xfrm>
          <a:prstGeom prst="line">
            <a:avLst/>
          </a:prstGeom>
          <a:ln w="12700">
            <a:solidFill>
              <a:srgbClr val="9FB3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474489" y="189915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目标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244722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 号线（原料预处理）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9022" y="3281298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89022" y="3281298"/>
            <a:ext cx="2507130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2739" y="3244722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01923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 号线（合成反应）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9022" y="3738499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89022" y="3738499"/>
            <a:ext cx="2458448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32739" y="3701923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159123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号线（结晶后处理）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9022" y="4195699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9022" y="4195699"/>
            <a:ext cx="2229642" cy="182880"/>
          </a:xfrm>
          <a:prstGeom prst="roundRect">
            <a:avLst>
              <a:gd name="adj" fmla="val 50000"/>
            </a:avLst>
          </a:prstGeom>
          <a:solidFill>
            <a:srgbClr val="E5A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2739" y="4159123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E5A32B"/>
                </a:solidFill>
                <a:latin typeface="Arial"/>
                <a:ea typeface="微软雅黑"/>
                <a:cs typeface="Arial"/>
              </a:rPr>
              <a:t>91.6%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616323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4 号线（包装）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89022" y="4652899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89022" y="4652899"/>
            <a:ext cx="2628835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2739" y="4616323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155" y="1368806"/>
            <a:ext cx="51498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号线缺口归因（影响占比）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75155" y="1771142"/>
          <a:ext cx="5149886" cy="44102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达成率 = 实际产出 / 年度计划折算至半年的目标值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一次通过率、偏差与审计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质量表现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质量指标全面改善，但供应商来料波动仍是最大风险源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68806"/>
          <a:ext cx="11058109" cy="21396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82205"/>
                <a:gridCol w="1557480"/>
                <a:gridCol w="1557480"/>
                <a:gridCol w="1401732"/>
                <a:gridCol w="1557480"/>
                <a:gridCol w="140173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质量指标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上半年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去年同期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同比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年度目标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评价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批次一次通过率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97.8%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+1.4pp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≥98.5%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重大偏差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6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11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-45.5%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≤10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客户投诉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2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5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-60.0%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≤3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来料检验合格率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96.4%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98.1%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F7A6B"/>
                          </a:solidFill>
                          <a:latin typeface="Arial"/>
                          <a:ea typeface="微软雅黑"/>
                          <a:cs typeface="Arial"/>
                        </a:rPr>
                        <a:t>-1.7pp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≥98.0%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7A6B"/>
                          </a:solidFill>
                          <a:latin typeface="Arial"/>
                          <a:ea typeface="微软雅黑"/>
                          <a:cs typeface="Arial"/>
                        </a:rPr>
                        <a:t>未达成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OOS 调查关闭及时率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94.0%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89.0%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+5.0pp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≥95.0%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5A32B"/>
                          </a:solidFill>
                          <a:latin typeface="Arial"/>
                          <a:ea typeface="微软雅黑"/>
                          <a:cs typeface="Arial"/>
                        </a:rPr>
                        <a:t>接近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4446869"/>
            <a:ext cx="420624" cy="420624"/>
          </a:xfrm>
          <a:prstGeom prst="ellipse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已见效的举措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工艺参数标准化 + 关键岗位复训，一次通过率连续 5 个月上行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11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7285" y="4446869"/>
            <a:ext cx="420624" cy="420624"/>
          </a:xfrm>
          <a:prstGeom prst="ellipse">
            <a:avLst/>
          </a:prstGeom>
          <a:solidFill>
            <a:srgbClr val="E5A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728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728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待解决的问题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728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两家原料供应商来料纯度波动，已启动第二供应商审计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530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86475" y="4446869"/>
            <a:ext cx="420624" cy="420624"/>
          </a:xfrm>
          <a:prstGeom prst="ellipse">
            <a:avLst/>
          </a:prstGeom>
          <a:solidFill>
            <a:srgbClr val="1E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647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47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下一步动作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Q3 完成来料放行标准升版，并将纯度纳入供应商 KPI 考核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数据来源：QMS 系统偏差与投诉台账；来料检验合格率取批次加权值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瓶颈与改善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结晶工序专题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瓶颈定位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结晶工序占全流程周期 38%，是唯一制约产能的瓶颈环节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2516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33582"/>
            <a:ext cx="5419328" cy="91440"/>
          </a:xfrm>
          <a:prstGeom prst="rect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改善前（2026 Q1）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8276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41 小时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276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降温曲线依赖人工经验判断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276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 ±18%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 210 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712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712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712" y="4433582"/>
            <a:ext cx="5419328" cy="91440"/>
          </a:xfrm>
          <a:prstGeom prst="rect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592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改善后（试点 3 批次）</a:t>
            </a:r>
          </a:p>
        </p:txBody>
      </p:sp>
      <p:sp>
        <p:nvSpPr>
          <p:cNvPr id="20" name="Oval 19"/>
          <p:cNvSpPr/>
          <p:nvPr/>
        </p:nvSpPr>
        <p:spPr>
          <a:xfrm>
            <a:off x="6388592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7060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29 小时（-29%）</a:t>
            </a:r>
          </a:p>
        </p:txBody>
      </p:sp>
      <p:sp>
        <p:nvSpPr>
          <p:cNvPr id="22" name="Oval 21"/>
          <p:cNvSpPr/>
          <p:nvPr/>
        </p:nvSpPr>
        <p:spPr>
          <a:xfrm>
            <a:off x="6388592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7060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自动降温程序 + 在线粒径监测</a:t>
            </a:r>
          </a:p>
        </p:txBody>
      </p:sp>
      <p:sp>
        <p:nvSpPr>
          <p:cNvPr id="24" name="Oval 23"/>
          <p:cNvSpPr/>
          <p:nvPr/>
        </p:nvSpPr>
        <p:spPr>
          <a:xfrm>
            <a:off x="6388592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7060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批次间粒径分布波动收窄至 ±6%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592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月产能上限可提升至 268 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周期占比按各工序标准工时占单批次总工时计算；试点数据来自 6 月 3 个验证批次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方案选择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扩能方案：优先投自动结晶控制系统，投资回收期 14 个月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自动结晶控制系统</a:t>
            </a:r>
          </a:p>
        </p:txBody>
      </p:sp>
      <p:sp>
        <p:nvSpPr>
          <p:cNvPr id="6" name="Oval 5"/>
          <p:cNvSpPr/>
          <p:nvPr/>
        </p:nvSpPr>
        <p:spPr>
          <a:xfrm>
            <a:off x="1042415" y="188087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2247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投资 2,800 万元</a:t>
            </a:r>
          </a:p>
        </p:txBody>
      </p:sp>
      <p:sp>
        <p:nvSpPr>
          <p:cNvPr id="8" name="Oval 7"/>
          <p:cNvSpPr/>
          <p:nvPr/>
        </p:nvSpPr>
        <p:spPr>
          <a:xfrm>
            <a:off x="1042415" y="217043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2247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产能 +27%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3728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320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新增结晶釜 2 台</a:t>
            </a:r>
          </a:p>
        </p:txBody>
      </p:sp>
      <p:sp>
        <p:nvSpPr>
          <p:cNvPr id="12" name="Oval 11"/>
          <p:cNvSpPr/>
          <p:nvPr/>
        </p:nvSpPr>
        <p:spPr>
          <a:xfrm>
            <a:off x="6498320" y="188087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8152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投资 5,600 万元</a:t>
            </a:r>
          </a:p>
        </p:txBody>
      </p:sp>
      <p:sp>
        <p:nvSpPr>
          <p:cNvPr id="14" name="Oval 13"/>
          <p:cNvSpPr/>
          <p:nvPr/>
        </p:nvSpPr>
        <p:spPr>
          <a:xfrm>
            <a:off x="6498320" y="217043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152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外协后处理</a:t>
            </a:r>
          </a:p>
        </p:txBody>
      </p:sp>
      <p:sp>
        <p:nvSpPr>
          <p:cNvPr id="18" name="Oval 17"/>
          <p:cNvSpPr/>
          <p:nvPr/>
        </p:nvSpPr>
        <p:spPr>
          <a:xfrm>
            <a:off x="1042415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2247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无资本支出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5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2247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728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320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维持现状</a:t>
            </a:r>
          </a:p>
        </p:txBody>
      </p:sp>
      <p:sp>
        <p:nvSpPr>
          <p:cNvPr id="24" name="Oval 23"/>
          <p:cNvSpPr/>
          <p:nvPr/>
        </p:nvSpPr>
        <p:spPr>
          <a:xfrm>
            <a:off x="6498320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152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无投入</a:t>
            </a:r>
          </a:p>
        </p:txBody>
      </p:sp>
      <p:sp>
        <p:nvSpPr>
          <p:cNvPr id="26" name="Oval 25"/>
          <p:cNvSpPr/>
          <p:nvPr/>
        </p:nvSpPr>
        <p:spPr>
          <a:xfrm>
            <a:off x="6498320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52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Q4 起交付缺口约 90 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投入强度低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投入强度高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产能收益低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产能收益高 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5013856"/>
            <a:ext cx="10875233" cy="0"/>
          </a:xfrm>
          <a:prstGeom prst="line">
            <a:avLst/>
          </a:prstGeom>
          <a:ln w="19050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81299" y="4922416"/>
            <a:ext cx="182880" cy="182880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8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立项审批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完成投资评审与预算下达</a:t>
            </a:r>
          </a:p>
        </p:txBody>
      </p:sp>
      <p:sp>
        <p:nvSpPr>
          <p:cNvPr id="37" name="Oval 36"/>
          <p:cNvSpPr/>
          <p:nvPr/>
        </p:nvSpPr>
        <p:spPr>
          <a:xfrm>
            <a:off x="3792922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3414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9-10 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3414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设备采购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3414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招标与合同签订</a:t>
            </a:r>
          </a:p>
        </p:txBody>
      </p:sp>
      <p:sp>
        <p:nvSpPr>
          <p:cNvPr id="41" name="Oval 40"/>
          <p:cNvSpPr/>
          <p:nvPr/>
        </p:nvSpPr>
        <p:spPr>
          <a:xfrm>
            <a:off x="6004544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5037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11 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5037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安装调试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5037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利用检修窗口施工</a:t>
            </a:r>
          </a:p>
        </p:txBody>
      </p:sp>
      <p:sp>
        <p:nvSpPr>
          <p:cNvPr id="45" name="Oval 44"/>
          <p:cNvSpPr/>
          <p:nvPr/>
        </p:nvSpPr>
        <p:spPr>
          <a:xfrm>
            <a:off x="8216167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56660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12 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6660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验证放行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6660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批次工艺验证</a:t>
            </a:r>
          </a:p>
        </p:txBody>
      </p:sp>
      <p:sp>
        <p:nvSpPr>
          <p:cNvPr id="49" name="Oval 48"/>
          <p:cNvSpPr/>
          <p:nvPr/>
        </p:nvSpPr>
        <p:spPr>
          <a:xfrm>
            <a:off x="10427790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6828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2027 Q1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828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产能释放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828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月产能提升至 268 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投资回收期按现有产品结构与 2026 年均价测算，未考虑价格波动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6384" y="1783080"/>
            <a:ext cx="82296" cy="512064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1783080"/>
            <a:ext cx="1034488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请领导决策的三项事项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2569464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569464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批准 3 号线自动结晶控制系统立项，投资 2,800 万元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3034792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3034792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确认 Q3 A 产品排产上限 240 吨/月，超出部分安排外协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500120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500120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支持关键岗位增编 12 人，9 月底前到岗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92531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生产管理部    |    2026 年 7 月 30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
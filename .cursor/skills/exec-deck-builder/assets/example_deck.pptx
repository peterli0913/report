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年</c:v>
                </c:pt>
              </c:strCache>
            </c:strRef>
          </c:tx>
          <c:spPr>
            <a:solidFill>
              <a:srgbClr val="1E6FB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</c:v>
                </c:pt>
                <c:pt idx="1">
                  <c:v>132</c:v>
                </c:pt>
                <c:pt idx="2">
                  <c:v>165</c:v>
                </c:pt>
                <c:pt idx="3">
                  <c:v>171</c:v>
                </c:pt>
                <c:pt idx="4">
                  <c:v>178</c:v>
                </c:pt>
                <c:pt idx="5">
                  <c:v>182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年</c:v>
                </c:pt>
              </c:strCache>
            </c:strRef>
          </c:tx>
          <c:spPr>
            <a:solidFill>
              <a:srgbClr val="E5B62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186</c:v>
                </c:pt>
                <c:pt idx="1">
                  <c:v>171</c:v>
                </c:pt>
                <c:pt idx="2">
                  <c:v>208</c:v>
                </c:pt>
                <c:pt idx="3">
                  <c:v>232</c:v>
                </c:pt>
                <c:pt idx="4">
                  <c:v>241</c:v>
                </c:pt>
                <c:pt idx="5">
                  <c:v>246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F2F5F9"/>
                  </a:solidFill>
                  <a:latin typeface="Arial"/>
                  <a:ea typeface="微软雅黑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2C4E7A"/>
            </a:solidFill>
          </a:ln>
        </c:spPr>
        <c:txPr>
          <a:bodyPr/>
          <a:lstStyle/>
          <a:p>
            <a:pPr>
              <a:defRPr sz="1200">
                <a:solidFill>
                  <a:srgbClr val="9FB3CC"/>
                </a:solidFill>
                <a:latin typeface="Arial"/>
                <a:ea typeface="微软雅黑"/>
                <a:cs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C4E7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 w="9525">
            <a:solidFill>
              <a:srgbClr val="2C4E7A"/>
            </a:solidFill>
          </a:ln>
        </c:spPr>
        <c:txPr>
          <a:bodyPr/>
          <a:lstStyle/>
          <a:p>
            <a:pPr>
              <a:defRPr sz="1200">
                <a:solidFill>
                  <a:srgbClr val="9FB3CC"/>
                </a:solidFill>
                <a:latin typeface="Arial"/>
                <a:ea typeface="微软雅黑"/>
                <a:cs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9FB3CC"/>
              </a:solidFill>
              <a:latin typeface="Arial"/>
              <a:ea typeface="微软雅黑"/>
              <a:cs typeface="Arial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9FB3CC"/>
          </a:solidFill>
          <a:latin typeface="Arial"/>
          <a:ea typeface="微软雅黑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影响占比</c:v>
                </c:pt>
              </c:strCache>
            </c:strRef>
          </c:tx>
          <c:spPr>
            <a:solidFill>
              <a:srgbClr val="C93B3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其他</c:v>
                </c:pt>
                <c:pt idx="1">
                  <c:v>人员配置不足</c:v>
                </c:pt>
                <c:pt idx="2">
                  <c:v>设备非计划停机</c:v>
                </c:pt>
                <c:pt idx="3">
                  <c:v>结晶周期偏长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15</c:v>
                </c:pt>
                <c:pt idx="2">
                  <c:v>26</c:v>
                </c:pt>
                <c:pt idx="3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2F5F9"/>
                  </a:solidFill>
                  <a:latin typeface="Arial"/>
                  <a:ea typeface="微软雅黑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2C4E7A"/>
            </a:solidFill>
          </a:ln>
        </c:spPr>
        <c:txPr>
          <a:bodyPr/>
          <a:lstStyle/>
          <a:p>
            <a:pPr>
              <a:defRPr sz="1200">
                <a:solidFill>
                  <a:srgbClr val="9FB3CC"/>
                </a:solidFill>
                <a:latin typeface="Arial"/>
                <a:ea typeface="微软雅黑"/>
                <a:cs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2C4E7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9525">
            <a:solidFill>
              <a:srgbClr val="2C4E7A"/>
            </a:solidFill>
          </a:ln>
        </c:spPr>
        <c:txPr>
          <a:bodyPr/>
          <a:lstStyle/>
          <a:p>
            <a:pPr>
              <a:defRPr sz="1200">
                <a:solidFill>
                  <a:srgbClr val="9FB3CC"/>
                </a:solidFill>
                <a:latin typeface="Arial"/>
                <a:ea typeface="微软雅黑"/>
                <a:cs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9FB3CC"/>
          </a:solidFill>
          <a:latin typeface="Arial"/>
          <a:ea typeface="微软雅黑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前处理</c:v>
                </c:pt>
              </c:strCache>
            </c:strRef>
          </c:tx>
          <c:spPr>
            <a:solidFill>
              <a:srgbClr val="1E6FBF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  <a:latin typeface="Arial"/>
                    <a:ea typeface="微软雅黑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 产品</c:v>
                </c:pt>
                <c:pt idx="1">
                  <c:v>B 产品</c:v>
                </c:pt>
                <c:pt idx="2">
                  <c:v>A 产品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合成反应</c:v>
                </c:pt>
              </c:strCache>
            </c:strRef>
          </c:tx>
          <c:spPr>
            <a:solidFill>
              <a:srgbClr val="E5B620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0A1F3C"/>
                    </a:solidFill>
                    <a:latin typeface="Arial"/>
                    <a:ea typeface="微软雅黑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 产品</c:v>
                </c:pt>
                <c:pt idx="1">
                  <c:v>B 产品</c:v>
                </c:pt>
                <c:pt idx="2">
                  <c:v>A 产品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</c:v>
                </c:pt>
                <c:pt idx="1">
                  <c:v>24</c:v>
                </c:pt>
                <c:pt idx="2">
                  <c:v>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结晶后处理</c:v>
                </c:pt>
              </c:strCache>
            </c:strRef>
          </c:tx>
          <c:spPr>
            <a:solidFill>
              <a:srgbClr val="2AA9DB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0A1F3C"/>
                    </a:solidFill>
                    <a:latin typeface="Arial"/>
                    <a:ea typeface="微软雅黑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 产品</c:v>
                </c:pt>
                <c:pt idx="1">
                  <c:v>B 产品</c:v>
                </c:pt>
                <c:pt idx="2">
                  <c:v>A 产品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36</c:v>
                </c:pt>
                <c:pt idx="1">
                  <c:v>41</c:v>
                </c:pt>
                <c:pt idx="2">
                  <c:v>38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包装检验</c:v>
                </c:pt>
              </c:strCache>
            </c:strRef>
          </c:tx>
          <c:spPr>
            <a:solidFill>
              <a:srgbClr val="27A567"/>
            </a:solidFill>
            <a:ln>
              <a:noFill/>
            </a:ln>
          </c:spPr>
          <c:dLbls>
            <c:numFmt formatCode="0&quot;%&quot;" sourceLinked="0"/>
            <c:txPr>
              <a:bodyPr/>
              <a:lstStyle/>
              <a:p>
                <a:pPr>
                  <a:defRPr sz="1200" b="1">
                    <a:solidFill>
                      <a:srgbClr val="0A1F3C"/>
                    </a:solidFill>
                    <a:latin typeface="Arial"/>
                    <a:ea typeface="微软雅黑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 产品</c:v>
                </c:pt>
                <c:pt idx="1">
                  <c:v>B 产品</c:v>
                </c:pt>
                <c:pt idx="2">
                  <c:v>A 产品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25</c:v>
                </c:pt>
                <c:pt idx="1">
                  <c:v>21</c:v>
                </c:pt>
                <c:pt idx="2">
                  <c:v>24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2F5F9"/>
                  </a:solidFill>
                  <a:latin typeface="Arial"/>
                  <a:ea typeface="微软雅黑"/>
                  <a:cs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2C4E7A"/>
            </a:solidFill>
          </a:ln>
        </c:spPr>
        <c:txPr>
          <a:bodyPr/>
          <a:lstStyle/>
          <a:p>
            <a:pPr>
              <a:defRPr sz="1200">
                <a:solidFill>
                  <a:srgbClr val="9FB3CC"/>
                </a:solidFill>
                <a:latin typeface="Arial"/>
                <a:ea typeface="微软雅黑"/>
                <a:cs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b"/>
        <c:majorGridlines>
          <c:spPr>
            <a:ln w="6350">
              <a:solidFill>
                <a:srgbClr val="2C4E7A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9525">
            <a:solidFill>
              <a:srgbClr val="2C4E7A"/>
            </a:solidFill>
          </a:ln>
        </c:spPr>
        <c:txPr>
          <a:bodyPr/>
          <a:lstStyle/>
          <a:p>
            <a:pPr>
              <a:defRPr sz="1200">
                <a:solidFill>
                  <a:srgbClr val="9FB3CC"/>
                </a:solidFill>
                <a:latin typeface="Arial"/>
                <a:ea typeface="微软雅黑"/>
                <a:cs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9FB3CC"/>
              </a:solidFill>
              <a:latin typeface="Arial"/>
              <a:ea typeface="微软雅黑"/>
              <a:cs typeface="Arial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9FB3CC"/>
          </a:solidFill>
          <a:latin typeface="Arial"/>
          <a:ea typeface="微软雅黑"/>
          <a:cs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673352"/>
            <a:ext cx="106192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生产管理部 · 半年度经营汇报</a:t>
            </a:r>
          </a:p>
        </p:txBody>
      </p:sp>
      <p:sp>
        <p:nvSpPr>
          <p:cNvPr id="3" name="Rectangle 2"/>
          <p:cNvSpPr/>
          <p:nvPr/>
        </p:nvSpPr>
        <p:spPr>
          <a:xfrm>
            <a:off x="786384" y="2057400"/>
            <a:ext cx="82296" cy="566928"/>
          </a:xfrm>
          <a:prstGeom prst="rect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2057400"/>
            <a:ext cx="10344881" cy="589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40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2026 年上半年生产运营回顾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2847848"/>
            <a:ext cx="8495361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产能达成、质量合规与产线瓶颈的系统性复盘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86384" y="5724144"/>
            <a:ext cx="10619201" cy="0"/>
          </a:xfrm>
          <a:prstGeom prst="line">
            <a:avLst/>
          </a:prstGeom>
          <a:ln w="9525">
            <a:solidFill>
              <a:srgbClr val="2C4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86384" y="5852160"/>
            <a:ext cx="106192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汇报人：张三    |    2026 年 7 月 30 日    |    内部资料 请勿外传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7"/>
            <a:ext cx="11058113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上半年产量超目标 5.2 个百分点，但 3 号线瓶颈已开始制约三季度交付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68806"/>
            <a:ext cx="2599936" cy="1783080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712213"/>
            <a:ext cx="2197600" cy="584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1,284</a:t>
            </a:r>
            <a:r>
              <a:rPr sz="168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 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351277"/>
            <a:ext cx="219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上半年总产量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70734"/>
            <a:ext cx="219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▲ </a:t>
            </a:r>
            <a:r>
              <a:rPr sz="1200" b="1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同比 +23.1%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320" y="1368806"/>
            <a:ext cx="2599936" cy="1783080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7488" y="1712213"/>
            <a:ext cx="2197600" cy="584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105.2</a:t>
            </a:r>
            <a:r>
              <a:rPr sz="168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7488" y="2351277"/>
            <a:ext cx="219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年度目标达成率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7488" y="2570734"/>
            <a:ext cx="219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▲ </a:t>
            </a:r>
            <a:r>
              <a:rPr sz="1200" b="1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高于计划 5.2pp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5712" y="1368806"/>
            <a:ext cx="2599936" cy="1783080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6880" y="1712213"/>
            <a:ext cx="2197600" cy="584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99.2</a:t>
            </a:r>
            <a:r>
              <a:rPr sz="168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6880" y="2351277"/>
            <a:ext cx="219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批次一次通过率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880" y="2570734"/>
            <a:ext cx="219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▲ </a:t>
            </a:r>
            <a:r>
              <a:rPr sz="1200" b="1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同比 +1.4pp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05" y="1368806"/>
            <a:ext cx="2599936" cy="1783080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73" y="1712213"/>
            <a:ext cx="2197600" cy="584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40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6</a:t>
            </a:r>
            <a:r>
              <a:rPr sz="168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 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73" y="2351277"/>
            <a:ext cx="219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重大偏差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73" y="2570734"/>
            <a:ext cx="219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▼ </a:t>
            </a:r>
            <a:r>
              <a:rPr sz="1200" b="1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同比 -45%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619459"/>
            <a:ext cx="56075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三个结论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015699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396" y="3930355"/>
            <a:ext cx="5419104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产能已释放到设计上限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396" y="4198071"/>
            <a:ext cx="5419104" cy="21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88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1、2 号线利用率 94%，进一步增产依赖 3 号线扩能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4630623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396" y="4545279"/>
            <a:ext cx="5419104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质量指标全面向好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396" y="4812995"/>
            <a:ext cx="5419104" cy="21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88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一次通过率 99.2%，重大偏差同比下降 45%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5245547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396" y="5160203"/>
            <a:ext cx="5419104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瓶颈从原料转向后处理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396" y="5427919"/>
            <a:ext cx="5419104" cy="21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88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结晶工序 CT 时间占全流程 38%，是当前唯一瓶颈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8820" y="3619459"/>
            <a:ext cx="51762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需要决策的事项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820" y="3930355"/>
            <a:ext cx="347472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6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9444" y="3930355"/>
            <a:ext cx="4755596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3 号线结晶工序扩能投资 2,800 万元，请批准立项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8820" y="4326087"/>
            <a:ext cx="347472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6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9444" y="4326087"/>
            <a:ext cx="4755596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Q3 起 A 产品排产上限暂定 240 吨/月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8820" y="4721819"/>
            <a:ext cx="347472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6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9444" y="4721819"/>
            <a:ext cx="4755596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关键岗位增编 12 人，请人力资源部支持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2764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数据来源：MES 系统 + ERP 生产模块，统计区间 2026-01-01 至 2026-06-30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910333"/>
            <a:ext cx="2194560" cy="84201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510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880360"/>
            <a:ext cx="10619201" cy="509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整体表现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554476"/>
            <a:ext cx="828297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产量、达成率与产线负荷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01 整体表现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7760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02 质量与合规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9136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03 瓶颈与改善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0513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04 下一步计划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产量趋势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7"/>
            <a:ext cx="11058113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产量逐月攀升，Q2 月均产量较 Q1 提升 28%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368806"/>
          <a:ext cx="11058113" cy="36396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5154772"/>
            <a:ext cx="11058113" cy="1026571"/>
          </a:xfrm>
          <a:prstGeom prst="roundRect">
            <a:avLst>
              <a:gd name="adj" fmla="val 4500"/>
            </a:avLst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5301076"/>
            <a:ext cx="664463" cy="733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关键发现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33143" y="5355940"/>
            <a:ext cx="0" cy="624236"/>
          </a:xfrm>
          <a:prstGeom prst="line">
            <a:avLst/>
          </a:prstGeom>
          <a:ln w="9525">
            <a:solidFill>
              <a:srgbClr val="0A1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615440" y="5301076"/>
            <a:ext cx="9790145" cy="7339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6 月单月产量 246 吨创历史新高，已达 3 号线满负荷状态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2764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数据来源：MES 系统批次产出记录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产线达成率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7"/>
            <a:ext cx="11058113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四条产线中 3 号线是唯一未达标产线，缺口 8.4 个百分点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68806"/>
            <a:ext cx="55790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各产线目标达成率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3129" y="2136902"/>
            <a:ext cx="0" cy="2790317"/>
          </a:xfrm>
          <a:prstGeom prst="line">
            <a:avLst/>
          </a:prstGeom>
          <a:ln w="12700">
            <a:solidFill>
              <a:srgbClr val="9FB3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74489" y="189915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目标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244722"/>
            <a:ext cx="18757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1 号线（原料预处理）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89022" y="3281298"/>
            <a:ext cx="2733989" cy="182880"/>
          </a:xfrm>
          <a:prstGeom prst="roundRect">
            <a:avLst>
              <a:gd name="adj" fmla="val 50000"/>
            </a:avLst>
          </a:prstGeom>
          <a:solidFill>
            <a:srgbClr val="1B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89022" y="3281298"/>
            <a:ext cx="2507130" cy="182880"/>
          </a:xfrm>
          <a:prstGeom prst="roundRect">
            <a:avLst>
              <a:gd name="adj" fmla="val 50000"/>
            </a:avLst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2739" y="324472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400" b="1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103%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01923"/>
            <a:ext cx="18757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2 号线（合成反应）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89022" y="3738499"/>
            <a:ext cx="2733989" cy="182880"/>
          </a:xfrm>
          <a:prstGeom prst="roundRect">
            <a:avLst>
              <a:gd name="adj" fmla="val 50000"/>
            </a:avLst>
          </a:prstGeom>
          <a:solidFill>
            <a:srgbClr val="1B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89022" y="3738499"/>
            <a:ext cx="2458448" cy="182880"/>
          </a:xfrm>
          <a:prstGeom prst="roundRect">
            <a:avLst>
              <a:gd name="adj" fmla="val 50000"/>
            </a:avLst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2739" y="3701923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400" b="1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101%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159123"/>
            <a:ext cx="18757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3 号线（结晶后处理）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9022" y="4195699"/>
            <a:ext cx="2733989" cy="182880"/>
          </a:xfrm>
          <a:prstGeom prst="roundRect">
            <a:avLst>
              <a:gd name="adj" fmla="val 50000"/>
            </a:avLst>
          </a:prstGeom>
          <a:solidFill>
            <a:srgbClr val="1B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589022" y="4195699"/>
            <a:ext cx="2229642" cy="182880"/>
          </a:xfrm>
          <a:prstGeom prst="roundRect">
            <a:avLst>
              <a:gd name="adj" fmla="val 50000"/>
            </a:avLst>
          </a:prstGeom>
          <a:solidFill>
            <a:srgbClr val="E5A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2739" y="4159123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400" b="1" i="0">
                <a:solidFill>
                  <a:srgbClr val="E5A32B"/>
                </a:solidFill>
                <a:latin typeface="Arial"/>
                <a:ea typeface="微软雅黑"/>
                <a:cs typeface="Arial"/>
              </a:rPr>
              <a:t>91.6%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616323"/>
            <a:ext cx="18757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4 号线（包装）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89022" y="4652899"/>
            <a:ext cx="2733989" cy="182880"/>
          </a:xfrm>
          <a:prstGeom prst="roundRect">
            <a:avLst>
              <a:gd name="adj" fmla="val 50000"/>
            </a:avLst>
          </a:prstGeom>
          <a:solidFill>
            <a:srgbClr val="1B3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89022" y="4652899"/>
            <a:ext cx="2628835" cy="182880"/>
          </a:xfrm>
          <a:prstGeom prst="roundRect">
            <a:avLst>
              <a:gd name="adj" fmla="val 50000"/>
            </a:avLst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2739" y="4616323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1400" b="1" i="0">
                <a:solidFill>
                  <a:srgbClr val="2DBF77"/>
                </a:solidFill>
                <a:latin typeface="Arial"/>
                <a:ea typeface="微软雅黑"/>
                <a:cs typeface="Arial"/>
              </a:rPr>
              <a:t>108%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5155" y="1368806"/>
            <a:ext cx="514988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3 号线缺口归因（影响占比）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475155" y="1771142"/>
          <a:ext cx="5149886" cy="44102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6928" y="632764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达成率 = 实际产出 / 年度计划折算至半年的目标值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910333"/>
            <a:ext cx="2194560" cy="84201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510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880360"/>
            <a:ext cx="10619201" cy="509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质量与合规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554476"/>
            <a:ext cx="828297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一次通过率、偏差与审计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01 整体表现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7760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02 质量与合规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9136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03 瓶颈与改善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0513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04 下一步计划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质量表现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7"/>
            <a:ext cx="11058113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质量指标全面改善，但供应商来料波动仍是最大风险源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368806"/>
          <a:ext cx="11058109" cy="213969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582205"/>
                <a:gridCol w="1557480"/>
                <a:gridCol w="1557480"/>
                <a:gridCol w="1401732"/>
                <a:gridCol w="1557480"/>
                <a:gridCol w="140173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质量指标</a:t>
                      </a:r>
                    </a:p>
                  </a:txBody>
                  <a:tcPr marL="82296" marR="82296" marT="27432" marB="27432" anchor="ctr">
                    <a:solidFill>
                      <a:srgbClr val="1B3E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上半年</a:t>
                      </a:r>
                    </a:p>
                  </a:txBody>
                  <a:tcPr marL="82296" marR="82296" marT="27432" marB="27432" anchor="ctr">
                    <a:solidFill>
                      <a:srgbClr val="1B3E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去年同期</a:t>
                      </a:r>
                    </a:p>
                  </a:txBody>
                  <a:tcPr marL="82296" marR="82296" marT="27432" marB="27432" anchor="ctr">
                    <a:solidFill>
                      <a:srgbClr val="1B3E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同比</a:t>
                      </a:r>
                    </a:p>
                  </a:txBody>
                  <a:tcPr marL="82296" marR="82296" marT="27432" marB="27432" anchor="ctr">
                    <a:solidFill>
                      <a:srgbClr val="1B3E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年度目标</a:t>
                      </a:r>
                    </a:p>
                  </a:txBody>
                  <a:tcPr marL="82296" marR="82296" marT="27432" marB="27432" anchor="ctr">
                    <a:solidFill>
                      <a:srgbClr val="1B3E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评价</a:t>
                      </a:r>
                    </a:p>
                  </a:txBody>
                  <a:tcPr marL="82296" marR="82296" marT="27432" marB="27432" anchor="ctr">
                    <a:solidFill>
                      <a:srgbClr val="1B3E6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批次一次通过率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99.2%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97.8%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DBF77"/>
                          </a:solidFill>
                          <a:latin typeface="Arial"/>
                          <a:ea typeface="微软雅黑"/>
                          <a:cs typeface="Arial"/>
                        </a:rPr>
                        <a:t>+1.4pp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≥98.5%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DBF77"/>
                          </a:solidFill>
                          <a:latin typeface="Arial"/>
                          <a:ea typeface="微软雅黑"/>
                          <a:cs typeface="Arial"/>
                        </a:rPr>
                        <a:t>达成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重大偏差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6 件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11 件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DBF77"/>
                          </a:solidFill>
                          <a:latin typeface="Arial"/>
                          <a:ea typeface="微软雅黑"/>
                          <a:cs typeface="Arial"/>
                        </a:rPr>
                        <a:t>-45.5%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≤10 件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DBF77"/>
                          </a:solidFill>
                          <a:latin typeface="Arial"/>
                          <a:ea typeface="微软雅黑"/>
                          <a:cs typeface="Arial"/>
                        </a:rPr>
                        <a:t>达成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客户投诉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2 起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5 起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DBF77"/>
                          </a:solidFill>
                          <a:latin typeface="Arial"/>
                          <a:ea typeface="微软雅黑"/>
                          <a:cs typeface="Arial"/>
                        </a:rPr>
                        <a:t>-60.0%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≤3 起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DBF77"/>
                          </a:solidFill>
                          <a:latin typeface="Arial"/>
                          <a:ea typeface="微软雅黑"/>
                          <a:cs typeface="Arial"/>
                        </a:rPr>
                        <a:t>达成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来料检验合格率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96.4%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98.1%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F7A6B"/>
                          </a:solidFill>
                          <a:latin typeface="Arial"/>
                          <a:ea typeface="微软雅黑"/>
                          <a:cs typeface="Arial"/>
                        </a:rPr>
                        <a:t>-1.7pp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≥98.0%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7A6B"/>
                          </a:solidFill>
                          <a:latin typeface="Arial"/>
                          <a:ea typeface="微软雅黑"/>
                          <a:cs typeface="Arial"/>
                        </a:rPr>
                        <a:t>未达成</a:t>
                      </a:r>
                    </a:p>
                  </a:txBody>
                  <a:tcPr marL="82296" marR="82296" marT="27432" marB="27432" anchor="ctr">
                    <a:solidFill>
                      <a:srgbClr val="0A1F3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OOS 调查关闭及时率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94.0%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89.0%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DBF77"/>
                          </a:solidFill>
                          <a:latin typeface="Arial"/>
                          <a:ea typeface="微软雅黑"/>
                          <a:cs typeface="Arial"/>
                        </a:rPr>
                        <a:t>+5.0pp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F2F5F9"/>
                          </a:solidFill>
                          <a:latin typeface="Arial"/>
                          <a:ea typeface="微软雅黑"/>
                          <a:cs typeface="Arial"/>
                        </a:rPr>
                        <a:t>≥95.0%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E5A32B"/>
                          </a:solidFill>
                          <a:latin typeface="Arial"/>
                          <a:ea typeface="微软雅黑"/>
                          <a:cs typeface="Arial"/>
                        </a:rPr>
                        <a:t>接近</a:t>
                      </a:r>
                    </a:p>
                  </a:txBody>
                  <a:tcPr marL="82296" marR="82296" marT="27432" marB="27432" anchor="ctr">
                    <a:solidFill>
                      <a:srgbClr val="122E52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3985442"/>
            <a:ext cx="3539733" cy="2195901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8096" y="4446869"/>
            <a:ext cx="420624" cy="420624"/>
          </a:xfrm>
          <a:prstGeom prst="ellipse">
            <a:avLst/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465157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391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995509"/>
            <a:ext cx="3137397" cy="251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已见效的举措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311485"/>
            <a:ext cx="3137397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工艺参数标准化 + 关键岗位复训，一次通过率连续 5 个月上行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117" y="3985442"/>
            <a:ext cx="3539733" cy="2195901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7285" y="4446869"/>
            <a:ext cx="420624" cy="420624"/>
          </a:xfrm>
          <a:prstGeom prst="ellipse">
            <a:avLst/>
          </a:prstGeom>
          <a:solidFill>
            <a:srgbClr val="E5A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7285" y="4465157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391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7285" y="4995509"/>
            <a:ext cx="3137397" cy="251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待解决的问题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7285" y="5311485"/>
            <a:ext cx="3137397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两家原料供应商来料纯度波动，已启动第二供应商审计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5307" y="3985442"/>
            <a:ext cx="3539733" cy="2195901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86475" y="4446869"/>
            <a:ext cx="420624" cy="420624"/>
          </a:xfrm>
          <a:prstGeom prst="ellipse">
            <a:avLst/>
          </a:prstGeom>
          <a:solidFill>
            <a:srgbClr val="1E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6475" y="4465157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8000"/>
              </a:lnSpc>
            </a:pPr>
            <a:r>
              <a:rPr sz="1391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475" y="4995509"/>
            <a:ext cx="3137397" cy="251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下一步动作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475" y="5311485"/>
            <a:ext cx="3137397" cy="408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2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Q3 完成来料放行标准升版，并将纯度纳入供应商 KPI 考核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2764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数据来源：QMS 系统偏差与投诉台账；来料检验合格率取批次加权值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6384" y="1910333"/>
            <a:ext cx="2194560" cy="84201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8000"/>
              </a:lnSpc>
            </a:pPr>
            <a:r>
              <a:rPr sz="510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880360"/>
            <a:ext cx="10619201" cy="509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瓶颈与改善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3554476"/>
            <a:ext cx="828297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结晶工序专题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01 整体表现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7760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02 质量与合规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9136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03 瓶颈与改善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0513" y="5907024"/>
            <a:ext cx="25450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04 下一步计划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瓶颈定位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7"/>
            <a:ext cx="11058113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结晶工序占全流程周期 38%，是唯一制约产能的瓶颈环节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" y="1368806"/>
          <a:ext cx="11058113" cy="251613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122686"/>
            <a:ext cx="5419328" cy="2058657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122686"/>
            <a:ext cx="5419328" cy="402336"/>
          </a:xfrm>
          <a:prstGeom prst="roundRect">
            <a:avLst>
              <a:gd name="adj" fmla="val 4500"/>
            </a:avLst>
          </a:prstGeom>
          <a:solidFill>
            <a:srgbClr val="7E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433582"/>
            <a:ext cx="5419328" cy="91440"/>
          </a:xfrm>
          <a:prstGeom prst="rect">
            <a:avLst/>
          </a:prstGeom>
          <a:solidFill>
            <a:srgbClr val="7E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122686"/>
            <a:ext cx="50535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改善前（2026 Q1）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4756670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8276" y="4671326"/>
            <a:ext cx="48651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结晶批次平均耗时 41 小时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5170690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8276" y="5085346"/>
            <a:ext cx="48651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降温曲线依赖人工经验判断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84710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276" y="5499366"/>
            <a:ext cx="48651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批次间粒径分布波动 ±18%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70448"/>
            <a:ext cx="5053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月产能上限 210 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5712" y="4122686"/>
            <a:ext cx="5419328" cy="2058657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5712" y="4122686"/>
            <a:ext cx="5419328" cy="402336"/>
          </a:xfrm>
          <a:prstGeom prst="roundRect">
            <a:avLst>
              <a:gd name="adj" fmla="val 4500"/>
            </a:avLst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712" y="4433582"/>
            <a:ext cx="5419328" cy="91440"/>
          </a:xfrm>
          <a:prstGeom prst="rect">
            <a:avLst/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592" y="4122686"/>
            <a:ext cx="50535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改善后（试点 3 批次）</a:t>
            </a:r>
          </a:p>
        </p:txBody>
      </p:sp>
      <p:sp>
        <p:nvSpPr>
          <p:cNvPr id="20" name="Oval 19"/>
          <p:cNvSpPr/>
          <p:nvPr/>
        </p:nvSpPr>
        <p:spPr>
          <a:xfrm>
            <a:off x="6388592" y="4756670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7060" y="4671326"/>
            <a:ext cx="48651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结晶批次平均耗时 29 小时（-29%）</a:t>
            </a:r>
          </a:p>
        </p:txBody>
      </p:sp>
      <p:sp>
        <p:nvSpPr>
          <p:cNvPr id="22" name="Oval 21"/>
          <p:cNvSpPr/>
          <p:nvPr/>
        </p:nvSpPr>
        <p:spPr>
          <a:xfrm>
            <a:off x="6388592" y="5170690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7060" y="5085346"/>
            <a:ext cx="48651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自动降温程序 + 在线粒径监测</a:t>
            </a:r>
          </a:p>
        </p:txBody>
      </p:sp>
      <p:sp>
        <p:nvSpPr>
          <p:cNvPr id="24" name="Oval 23"/>
          <p:cNvSpPr/>
          <p:nvPr/>
        </p:nvSpPr>
        <p:spPr>
          <a:xfrm>
            <a:off x="6388592" y="5584710"/>
            <a:ext cx="60452" cy="60452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7060" y="5499366"/>
            <a:ext cx="48651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批次间粒径分布波动收窄至 ±6%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8592" y="5870448"/>
            <a:ext cx="5053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月产能上限可提升至 268 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2764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周期占比按各工序标准工时占单批次总工时计算；试点数据来自 6 月 3 个验证批次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6692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方案选择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7"/>
            <a:ext cx="11058113" cy="3812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扩能方案：优先投自动结晶控制系统，投资回收期 14 个月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" y="1368806"/>
            <a:ext cx="5291312" cy="1052342"/>
          </a:xfrm>
          <a:prstGeom prst="roundRect">
            <a:avLst>
              <a:gd name="adj" fmla="val 4500"/>
            </a:avLst>
          </a:prstGeom>
          <a:solidFill>
            <a:srgbClr val="27A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496822"/>
            <a:ext cx="4962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自动结晶控制系统</a:t>
            </a:r>
          </a:p>
        </p:txBody>
      </p:sp>
      <p:sp>
        <p:nvSpPr>
          <p:cNvPr id="6" name="Oval 5"/>
          <p:cNvSpPr/>
          <p:nvPr/>
        </p:nvSpPr>
        <p:spPr>
          <a:xfrm>
            <a:off x="1042415" y="1880870"/>
            <a:ext cx="51816" cy="51816"/>
          </a:xfrm>
          <a:prstGeom prst="ellipse">
            <a:avLst/>
          </a:prstGeom>
          <a:solidFill>
            <a:srgbClr val="0A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2247" y="1807718"/>
            <a:ext cx="478229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投资 2,800 万元</a:t>
            </a:r>
          </a:p>
        </p:txBody>
      </p:sp>
      <p:sp>
        <p:nvSpPr>
          <p:cNvPr id="8" name="Oval 7"/>
          <p:cNvSpPr/>
          <p:nvPr/>
        </p:nvSpPr>
        <p:spPr>
          <a:xfrm>
            <a:off x="1042415" y="2170430"/>
            <a:ext cx="51816" cy="51816"/>
          </a:xfrm>
          <a:prstGeom prst="ellipse">
            <a:avLst/>
          </a:prstGeom>
          <a:solidFill>
            <a:srgbClr val="0A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2247" y="2097278"/>
            <a:ext cx="478229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A1F3C"/>
                </a:solidFill>
                <a:latin typeface="Arial"/>
                <a:ea typeface="微软雅黑"/>
                <a:cs typeface="Arial"/>
              </a:rPr>
              <a:t>产能 +27%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3728" y="1368806"/>
            <a:ext cx="5291312" cy="1052342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8320" y="1496822"/>
            <a:ext cx="4962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新增结晶釜 2 台</a:t>
            </a:r>
          </a:p>
        </p:txBody>
      </p:sp>
      <p:sp>
        <p:nvSpPr>
          <p:cNvPr id="12" name="Oval 11"/>
          <p:cNvSpPr/>
          <p:nvPr/>
        </p:nvSpPr>
        <p:spPr>
          <a:xfrm>
            <a:off x="6498320" y="1880870"/>
            <a:ext cx="51816" cy="51816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8152" y="1807718"/>
            <a:ext cx="478229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投资 5,600 万元</a:t>
            </a:r>
          </a:p>
        </p:txBody>
      </p:sp>
      <p:sp>
        <p:nvSpPr>
          <p:cNvPr id="14" name="Oval 13"/>
          <p:cNvSpPr/>
          <p:nvPr/>
        </p:nvSpPr>
        <p:spPr>
          <a:xfrm>
            <a:off x="6498320" y="2170430"/>
            <a:ext cx="51816" cy="51816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8152" y="2097278"/>
            <a:ext cx="478229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产能 +42%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" y="2585740"/>
            <a:ext cx="5291312" cy="1052342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2713756"/>
            <a:ext cx="4962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外协后处理</a:t>
            </a:r>
          </a:p>
        </p:txBody>
      </p:sp>
      <p:sp>
        <p:nvSpPr>
          <p:cNvPr id="18" name="Oval 17"/>
          <p:cNvSpPr/>
          <p:nvPr/>
        </p:nvSpPr>
        <p:spPr>
          <a:xfrm>
            <a:off x="1042415" y="3097804"/>
            <a:ext cx="51816" cy="51816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2247" y="3024652"/>
            <a:ext cx="478229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无资本支出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5" y="3387364"/>
            <a:ext cx="51816" cy="51816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2247" y="3314212"/>
            <a:ext cx="478229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产能 +15%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3728" y="2585740"/>
            <a:ext cx="5291312" cy="1052342"/>
          </a:xfrm>
          <a:prstGeom prst="roundRect">
            <a:avLst>
              <a:gd name="adj" fmla="val 4500"/>
            </a:avLst>
          </a:prstGeom>
          <a:solidFill>
            <a:srgbClr val="12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8320" y="2713756"/>
            <a:ext cx="4962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维持现状</a:t>
            </a:r>
          </a:p>
        </p:txBody>
      </p:sp>
      <p:sp>
        <p:nvSpPr>
          <p:cNvPr id="24" name="Oval 23"/>
          <p:cNvSpPr/>
          <p:nvPr/>
        </p:nvSpPr>
        <p:spPr>
          <a:xfrm>
            <a:off x="6498320" y="3097804"/>
            <a:ext cx="51816" cy="51816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8152" y="3024652"/>
            <a:ext cx="478229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无投入</a:t>
            </a:r>
          </a:p>
        </p:txBody>
      </p:sp>
      <p:sp>
        <p:nvSpPr>
          <p:cNvPr id="26" name="Oval 25"/>
          <p:cNvSpPr/>
          <p:nvPr/>
        </p:nvSpPr>
        <p:spPr>
          <a:xfrm>
            <a:off x="6498320" y="3387364"/>
            <a:ext cx="51816" cy="51816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8152" y="3314212"/>
            <a:ext cx="4782296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Q4 起交付缺口约 90 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3692946"/>
            <a:ext cx="107472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← 投入强度低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3692946"/>
            <a:ext cx="1074721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投入强度高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7" y="1368806"/>
            <a:ext cx="237744" cy="2269276"/>
          </a:xfrm>
          <a:prstGeom prst="rect">
            <a:avLst/>
          </a:prstGeom>
          <a:noFill/>
        </p:spPr>
        <p:txBody>
          <a:bodyPr wrap="square" lIns="0" rIns="0" tIns="0" bIns="0" anchor="t" vert="vert270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← 产能收益低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" y="1368806"/>
            <a:ext cx="237744" cy="2269276"/>
          </a:xfrm>
          <a:prstGeom prst="rect">
            <a:avLst/>
          </a:prstGeom>
          <a:noFill/>
        </p:spPr>
        <p:txBody>
          <a:bodyPr wrap="square" lIns="0" rIns="0" tIns="0" bIns="0" anchor="t" vert="vert270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产能收益高 →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" y="5013856"/>
            <a:ext cx="10875233" cy="0"/>
          </a:xfrm>
          <a:prstGeom prst="line">
            <a:avLst/>
          </a:prstGeom>
          <a:ln w="19050">
            <a:solidFill>
              <a:srgbClr val="2C4E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581299" y="4922416"/>
            <a:ext cx="182880" cy="182880"/>
          </a:xfrm>
          <a:prstGeom prst="ellipse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168434"/>
            <a:ext cx="2101894" cy="69911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8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196736"/>
            <a:ext cx="2101894" cy="22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立项审批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462928"/>
            <a:ext cx="2101894" cy="71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完成投资评审与预算下达</a:t>
            </a:r>
          </a:p>
        </p:txBody>
      </p:sp>
      <p:sp>
        <p:nvSpPr>
          <p:cNvPr id="37" name="Oval 36"/>
          <p:cNvSpPr/>
          <p:nvPr/>
        </p:nvSpPr>
        <p:spPr>
          <a:xfrm>
            <a:off x="3792922" y="4922416"/>
            <a:ext cx="182880" cy="182880"/>
          </a:xfrm>
          <a:prstGeom prst="ellipse">
            <a:avLst/>
          </a:prstGeom>
          <a:solidFill>
            <a:srgbClr val="7E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3414" y="4168434"/>
            <a:ext cx="2101894" cy="69911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1" i="0">
                <a:solidFill>
                  <a:srgbClr val="A0B0C4"/>
                </a:solidFill>
                <a:latin typeface="Arial"/>
                <a:ea typeface="微软雅黑"/>
                <a:cs typeface="Arial"/>
              </a:rPr>
              <a:t>9-10 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3414" y="5196736"/>
            <a:ext cx="2101894" cy="22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设备采购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3414" y="5462928"/>
            <a:ext cx="2101894" cy="71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招标与合同签订</a:t>
            </a:r>
          </a:p>
        </p:txBody>
      </p:sp>
      <p:sp>
        <p:nvSpPr>
          <p:cNvPr id="41" name="Oval 40"/>
          <p:cNvSpPr/>
          <p:nvPr/>
        </p:nvSpPr>
        <p:spPr>
          <a:xfrm>
            <a:off x="6004544" y="4922416"/>
            <a:ext cx="182880" cy="182880"/>
          </a:xfrm>
          <a:prstGeom prst="ellipse">
            <a:avLst/>
          </a:prstGeom>
          <a:solidFill>
            <a:srgbClr val="7E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45037" y="4168434"/>
            <a:ext cx="2101894" cy="69911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1" i="0">
                <a:solidFill>
                  <a:srgbClr val="A0B0C4"/>
                </a:solidFill>
                <a:latin typeface="Arial"/>
                <a:ea typeface="微软雅黑"/>
                <a:cs typeface="Arial"/>
              </a:rPr>
              <a:t>11 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5037" y="5196736"/>
            <a:ext cx="2101894" cy="22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安装调试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5037" y="5462928"/>
            <a:ext cx="2101894" cy="71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利用检修窗口施工</a:t>
            </a:r>
          </a:p>
        </p:txBody>
      </p:sp>
      <p:sp>
        <p:nvSpPr>
          <p:cNvPr id="45" name="Oval 44"/>
          <p:cNvSpPr/>
          <p:nvPr/>
        </p:nvSpPr>
        <p:spPr>
          <a:xfrm>
            <a:off x="8216167" y="4922416"/>
            <a:ext cx="182880" cy="182880"/>
          </a:xfrm>
          <a:prstGeom prst="ellipse">
            <a:avLst/>
          </a:prstGeom>
          <a:solidFill>
            <a:srgbClr val="7E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56660" y="4168434"/>
            <a:ext cx="2101894" cy="69911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1" i="0">
                <a:solidFill>
                  <a:srgbClr val="A0B0C4"/>
                </a:solidFill>
                <a:latin typeface="Arial"/>
                <a:ea typeface="微软雅黑"/>
                <a:cs typeface="Arial"/>
              </a:rPr>
              <a:t>12 月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6660" y="5196736"/>
            <a:ext cx="2101894" cy="22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验证放行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6660" y="5462928"/>
            <a:ext cx="2101894" cy="71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3 批次工艺验证</a:t>
            </a:r>
          </a:p>
        </p:txBody>
      </p:sp>
      <p:sp>
        <p:nvSpPr>
          <p:cNvPr id="49" name="Oval 48"/>
          <p:cNvSpPr/>
          <p:nvPr/>
        </p:nvSpPr>
        <p:spPr>
          <a:xfrm>
            <a:off x="10427790" y="4922416"/>
            <a:ext cx="182880" cy="182880"/>
          </a:xfrm>
          <a:prstGeom prst="ellipse">
            <a:avLst/>
          </a:prstGeom>
          <a:solidFill>
            <a:srgbClr val="7E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68282" y="4168434"/>
            <a:ext cx="2101894" cy="699117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1" i="0">
                <a:solidFill>
                  <a:srgbClr val="A0B0C4"/>
                </a:solidFill>
                <a:latin typeface="Arial"/>
                <a:ea typeface="微软雅黑"/>
                <a:cs typeface="Arial"/>
              </a:rPr>
              <a:t>2027 Q1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8282" y="5196736"/>
            <a:ext cx="2101894" cy="22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</a:pPr>
            <a:r>
              <a:rPr sz="1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产能释放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8282" y="5462928"/>
            <a:ext cx="2101894" cy="718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月产能提升至 268 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327648"/>
            <a:ext cx="110581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投资回收期按现有产品结构与 2026 年均价测算，未考虑价格波动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7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" y="1783080"/>
            <a:ext cx="82296" cy="512064"/>
          </a:xfrm>
          <a:prstGeom prst="rect">
            <a:avLst/>
          </a:prstGeom>
          <a:solidFill>
            <a:srgbClr val="E5B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0704" y="1783080"/>
            <a:ext cx="1034488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4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请领导决策的三项事项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2569464"/>
            <a:ext cx="347472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4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2569464"/>
            <a:ext cx="9924257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批准 3 号线自动结晶控制系统立项，投资 2,800 万元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3034792"/>
            <a:ext cx="347472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4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3034792"/>
            <a:ext cx="9924257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确认 Q3 A 产品排产上限 240 吨/月，超出部分安排外协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3500120"/>
            <a:ext cx="347472" cy="264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40" b="1" i="0">
                <a:solidFill>
                  <a:srgbClr val="E5B620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500120"/>
            <a:ext cx="9924257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2F5F9"/>
                </a:solidFill>
                <a:latin typeface="Arial"/>
                <a:ea typeface="微软雅黑"/>
                <a:cs typeface="Arial"/>
              </a:rPr>
              <a:t>支持关键岗位增编 12 人，9 月底前到岗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925312"/>
            <a:ext cx="1061920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生产管理部    |    2026 年 7 月 30 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641" y="63276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0" i="0">
                <a:solidFill>
                  <a:srgbClr val="9FB3CC"/>
                </a:solidFill>
                <a:latin typeface="Arial"/>
                <a:ea typeface="微软雅黑"/>
                <a:cs typeface="Arial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